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E1526E-A62E-4776-BC85-9FD4A400CB53}" v="22" dt="2026-04-01T06:19:10.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itanya Sri" userId="ce7cd60cb5ff0a80" providerId="LiveId" clId="{A2C663D9-E38C-44B9-9825-3C60C5AE3459}"/>
    <pc:docChg chg="undo custSel addSld delSld modSld">
      <pc:chgData name="Chaitanya Sri" userId="ce7cd60cb5ff0a80" providerId="LiveId" clId="{A2C663D9-E38C-44B9-9825-3C60C5AE3459}" dt="2026-04-02T03:01:27.694" v="630" actId="20577"/>
      <pc:docMkLst>
        <pc:docMk/>
      </pc:docMkLst>
      <pc:sldChg chg="addSp delSp modSp mod">
        <pc:chgData name="Chaitanya Sri" userId="ce7cd60cb5ff0a80" providerId="LiveId" clId="{A2C663D9-E38C-44B9-9825-3C60C5AE3459}" dt="2026-04-02T02:25:27.375" v="372" actId="1076"/>
        <pc:sldMkLst>
          <pc:docMk/>
          <pc:sldMk cId="0" sldId="256"/>
        </pc:sldMkLst>
        <pc:spChg chg="del mod">
          <ac:chgData name="Chaitanya Sri" userId="ce7cd60cb5ff0a80" providerId="LiveId" clId="{A2C663D9-E38C-44B9-9825-3C60C5AE3459}" dt="2026-04-01T05:44:52.387" v="124" actId="478"/>
          <ac:spMkLst>
            <pc:docMk/>
            <pc:sldMk cId="0" sldId="256"/>
            <ac:spMk id="2" creationId="{00000000-0000-0000-0000-000000000000}"/>
          </ac:spMkLst>
        </pc:spChg>
        <pc:spChg chg="del mod">
          <ac:chgData name="Chaitanya Sri" userId="ce7cd60cb5ff0a80" providerId="LiveId" clId="{A2C663D9-E38C-44B9-9825-3C60C5AE3459}" dt="2026-04-01T05:44:50.846" v="123" actId="478"/>
          <ac:spMkLst>
            <pc:docMk/>
            <pc:sldMk cId="0" sldId="256"/>
            <ac:spMk id="3" creationId="{00000000-0000-0000-0000-000000000000}"/>
          </ac:spMkLst>
        </pc:spChg>
        <pc:spChg chg="add del">
          <ac:chgData name="Chaitanya Sri" userId="ce7cd60cb5ff0a80" providerId="LiveId" clId="{A2C663D9-E38C-44B9-9825-3C60C5AE3459}" dt="2026-04-01T05:51:38.705" v="269" actId="478"/>
          <ac:spMkLst>
            <pc:docMk/>
            <pc:sldMk cId="0" sldId="256"/>
            <ac:spMk id="4" creationId="{00000000-0000-0000-0000-000000000000}"/>
          </ac:spMkLst>
        </pc:spChg>
        <pc:spChg chg="del">
          <ac:chgData name="Chaitanya Sri" userId="ce7cd60cb5ff0a80" providerId="LiveId" clId="{A2C663D9-E38C-44B9-9825-3C60C5AE3459}" dt="2026-04-01T05:35:59.109" v="87" actId="478"/>
          <ac:spMkLst>
            <pc:docMk/>
            <pc:sldMk cId="0" sldId="256"/>
            <ac:spMk id="6" creationId="{00000000-0000-0000-0000-000000000000}"/>
          </ac:spMkLst>
        </pc:spChg>
        <pc:spChg chg="mod">
          <ac:chgData name="Chaitanya Sri" userId="ce7cd60cb5ff0a80" providerId="LiveId" clId="{A2C663D9-E38C-44B9-9825-3C60C5AE3459}" dt="2026-04-01T05:35:57.303" v="86" actId="6549"/>
          <ac:spMkLst>
            <pc:docMk/>
            <pc:sldMk cId="0" sldId="256"/>
            <ac:spMk id="7" creationId="{00000000-0000-0000-0000-000000000000}"/>
          </ac:spMkLst>
        </pc:spChg>
        <pc:spChg chg="mod">
          <ac:chgData name="Chaitanya Sri" userId="ce7cd60cb5ff0a80" providerId="LiveId" clId="{A2C663D9-E38C-44B9-9825-3C60C5AE3459}" dt="2026-04-01T05:52:09.296" v="274" actId="1076"/>
          <ac:spMkLst>
            <pc:docMk/>
            <pc:sldMk cId="0" sldId="256"/>
            <ac:spMk id="8" creationId="{00000000-0000-0000-0000-000000000000}"/>
          </ac:spMkLst>
        </pc:spChg>
        <pc:spChg chg="mod">
          <ac:chgData name="Chaitanya Sri" userId="ce7cd60cb5ff0a80" providerId="LiveId" clId="{A2C663D9-E38C-44B9-9825-3C60C5AE3459}" dt="2026-04-01T05:52:39.123" v="278" actId="1076"/>
          <ac:spMkLst>
            <pc:docMk/>
            <pc:sldMk cId="0" sldId="256"/>
            <ac:spMk id="9" creationId="{00000000-0000-0000-0000-000000000000}"/>
          </ac:spMkLst>
        </pc:spChg>
        <pc:spChg chg="mod">
          <ac:chgData name="Chaitanya Sri" userId="ce7cd60cb5ff0a80" providerId="LiveId" clId="{A2C663D9-E38C-44B9-9825-3C60C5AE3459}" dt="2026-04-01T05:36:54.212" v="95" actId="6549"/>
          <ac:spMkLst>
            <pc:docMk/>
            <pc:sldMk cId="0" sldId="256"/>
            <ac:spMk id="11" creationId="{00000000-0000-0000-0000-000000000000}"/>
          </ac:spMkLst>
        </pc:spChg>
        <pc:spChg chg="mod">
          <ac:chgData name="Chaitanya Sri" userId="ce7cd60cb5ff0a80" providerId="LiveId" clId="{A2C663D9-E38C-44B9-9825-3C60C5AE3459}" dt="2026-04-01T06:19:19.673" v="355" actId="1076"/>
          <ac:spMkLst>
            <pc:docMk/>
            <pc:sldMk cId="0" sldId="256"/>
            <ac:spMk id="12" creationId="{00000000-0000-0000-0000-000000000000}"/>
          </ac:spMkLst>
        </pc:spChg>
        <pc:spChg chg="mod">
          <ac:chgData name="Chaitanya Sri" userId="ce7cd60cb5ff0a80" providerId="LiveId" clId="{A2C663D9-E38C-44B9-9825-3C60C5AE3459}" dt="2026-04-01T05:51:43.947" v="271" actId="20577"/>
          <ac:spMkLst>
            <pc:docMk/>
            <pc:sldMk cId="0" sldId="256"/>
            <ac:spMk id="13" creationId="{00000000-0000-0000-0000-000000000000}"/>
          </ac:spMkLst>
        </pc:spChg>
        <pc:spChg chg="add mod">
          <ac:chgData name="Chaitanya Sri" userId="ce7cd60cb5ff0a80" providerId="LiveId" clId="{A2C663D9-E38C-44B9-9825-3C60C5AE3459}" dt="2026-04-01T05:53:00.018" v="293" actId="1076"/>
          <ac:spMkLst>
            <pc:docMk/>
            <pc:sldMk cId="0" sldId="256"/>
            <ac:spMk id="15" creationId="{42ECF4B0-58CF-0F36-FD99-BB9EA1E5F6F5}"/>
          </ac:spMkLst>
        </pc:spChg>
        <pc:spChg chg="add mod">
          <ac:chgData name="Chaitanya Sri" userId="ce7cd60cb5ff0a80" providerId="LiveId" clId="{A2C663D9-E38C-44B9-9825-3C60C5AE3459}" dt="2026-04-01T05:52:05.730" v="273" actId="1076"/>
          <ac:spMkLst>
            <pc:docMk/>
            <pc:sldMk cId="0" sldId="256"/>
            <ac:spMk id="17" creationId="{11E0A578-D332-7EF8-5C6D-8129F40E9D61}"/>
          </ac:spMkLst>
        </pc:spChg>
        <pc:spChg chg="add del mod">
          <ac:chgData name="Chaitanya Sri" userId="ce7cd60cb5ff0a80" providerId="LiveId" clId="{A2C663D9-E38C-44B9-9825-3C60C5AE3459}" dt="2026-04-01T05:50:50.244" v="237" actId="478"/>
          <ac:spMkLst>
            <pc:docMk/>
            <pc:sldMk cId="0" sldId="256"/>
            <ac:spMk id="19" creationId="{F3087E53-88F0-6133-2C22-F96A9444A8BE}"/>
          </ac:spMkLst>
        </pc:spChg>
        <pc:spChg chg="add mod">
          <ac:chgData name="Chaitanya Sri" userId="ce7cd60cb5ff0a80" providerId="LiveId" clId="{A2C663D9-E38C-44B9-9825-3C60C5AE3459}" dt="2026-04-02T02:25:27.375" v="372" actId="1076"/>
          <ac:spMkLst>
            <pc:docMk/>
            <pc:sldMk cId="0" sldId="256"/>
            <ac:spMk id="21" creationId="{9525BECD-F91E-C180-75F7-A677CE267BC3}"/>
          </ac:spMkLst>
        </pc:spChg>
        <pc:picChg chg="del">
          <ac:chgData name="Chaitanya Sri" userId="ce7cd60cb5ff0a80" providerId="LiveId" clId="{A2C663D9-E38C-44B9-9825-3C60C5AE3459}" dt="2026-04-01T05:36:29.930" v="93" actId="478"/>
          <ac:picMkLst>
            <pc:docMk/>
            <pc:sldMk cId="0" sldId="256"/>
            <ac:picMk id="10" creationId="{00000000-0000-0000-0000-000000000000}"/>
          </ac:picMkLst>
        </pc:picChg>
      </pc:sldChg>
      <pc:sldChg chg="delSp del mod">
        <pc:chgData name="Chaitanya Sri" userId="ce7cd60cb5ff0a80" providerId="LiveId" clId="{A2C663D9-E38C-44B9-9825-3C60C5AE3459}" dt="2026-04-01T05:33:10.984" v="36" actId="47"/>
        <pc:sldMkLst>
          <pc:docMk/>
          <pc:sldMk cId="0" sldId="257"/>
        </pc:sldMkLst>
        <pc:spChg chg="del">
          <ac:chgData name="Chaitanya Sri" userId="ce7cd60cb5ff0a80" providerId="LiveId" clId="{A2C663D9-E38C-44B9-9825-3C60C5AE3459}" dt="2026-04-01T05:22:42.173" v="0" actId="478"/>
          <ac:spMkLst>
            <pc:docMk/>
            <pc:sldMk cId="0" sldId="257"/>
            <ac:spMk id="14" creationId="{00000000-0000-0000-0000-000000000000}"/>
          </ac:spMkLst>
        </pc:spChg>
        <pc:picChg chg="del">
          <ac:chgData name="Chaitanya Sri" userId="ce7cd60cb5ff0a80" providerId="LiveId" clId="{A2C663D9-E38C-44B9-9825-3C60C5AE3459}" dt="2026-04-01T05:33:07.198" v="35" actId="478"/>
          <ac:picMkLst>
            <pc:docMk/>
            <pc:sldMk cId="0" sldId="257"/>
            <ac:picMk id="16" creationId="{00000000-0000-0000-0000-000000000000}"/>
          </ac:picMkLst>
        </pc:picChg>
      </pc:sldChg>
      <pc:sldChg chg="addSp delSp modSp mod">
        <pc:chgData name="Chaitanya Sri" userId="ce7cd60cb5ff0a80" providerId="LiveId" clId="{A2C663D9-E38C-44B9-9825-3C60C5AE3459}" dt="2026-04-02T03:00:08.800" v="570" actId="20577"/>
        <pc:sldMkLst>
          <pc:docMk/>
          <pc:sldMk cId="0" sldId="264"/>
        </pc:sldMkLst>
        <pc:spChg chg="mod">
          <ac:chgData name="Chaitanya Sri" userId="ce7cd60cb5ff0a80" providerId="LiveId" clId="{A2C663D9-E38C-44B9-9825-3C60C5AE3459}" dt="2026-04-02T03:00:08.800" v="570" actId="20577"/>
          <ac:spMkLst>
            <pc:docMk/>
            <pc:sldMk cId="0" sldId="264"/>
            <ac:spMk id="5" creationId="{00000000-0000-0000-0000-000000000000}"/>
          </ac:spMkLst>
        </pc:spChg>
        <pc:picChg chg="del mod">
          <ac:chgData name="Chaitanya Sri" userId="ce7cd60cb5ff0a80" providerId="LiveId" clId="{A2C663D9-E38C-44B9-9825-3C60C5AE3459}" dt="2026-04-02T02:51:58.781" v="506" actId="478"/>
          <ac:picMkLst>
            <pc:docMk/>
            <pc:sldMk cId="0" sldId="264"/>
            <ac:picMk id="10" creationId="{00000000-0000-0000-0000-000000000000}"/>
          </ac:picMkLst>
        </pc:picChg>
        <pc:picChg chg="del mod">
          <ac:chgData name="Chaitanya Sri" userId="ce7cd60cb5ff0a80" providerId="LiveId" clId="{A2C663D9-E38C-44B9-9825-3C60C5AE3459}" dt="2026-04-02T02:55:23.235" v="516" actId="478"/>
          <ac:picMkLst>
            <pc:docMk/>
            <pc:sldMk cId="0" sldId="264"/>
            <ac:picMk id="14" creationId="{00000000-0000-0000-0000-000000000000}"/>
          </ac:picMkLst>
        </pc:picChg>
        <pc:picChg chg="del mod">
          <ac:chgData name="Chaitanya Sri" userId="ce7cd60cb5ff0a80" providerId="LiveId" clId="{A2C663D9-E38C-44B9-9825-3C60C5AE3459}" dt="2026-04-02T02:56:19.986" v="530" actId="478"/>
          <ac:picMkLst>
            <pc:docMk/>
            <pc:sldMk cId="0" sldId="264"/>
            <ac:picMk id="18" creationId="{00000000-0000-0000-0000-000000000000}"/>
          </ac:picMkLst>
        </pc:picChg>
        <pc:picChg chg="add mod">
          <ac:chgData name="Chaitanya Sri" userId="ce7cd60cb5ff0a80" providerId="LiveId" clId="{A2C663D9-E38C-44B9-9825-3C60C5AE3459}" dt="2026-04-02T02:54:43.260" v="515" actId="1076"/>
          <ac:picMkLst>
            <pc:docMk/>
            <pc:sldMk cId="0" sldId="264"/>
            <ac:picMk id="20" creationId="{80E0BF90-6E0A-F5D6-E47E-4C1C21DBDAC8}"/>
          </ac:picMkLst>
        </pc:picChg>
        <pc:picChg chg="add mod">
          <ac:chgData name="Chaitanya Sri" userId="ce7cd60cb5ff0a80" providerId="LiveId" clId="{A2C663D9-E38C-44B9-9825-3C60C5AE3459}" dt="2026-04-02T02:56:06.232" v="529" actId="1076"/>
          <ac:picMkLst>
            <pc:docMk/>
            <pc:sldMk cId="0" sldId="264"/>
            <ac:picMk id="22" creationId="{8A44166B-F65A-3233-77F6-90E2BC21A9AC}"/>
          </ac:picMkLst>
        </pc:picChg>
        <pc:picChg chg="add del mod">
          <ac:chgData name="Chaitanya Sri" userId="ce7cd60cb5ff0a80" providerId="LiveId" clId="{A2C663D9-E38C-44B9-9825-3C60C5AE3459}" dt="2026-04-02T02:58:03.879" v="542" actId="478"/>
          <ac:picMkLst>
            <pc:docMk/>
            <pc:sldMk cId="0" sldId="264"/>
            <ac:picMk id="24" creationId="{B97008B6-1650-7313-38A3-6C100C4F5A76}"/>
          </ac:picMkLst>
        </pc:picChg>
        <pc:picChg chg="add mod">
          <ac:chgData name="Chaitanya Sri" userId="ce7cd60cb5ff0a80" providerId="LiveId" clId="{A2C663D9-E38C-44B9-9825-3C60C5AE3459}" dt="2026-04-02T02:58:37.798" v="552" actId="1076"/>
          <ac:picMkLst>
            <pc:docMk/>
            <pc:sldMk cId="0" sldId="264"/>
            <ac:picMk id="26" creationId="{FE83BB72-9B54-9453-23CA-0313D6268458}"/>
          </ac:picMkLst>
        </pc:picChg>
      </pc:sldChg>
      <pc:sldChg chg="modSp mod">
        <pc:chgData name="Chaitanya Sri" userId="ce7cd60cb5ff0a80" providerId="LiveId" clId="{A2C663D9-E38C-44B9-9825-3C60C5AE3459}" dt="2026-04-02T03:00:26.604" v="588" actId="20577"/>
        <pc:sldMkLst>
          <pc:docMk/>
          <pc:sldMk cId="0" sldId="265"/>
        </pc:sldMkLst>
        <pc:spChg chg="mod">
          <ac:chgData name="Chaitanya Sri" userId="ce7cd60cb5ff0a80" providerId="LiveId" clId="{A2C663D9-E38C-44B9-9825-3C60C5AE3459}" dt="2026-04-02T03:00:26.604" v="588" actId="20577"/>
          <ac:spMkLst>
            <pc:docMk/>
            <pc:sldMk cId="0" sldId="265"/>
            <ac:spMk id="5" creationId="{00000000-0000-0000-0000-000000000000}"/>
          </ac:spMkLst>
        </pc:spChg>
        <pc:picChg chg="mod">
          <ac:chgData name="Chaitanya Sri" userId="ce7cd60cb5ff0a80" providerId="LiveId" clId="{A2C663D9-E38C-44B9-9825-3C60C5AE3459}" dt="2026-04-02T02:24:12.569" v="371" actId="14100"/>
          <ac:picMkLst>
            <pc:docMk/>
            <pc:sldMk cId="0" sldId="265"/>
            <ac:picMk id="10" creationId="{00000000-0000-0000-0000-000000000000}"/>
          </ac:picMkLst>
        </pc:picChg>
        <pc:picChg chg="mod">
          <ac:chgData name="Chaitanya Sri" userId="ce7cd60cb5ff0a80" providerId="LiveId" clId="{A2C663D9-E38C-44B9-9825-3C60C5AE3459}" dt="2026-04-02T02:24:11.833" v="370" actId="14100"/>
          <ac:picMkLst>
            <pc:docMk/>
            <pc:sldMk cId="0" sldId="265"/>
            <ac:picMk id="14" creationId="{00000000-0000-0000-0000-000000000000}"/>
          </ac:picMkLst>
        </pc:picChg>
        <pc:picChg chg="mod">
          <ac:chgData name="Chaitanya Sri" userId="ce7cd60cb5ff0a80" providerId="LiveId" clId="{A2C663D9-E38C-44B9-9825-3C60C5AE3459}" dt="2026-04-02T02:24:11.169" v="369" actId="14100"/>
          <ac:picMkLst>
            <pc:docMk/>
            <pc:sldMk cId="0" sldId="265"/>
            <ac:picMk id="18" creationId="{00000000-0000-0000-0000-000000000000}"/>
          </ac:picMkLst>
        </pc:picChg>
      </pc:sldChg>
      <pc:sldChg chg="modSp mod">
        <pc:chgData name="Chaitanya Sri" userId="ce7cd60cb5ff0a80" providerId="LiveId" clId="{A2C663D9-E38C-44B9-9825-3C60C5AE3459}" dt="2026-04-02T03:00:55.459" v="606" actId="20577"/>
        <pc:sldMkLst>
          <pc:docMk/>
          <pc:sldMk cId="0" sldId="266"/>
        </pc:sldMkLst>
        <pc:spChg chg="mod">
          <ac:chgData name="Chaitanya Sri" userId="ce7cd60cb5ff0a80" providerId="LiveId" clId="{A2C663D9-E38C-44B9-9825-3C60C5AE3459}" dt="2026-04-02T03:00:55.459" v="606" actId="20577"/>
          <ac:spMkLst>
            <pc:docMk/>
            <pc:sldMk cId="0" sldId="266"/>
            <ac:spMk id="5" creationId="{00000000-0000-0000-0000-000000000000}"/>
          </ac:spMkLst>
        </pc:spChg>
      </pc:sldChg>
      <pc:sldChg chg="modSp mod">
        <pc:chgData name="Chaitanya Sri" userId="ce7cd60cb5ff0a80" providerId="LiveId" clId="{A2C663D9-E38C-44B9-9825-3C60C5AE3459}" dt="2026-04-02T03:01:27.694" v="630" actId="20577"/>
        <pc:sldMkLst>
          <pc:docMk/>
          <pc:sldMk cId="0" sldId="267"/>
        </pc:sldMkLst>
        <pc:spChg chg="mod">
          <ac:chgData name="Chaitanya Sri" userId="ce7cd60cb5ff0a80" providerId="LiveId" clId="{A2C663D9-E38C-44B9-9825-3C60C5AE3459}" dt="2026-04-02T03:01:27.694" v="630" actId="20577"/>
          <ac:spMkLst>
            <pc:docMk/>
            <pc:sldMk cId="0" sldId="267"/>
            <ac:spMk id="5" creationId="{00000000-0000-0000-0000-000000000000}"/>
          </ac:spMkLst>
        </pc:spChg>
      </pc:sldChg>
      <pc:sldChg chg="modSp mod">
        <pc:chgData name="Chaitanya Sri" userId="ce7cd60cb5ff0a80" providerId="LiveId" clId="{A2C663D9-E38C-44B9-9825-3C60C5AE3459}" dt="2026-04-02T02:42:09.610" v="377" actId="20577"/>
        <pc:sldMkLst>
          <pc:docMk/>
          <pc:sldMk cId="0" sldId="269"/>
        </pc:sldMkLst>
        <pc:spChg chg="mod">
          <ac:chgData name="Chaitanya Sri" userId="ce7cd60cb5ff0a80" providerId="LiveId" clId="{A2C663D9-E38C-44B9-9825-3C60C5AE3459}" dt="2026-04-02T02:42:09.610" v="377" actId="20577"/>
          <ac:spMkLst>
            <pc:docMk/>
            <pc:sldMk cId="0" sldId="269"/>
            <ac:spMk id="2" creationId="{00000000-0000-0000-0000-000000000000}"/>
          </ac:spMkLst>
        </pc:spChg>
        <pc:spChg chg="mod">
          <ac:chgData name="Chaitanya Sri" userId="ce7cd60cb5ff0a80" providerId="LiveId" clId="{A2C663D9-E38C-44B9-9825-3C60C5AE3459}" dt="2026-04-02T02:42:05.200" v="376" actId="20577"/>
          <ac:spMkLst>
            <pc:docMk/>
            <pc:sldMk cId="0" sldId="269"/>
            <ac:spMk id="4" creationId="{00000000-0000-0000-0000-000000000000}"/>
          </ac:spMkLst>
        </pc:spChg>
      </pc:sldChg>
      <pc:sldChg chg="delSp modSp mod">
        <pc:chgData name="Chaitanya Sri" userId="ce7cd60cb5ff0a80" providerId="LiveId" clId="{A2C663D9-E38C-44B9-9825-3C60C5AE3459}" dt="2026-04-01T05:34:24.747" v="40" actId="478"/>
        <pc:sldMkLst>
          <pc:docMk/>
          <pc:sldMk cId="0" sldId="270"/>
        </pc:sldMkLst>
        <pc:spChg chg="mod">
          <ac:chgData name="Chaitanya Sri" userId="ce7cd60cb5ff0a80" providerId="LiveId" clId="{A2C663D9-E38C-44B9-9825-3C60C5AE3459}" dt="2026-04-01T05:34:11.004" v="38" actId="6549"/>
          <ac:spMkLst>
            <pc:docMk/>
            <pc:sldMk cId="0" sldId="270"/>
            <ac:spMk id="9" creationId="{00000000-0000-0000-0000-000000000000}"/>
          </ac:spMkLst>
        </pc:spChg>
        <pc:spChg chg="mod">
          <ac:chgData name="Chaitanya Sri" userId="ce7cd60cb5ff0a80" providerId="LiveId" clId="{A2C663D9-E38C-44B9-9825-3C60C5AE3459}" dt="2026-04-01T05:34:17.116" v="39" actId="6549"/>
          <ac:spMkLst>
            <pc:docMk/>
            <pc:sldMk cId="0" sldId="270"/>
            <ac:spMk id="10" creationId="{00000000-0000-0000-0000-000000000000}"/>
          </ac:spMkLst>
        </pc:spChg>
        <pc:picChg chg="del">
          <ac:chgData name="Chaitanya Sri" userId="ce7cd60cb5ff0a80" providerId="LiveId" clId="{A2C663D9-E38C-44B9-9825-3C60C5AE3459}" dt="2026-04-01T05:34:24.747" v="40" actId="478"/>
          <ac:picMkLst>
            <pc:docMk/>
            <pc:sldMk cId="0" sldId="270"/>
            <ac:picMk id="6" creationId="{00000000-0000-0000-0000-000000000000}"/>
          </ac:picMkLst>
        </pc:picChg>
      </pc:sldChg>
      <pc:sldChg chg="addSp delSp modSp new mod">
        <pc:chgData name="Chaitanya Sri" userId="ce7cd60cb5ff0a80" providerId="LiveId" clId="{A2C663D9-E38C-44B9-9825-3C60C5AE3459}" dt="2026-04-01T06:18:33.430" v="352" actId="1076"/>
        <pc:sldMkLst>
          <pc:docMk/>
          <pc:sldMk cId="2199995124" sldId="271"/>
        </pc:sldMkLst>
        <pc:spChg chg="add mod">
          <ac:chgData name="Chaitanya Sri" userId="ce7cd60cb5ff0a80" providerId="LiveId" clId="{A2C663D9-E38C-44B9-9825-3C60C5AE3459}" dt="2026-04-01T05:23:33.699" v="9" actId="1076"/>
          <ac:spMkLst>
            <pc:docMk/>
            <pc:sldMk cId="2199995124" sldId="271"/>
            <ac:spMk id="3" creationId="{60EFED2D-311A-2D2C-0664-046073928562}"/>
          </ac:spMkLst>
        </pc:spChg>
        <pc:spChg chg="add mod">
          <ac:chgData name="Chaitanya Sri" userId="ce7cd60cb5ff0a80" providerId="LiveId" clId="{A2C663D9-E38C-44B9-9825-3C60C5AE3459}" dt="2026-04-01T05:23:33.699" v="9" actId="1076"/>
          <ac:spMkLst>
            <pc:docMk/>
            <pc:sldMk cId="2199995124" sldId="271"/>
            <ac:spMk id="4" creationId="{56E788CB-6962-29E8-5716-5B6A2A420958}"/>
          </ac:spMkLst>
        </pc:spChg>
        <pc:spChg chg="add mod">
          <ac:chgData name="Chaitanya Sri" userId="ce7cd60cb5ff0a80" providerId="LiveId" clId="{A2C663D9-E38C-44B9-9825-3C60C5AE3459}" dt="2026-04-01T05:23:33.699" v="9" actId="1076"/>
          <ac:spMkLst>
            <pc:docMk/>
            <pc:sldMk cId="2199995124" sldId="271"/>
            <ac:spMk id="5" creationId="{D3A8973A-16BF-7D8C-10BD-3ADCA3566605}"/>
          </ac:spMkLst>
        </pc:spChg>
        <pc:spChg chg="add mod">
          <ac:chgData name="Chaitanya Sri" userId="ce7cd60cb5ff0a80" providerId="LiveId" clId="{A2C663D9-E38C-44B9-9825-3C60C5AE3459}" dt="2026-04-01T05:23:33.699" v="9" actId="1076"/>
          <ac:spMkLst>
            <pc:docMk/>
            <pc:sldMk cId="2199995124" sldId="271"/>
            <ac:spMk id="6" creationId="{F8E3FD47-0FFB-3BC6-072D-3DC168C12007}"/>
          </ac:spMkLst>
        </pc:spChg>
        <pc:spChg chg="add del mod">
          <ac:chgData name="Chaitanya Sri" userId="ce7cd60cb5ff0a80" providerId="LiveId" clId="{A2C663D9-E38C-44B9-9825-3C60C5AE3459}" dt="2026-04-01T05:23:46.844" v="21" actId="1076"/>
          <ac:spMkLst>
            <pc:docMk/>
            <pc:sldMk cId="2199995124" sldId="271"/>
            <ac:spMk id="7" creationId="{5A6CB1D2-AE47-3775-0EE0-F79D5B428C8F}"/>
          </ac:spMkLst>
        </pc:spChg>
        <pc:spChg chg="add del mod">
          <ac:chgData name="Chaitanya Sri" userId="ce7cd60cb5ff0a80" providerId="LiveId" clId="{A2C663D9-E38C-44B9-9825-3C60C5AE3459}" dt="2026-04-01T05:23:45.120" v="18" actId="20577"/>
          <ac:spMkLst>
            <pc:docMk/>
            <pc:sldMk cId="2199995124" sldId="271"/>
            <ac:spMk id="8" creationId="{B015377B-685E-6670-EF14-6C5F5490DD85}"/>
          </ac:spMkLst>
        </pc:spChg>
        <pc:spChg chg="mod">
          <ac:chgData name="Chaitanya Sri" userId="ce7cd60cb5ff0a80" providerId="LiveId" clId="{A2C663D9-E38C-44B9-9825-3C60C5AE3459}" dt="2026-04-01T05:23:45.613" v="19" actId="6549"/>
          <ac:spMkLst>
            <pc:docMk/>
            <pc:sldMk cId="2199995124" sldId="271"/>
            <ac:spMk id="9" creationId="{DB15EDEC-D7CC-D098-99B4-5E14A07E5963}"/>
          </ac:spMkLst>
        </pc:spChg>
        <pc:spChg chg="add mod">
          <ac:chgData name="Chaitanya Sri" userId="ce7cd60cb5ff0a80" providerId="LiveId" clId="{A2C663D9-E38C-44B9-9825-3C60C5AE3459}" dt="2026-04-01T05:23:33.699" v="9" actId="1076"/>
          <ac:spMkLst>
            <pc:docMk/>
            <pc:sldMk cId="2199995124" sldId="271"/>
            <ac:spMk id="11" creationId="{96CA902F-11E9-173E-9E4C-85BAAC95BFB5}"/>
          </ac:spMkLst>
        </pc:spChg>
        <pc:spChg chg="add mod">
          <ac:chgData name="Chaitanya Sri" userId="ce7cd60cb5ff0a80" providerId="LiveId" clId="{A2C663D9-E38C-44B9-9825-3C60C5AE3459}" dt="2026-04-01T05:23:33.699" v="9" actId="1076"/>
          <ac:spMkLst>
            <pc:docMk/>
            <pc:sldMk cId="2199995124" sldId="271"/>
            <ac:spMk id="12" creationId="{C407EB2E-0F26-E2FC-EA90-F15655B74780}"/>
          </ac:spMkLst>
        </pc:spChg>
        <pc:spChg chg="add mod">
          <ac:chgData name="Chaitanya Sri" userId="ce7cd60cb5ff0a80" providerId="LiveId" clId="{A2C663D9-E38C-44B9-9825-3C60C5AE3459}" dt="2026-04-01T05:23:33.699" v="9" actId="1076"/>
          <ac:spMkLst>
            <pc:docMk/>
            <pc:sldMk cId="2199995124" sldId="271"/>
            <ac:spMk id="14" creationId="{F2249C01-183A-2843-5569-F36425EA195A}"/>
          </ac:spMkLst>
        </pc:spChg>
        <pc:spChg chg="add mod">
          <ac:chgData name="Chaitanya Sri" userId="ce7cd60cb5ff0a80" providerId="LiveId" clId="{A2C663D9-E38C-44B9-9825-3C60C5AE3459}" dt="2026-04-01T05:23:47.201" v="22" actId="1076"/>
          <ac:spMkLst>
            <pc:docMk/>
            <pc:sldMk cId="2199995124" sldId="271"/>
            <ac:spMk id="16" creationId="{0ADB9423-32BC-5F0F-38ED-564FB92A4DB6}"/>
          </ac:spMkLst>
        </pc:spChg>
        <pc:spChg chg="add mod">
          <ac:chgData name="Chaitanya Sri" userId="ce7cd60cb5ff0a80" providerId="LiveId" clId="{A2C663D9-E38C-44B9-9825-3C60C5AE3459}" dt="2026-04-01T05:24:07.533" v="23"/>
          <ac:spMkLst>
            <pc:docMk/>
            <pc:sldMk cId="2199995124" sldId="271"/>
            <ac:spMk id="17" creationId="{0000EF90-5677-E847-92D9-11B4F14025F2}"/>
          </ac:spMkLst>
        </pc:spChg>
        <pc:spChg chg="add mod">
          <ac:chgData name="Chaitanya Sri" userId="ce7cd60cb5ff0a80" providerId="LiveId" clId="{A2C663D9-E38C-44B9-9825-3C60C5AE3459}" dt="2026-04-01T05:24:07.533" v="23"/>
          <ac:spMkLst>
            <pc:docMk/>
            <pc:sldMk cId="2199995124" sldId="271"/>
            <ac:spMk id="18" creationId="{65FE5DB9-A9C0-51D7-B108-00B8B2B57B2E}"/>
          </ac:spMkLst>
        </pc:spChg>
        <pc:spChg chg="add mod">
          <ac:chgData name="Chaitanya Sri" userId="ce7cd60cb5ff0a80" providerId="LiveId" clId="{A2C663D9-E38C-44B9-9825-3C60C5AE3459}" dt="2026-04-01T05:24:07.533" v="23"/>
          <ac:spMkLst>
            <pc:docMk/>
            <pc:sldMk cId="2199995124" sldId="271"/>
            <ac:spMk id="19" creationId="{E98427A4-7E9C-F04C-A865-BF23E7115216}"/>
          </ac:spMkLst>
        </pc:spChg>
        <pc:spChg chg="add mod">
          <ac:chgData name="Chaitanya Sri" userId="ce7cd60cb5ff0a80" providerId="LiveId" clId="{A2C663D9-E38C-44B9-9825-3C60C5AE3459}" dt="2026-04-01T05:24:07.533" v="23"/>
          <ac:spMkLst>
            <pc:docMk/>
            <pc:sldMk cId="2199995124" sldId="271"/>
            <ac:spMk id="20" creationId="{02FC73AD-6A1F-E9F1-4FE3-91F0E19470F2}"/>
          </ac:spMkLst>
        </pc:spChg>
        <pc:spChg chg="add del mod">
          <ac:chgData name="Chaitanya Sri" userId="ce7cd60cb5ff0a80" providerId="LiveId" clId="{A2C663D9-E38C-44B9-9825-3C60C5AE3459}" dt="2026-04-01T06:18:33.430" v="352" actId="1076"/>
          <ac:spMkLst>
            <pc:docMk/>
            <pc:sldMk cId="2199995124" sldId="271"/>
            <ac:spMk id="21" creationId="{6B1D6BD1-D133-6CD7-24B1-14C2202ED392}"/>
          </ac:spMkLst>
        </pc:spChg>
        <pc:spChg chg="add mod">
          <ac:chgData name="Chaitanya Sri" userId="ce7cd60cb5ff0a80" providerId="LiveId" clId="{A2C663D9-E38C-44B9-9825-3C60C5AE3459}" dt="2026-04-01T06:18:32.493" v="351" actId="13926"/>
          <ac:spMkLst>
            <pc:docMk/>
            <pc:sldMk cId="2199995124" sldId="271"/>
            <ac:spMk id="22" creationId="{FF6BB4DE-016B-E0F1-27C9-FADC01CD57CE}"/>
          </ac:spMkLst>
        </pc:spChg>
        <pc:spChg chg="add del mod">
          <ac:chgData name="Chaitanya Sri" userId="ce7cd60cb5ff0a80" providerId="LiveId" clId="{A2C663D9-E38C-44B9-9825-3C60C5AE3459}" dt="2026-04-01T05:32:19.966" v="28" actId="478"/>
          <ac:spMkLst>
            <pc:docMk/>
            <pc:sldMk cId="2199995124" sldId="271"/>
            <ac:spMk id="23" creationId="{64943FFC-8309-27A7-94F7-965C7E55DEB0}"/>
          </ac:spMkLst>
        </pc:spChg>
        <pc:spChg chg="add mod">
          <ac:chgData name="Chaitanya Sri" userId="ce7cd60cb5ff0a80" providerId="LiveId" clId="{A2C663D9-E38C-44B9-9825-3C60C5AE3459}" dt="2026-04-01T05:24:40.423" v="24"/>
          <ac:spMkLst>
            <pc:docMk/>
            <pc:sldMk cId="2199995124" sldId="271"/>
            <ac:spMk id="24" creationId="{25E6FF01-9257-C3D3-467E-4772A25F96DA}"/>
          </ac:spMkLst>
        </pc:spChg>
        <pc:spChg chg="add mod">
          <ac:chgData name="Chaitanya Sri" userId="ce7cd60cb5ff0a80" providerId="LiveId" clId="{A2C663D9-E38C-44B9-9825-3C60C5AE3459}" dt="2026-04-01T05:32:15.652" v="27" actId="20577"/>
          <ac:spMkLst>
            <pc:docMk/>
            <pc:sldMk cId="2199995124" sldId="271"/>
            <ac:spMk id="25" creationId="{1D8ACAC1-4CDC-0846-0507-D86D764AA04A}"/>
          </ac:spMkLst>
        </pc:spChg>
        <pc:spChg chg="add mod">
          <ac:chgData name="Chaitanya Sri" userId="ce7cd60cb5ff0a80" providerId="LiveId" clId="{A2C663D9-E38C-44B9-9825-3C60C5AE3459}" dt="2026-04-01T05:32:45.268" v="34" actId="1076"/>
          <ac:spMkLst>
            <pc:docMk/>
            <pc:sldMk cId="2199995124" sldId="271"/>
            <ac:spMk id="27" creationId="{1D92AE3C-C979-5C0E-780A-A2813506ACA0}"/>
          </ac:spMkLst>
        </pc:spChg>
      </pc:sldChg>
      <pc:sldChg chg="addSp modSp new del mod">
        <pc:chgData name="Chaitanya Sri" userId="ce7cd60cb5ff0a80" providerId="LiveId" clId="{A2C663D9-E38C-44B9-9825-3C60C5AE3459}" dt="2026-04-01T05:42:27.805" v="112" actId="47"/>
        <pc:sldMkLst>
          <pc:docMk/>
          <pc:sldMk cId="428487363" sldId="272"/>
        </pc:sldMkLst>
        <pc:spChg chg="add mod">
          <ac:chgData name="Chaitanya Sri" userId="ce7cd60cb5ff0a80" providerId="LiveId" clId="{A2C663D9-E38C-44B9-9825-3C60C5AE3459}" dt="2026-04-01T05:39:07.440" v="105"/>
          <ac:spMkLst>
            <pc:docMk/>
            <pc:sldMk cId="428487363" sldId="272"/>
            <ac:spMk id="2" creationId="{922E17FD-E111-8B34-9203-A667BEF95DB6}"/>
          </ac:spMkLst>
        </pc:spChg>
        <pc:spChg chg="add mod">
          <ac:chgData name="Chaitanya Sri" userId="ce7cd60cb5ff0a80" providerId="LiveId" clId="{A2C663D9-E38C-44B9-9825-3C60C5AE3459}" dt="2026-04-01T05:39:07.440" v="105"/>
          <ac:spMkLst>
            <pc:docMk/>
            <pc:sldMk cId="428487363" sldId="272"/>
            <ac:spMk id="3" creationId="{E526C279-4046-6B67-9E55-A7DF46E94D8E}"/>
          </ac:spMkLst>
        </pc:spChg>
        <pc:spChg chg="add mod">
          <ac:chgData name="Chaitanya Sri" userId="ce7cd60cb5ff0a80" providerId="LiveId" clId="{A2C663D9-E38C-44B9-9825-3C60C5AE3459}" dt="2026-04-01T05:39:07.440" v="105"/>
          <ac:spMkLst>
            <pc:docMk/>
            <pc:sldMk cId="428487363" sldId="272"/>
            <ac:spMk id="4" creationId="{BA4A6A89-0756-E592-C3AF-FB089633818F}"/>
          </ac:spMkLst>
        </pc:spChg>
        <pc:spChg chg="add mod">
          <ac:chgData name="Chaitanya Sri" userId="ce7cd60cb5ff0a80" providerId="LiveId" clId="{A2C663D9-E38C-44B9-9825-3C60C5AE3459}" dt="2026-04-01T05:39:07.440" v="105"/>
          <ac:spMkLst>
            <pc:docMk/>
            <pc:sldMk cId="428487363" sldId="272"/>
            <ac:spMk id="5" creationId="{85168655-0A6A-1812-75D2-B124900B50A7}"/>
          </ac:spMkLst>
        </pc:spChg>
        <pc:spChg chg="add mod">
          <ac:chgData name="Chaitanya Sri" userId="ce7cd60cb5ff0a80" providerId="LiveId" clId="{A2C663D9-E38C-44B9-9825-3C60C5AE3459}" dt="2026-04-01T05:39:07.440" v="105"/>
          <ac:spMkLst>
            <pc:docMk/>
            <pc:sldMk cId="428487363" sldId="272"/>
            <ac:spMk id="6" creationId="{747D7350-CA6F-986F-85CF-C4DEB2A9E064}"/>
          </ac:spMkLst>
        </pc:spChg>
        <pc:spChg chg="add mod">
          <ac:chgData name="Chaitanya Sri" userId="ce7cd60cb5ff0a80" providerId="LiveId" clId="{A2C663D9-E38C-44B9-9825-3C60C5AE3459}" dt="2026-04-01T05:39:07.440" v="105"/>
          <ac:spMkLst>
            <pc:docMk/>
            <pc:sldMk cId="428487363" sldId="272"/>
            <ac:spMk id="7" creationId="{9C0B07E4-F743-01A8-2703-E3A8159C1B91}"/>
          </ac:spMkLst>
        </pc:spChg>
        <pc:spChg chg="add mod">
          <ac:chgData name="Chaitanya Sri" userId="ce7cd60cb5ff0a80" providerId="LiveId" clId="{A2C663D9-E38C-44B9-9825-3C60C5AE3459}" dt="2026-04-01T05:39:07.440" v="105"/>
          <ac:spMkLst>
            <pc:docMk/>
            <pc:sldMk cId="428487363" sldId="272"/>
            <ac:spMk id="8" creationId="{A7FCED7F-37A0-AD73-B5FB-A0F61110ED71}"/>
          </ac:spMkLst>
        </pc:spChg>
        <pc:spChg chg="add mod">
          <ac:chgData name="Chaitanya Sri" userId="ce7cd60cb5ff0a80" providerId="LiveId" clId="{A2C663D9-E38C-44B9-9825-3C60C5AE3459}" dt="2026-04-01T05:39:07.440" v="105"/>
          <ac:spMkLst>
            <pc:docMk/>
            <pc:sldMk cId="428487363" sldId="272"/>
            <ac:spMk id="9" creationId="{67A25270-B6E4-4F01-03E7-E4ED2F5B75DA}"/>
          </ac:spMkLst>
        </pc:spChg>
        <pc:spChg chg="add mod">
          <ac:chgData name="Chaitanya Sri" userId="ce7cd60cb5ff0a80" providerId="LiveId" clId="{A2C663D9-E38C-44B9-9825-3C60C5AE3459}" dt="2026-04-01T05:39:07.440" v="105"/>
          <ac:spMkLst>
            <pc:docMk/>
            <pc:sldMk cId="428487363" sldId="272"/>
            <ac:spMk id="12" creationId="{29CDD442-764B-038A-E785-608FF491502F}"/>
          </ac:spMkLst>
        </pc:spChg>
        <pc:spChg chg="add mod">
          <ac:chgData name="Chaitanya Sri" userId="ce7cd60cb5ff0a80" providerId="LiveId" clId="{A2C663D9-E38C-44B9-9825-3C60C5AE3459}" dt="2026-04-01T05:39:07.440" v="105"/>
          <ac:spMkLst>
            <pc:docMk/>
            <pc:sldMk cId="428487363" sldId="272"/>
            <ac:spMk id="13" creationId="{017892B0-640A-F427-6A41-035813D139F7}"/>
          </ac:spMkLst>
        </pc:spChg>
        <pc:spChg chg="add mod">
          <ac:chgData name="Chaitanya Sri" userId="ce7cd60cb5ff0a80" providerId="LiveId" clId="{A2C663D9-E38C-44B9-9825-3C60C5AE3459}" dt="2026-04-01T05:39:46.941" v="106"/>
          <ac:spMkLst>
            <pc:docMk/>
            <pc:sldMk cId="428487363" sldId="272"/>
            <ac:spMk id="16" creationId="{EF533FFD-0E43-E323-D680-EB48E073D1F1}"/>
          </ac:spMkLst>
        </pc:spChg>
        <pc:spChg chg="add mod">
          <ac:chgData name="Chaitanya Sri" userId="ce7cd60cb5ff0a80" providerId="LiveId" clId="{A2C663D9-E38C-44B9-9825-3C60C5AE3459}" dt="2026-04-01T05:39:46.941" v="106"/>
          <ac:spMkLst>
            <pc:docMk/>
            <pc:sldMk cId="428487363" sldId="272"/>
            <ac:spMk id="17" creationId="{24607555-F513-28D8-A794-C94063B5A761}"/>
          </ac:spMkLst>
        </pc:spChg>
        <pc:spChg chg="add mod">
          <ac:chgData name="Chaitanya Sri" userId="ce7cd60cb5ff0a80" providerId="LiveId" clId="{A2C663D9-E38C-44B9-9825-3C60C5AE3459}" dt="2026-04-01T05:39:46.941" v="106"/>
          <ac:spMkLst>
            <pc:docMk/>
            <pc:sldMk cId="428487363" sldId="272"/>
            <ac:spMk id="19" creationId="{31BC5F8B-9617-38B8-A0FE-E676EBD4FDFC}"/>
          </ac:spMkLst>
        </pc:spChg>
        <pc:spChg chg="add mod">
          <ac:chgData name="Chaitanya Sri" userId="ce7cd60cb5ff0a80" providerId="LiveId" clId="{A2C663D9-E38C-44B9-9825-3C60C5AE3459}" dt="2026-04-01T05:39:46.941" v="106"/>
          <ac:spMkLst>
            <pc:docMk/>
            <pc:sldMk cId="428487363" sldId="272"/>
            <ac:spMk id="20" creationId="{CBB9C78F-9AB0-D47F-94A9-B7CB9F966E97}"/>
          </ac:spMkLst>
        </pc:spChg>
        <pc:spChg chg="add mod">
          <ac:chgData name="Chaitanya Sri" userId="ce7cd60cb5ff0a80" providerId="LiveId" clId="{A2C663D9-E38C-44B9-9825-3C60C5AE3459}" dt="2026-04-01T05:39:46.941" v="106"/>
          <ac:spMkLst>
            <pc:docMk/>
            <pc:sldMk cId="428487363" sldId="272"/>
            <ac:spMk id="21" creationId="{5087BBAC-DAFA-DAE9-6012-E185EFAB393D}"/>
          </ac:spMkLst>
        </pc:spChg>
        <pc:spChg chg="add mod">
          <ac:chgData name="Chaitanya Sri" userId="ce7cd60cb5ff0a80" providerId="LiveId" clId="{A2C663D9-E38C-44B9-9825-3C60C5AE3459}" dt="2026-04-01T05:39:46.941" v="106"/>
          <ac:spMkLst>
            <pc:docMk/>
            <pc:sldMk cId="428487363" sldId="272"/>
            <ac:spMk id="22" creationId="{ED646716-BEBB-2854-2A21-291C64D36E63}"/>
          </ac:spMkLst>
        </pc:spChg>
        <pc:spChg chg="add mod">
          <ac:chgData name="Chaitanya Sri" userId="ce7cd60cb5ff0a80" providerId="LiveId" clId="{A2C663D9-E38C-44B9-9825-3C60C5AE3459}" dt="2026-04-01T05:39:46.941" v="106"/>
          <ac:spMkLst>
            <pc:docMk/>
            <pc:sldMk cId="428487363" sldId="272"/>
            <ac:spMk id="23" creationId="{38E18EF8-7250-FD31-6EF9-D2401154424E}"/>
          </ac:spMkLst>
        </pc:spChg>
        <pc:spChg chg="add mod">
          <ac:chgData name="Chaitanya Sri" userId="ce7cd60cb5ff0a80" providerId="LiveId" clId="{A2C663D9-E38C-44B9-9825-3C60C5AE3459}" dt="2026-04-01T05:39:46.941" v="106"/>
          <ac:spMkLst>
            <pc:docMk/>
            <pc:sldMk cId="428487363" sldId="272"/>
            <ac:spMk id="24" creationId="{B1B4F0D5-870C-9199-D4F2-C95D954D677A}"/>
          </ac:spMkLst>
        </pc:spChg>
        <pc:spChg chg="add mod">
          <ac:chgData name="Chaitanya Sri" userId="ce7cd60cb5ff0a80" providerId="LiveId" clId="{A2C663D9-E38C-44B9-9825-3C60C5AE3459}" dt="2026-04-01T05:39:46.941" v="106"/>
          <ac:spMkLst>
            <pc:docMk/>
            <pc:sldMk cId="428487363" sldId="272"/>
            <ac:spMk id="26" creationId="{F3AFF0A1-1E29-5943-9124-3D9A8B7FB316}"/>
          </ac:spMkLst>
        </pc:spChg>
        <pc:spChg chg="add mod">
          <ac:chgData name="Chaitanya Sri" userId="ce7cd60cb5ff0a80" providerId="LiveId" clId="{A2C663D9-E38C-44B9-9825-3C60C5AE3459}" dt="2026-04-01T05:39:46.941" v="106"/>
          <ac:spMkLst>
            <pc:docMk/>
            <pc:sldMk cId="428487363" sldId="272"/>
            <ac:spMk id="27" creationId="{479C620D-070B-4C80-0263-597EB31F46EB}"/>
          </ac:spMkLst>
        </pc:spChg>
        <pc:spChg chg="add mod">
          <ac:chgData name="Chaitanya Sri" userId="ce7cd60cb5ff0a80" providerId="LiveId" clId="{A2C663D9-E38C-44B9-9825-3C60C5AE3459}" dt="2026-04-01T05:41:50.739" v="107"/>
          <ac:spMkLst>
            <pc:docMk/>
            <pc:sldMk cId="428487363" sldId="272"/>
            <ac:spMk id="29" creationId="{F7F1845A-5E06-6E8D-5CE2-829C4C4CB57B}"/>
          </ac:spMkLst>
        </pc:spChg>
        <pc:spChg chg="add mod">
          <ac:chgData name="Chaitanya Sri" userId="ce7cd60cb5ff0a80" providerId="LiveId" clId="{A2C663D9-E38C-44B9-9825-3C60C5AE3459}" dt="2026-04-01T05:42:03.419" v="108" actId="20577"/>
          <ac:spMkLst>
            <pc:docMk/>
            <pc:sldMk cId="428487363" sldId="272"/>
            <ac:spMk id="30" creationId="{83DD9CCE-9D93-FB45-BC51-70C501669344}"/>
          </ac:spMkLst>
        </pc:spChg>
        <pc:spChg chg="add mod">
          <ac:chgData name="Chaitanya Sri" userId="ce7cd60cb5ff0a80" providerId="LiveId" clId="{A2C663D9-E38C-44B9-9825-3C60C5AE3459}" dt="2026-04-01T05:41:50.739" v="107"/>
          <ac:spMkLst>
            <pc:docMk/>
            <pc:sldMk cId="428487363" sldId="272"/>
            <ac:spMk id="31" creationId="{A86487AD-CFB8-50D9-5A91-3B0794CBB76B}"/>
          </ac:spMkLst>
        </pc:spChg>
        <pc:spChg chg="add mod">
          <ac:chgData name="Chaitanya Sri" userId="ce7cd60cb5ff0a80" providerId="LiveId" clId="{A2C663D9-E38C-44B9-9825-3C60C5AE3459}" dt="2026-04-01T05:41:50.739" v="107"/>
          <ac:spMkLst>
            <pc:docMk/>
            <pc:sldMk cId="428487363" sldId="272"/>
            <ac:spMk id="32" creationId="{5FC7D600-8743-12C4-B890-A09876F64F34}"/>
          </ac:spMkLst>
        </pc:spChg>
        <pc:spChg chg="add mod">
          <ac:chgData name="Chaitanya Sri" userId="ce7cd60cb5ff0a80" providerId="LiveId" clId="{A2C663D9-E38C-44B9-9825-3C60C5AE3459}" dt="2026-04-01T05:41:50.739" v="107"/>
          <ac:spMkLst>
            <pc:docMk/>
            <pc:sldMk cId="428487363" sldId="272"/>
            <ac:spMk id="33" creationId="{25D3C3F0-7123-2102-9497-8D632C07230D}"/>
          </ac:spMkLst>
        </pc:spChg>
        <pc:spChg chg="add mod">
          <ac:chgData name="Chaitanya Sri" userId="ce7cd60cb5ff0a80" providerId="LiveId" clId="{A2C663D9-E38C-44B9-9825-3C60C5AE3459}" dt="2026-04-01T05:42:15.718" v="111" actId="1076"/>
          <ac:spMkLst>
            <pc:docMk/>
            <pc:sldMk cId="428487363" sldId="272"/>
            <ac:spMk id="34" creationId="{08F6AF95-1080-09D0-C8B7-80A84FA3022A}"/>
          </ac:spMkLst>
        </pc:spChg>
        <pc:spChg chg="add mod">
          <ac:chgData name="Chaitanya Sri" userId="ce7cd60cb5ff0a80" providerId="LiveId" clId="{A2C663D9-E38C-44B9-9825-3C60C5AE3459}" dt="2026-04-01T05:41:50.739" v="107"/>
          <ac:spMkLst>
            <pc:docMk/>
            <pc:sldMk cId="428487363" sldId="272"/>
            <ac:spMk id="35" creationId="{048ECB6C-24BF-0345-A15A-F2F596527A25}"/>
          </ac:spMkLst>
        </pc:spChg>
        <pc:spChg chg="add mod">
          <ac:chgData name="Chaitanya Sri" userId="ce7cd60cb5ff0a80" providerId="LiveId" clId="{A2C663D9-E38C-44B9-9825-3C60C5AE3459}" dt="2026-04-01T05:41:50.739" v="107"/>
          <ac:spMkLst>
            <pc:docMk/>
            <pc:sldMk cId="428487363" sldId="272"/>
            <ac:spMk id="36" creationId="{8F9272E9-0AB7-9BD6-E2CF-E118D4203F6F}"/>
          </ac:spMkLst>
        </pc:spChg>
        <pc:spChg chg="add mod">
          <ac:chgData name="Chaitanya Sri" userId="ce7cd60cb5ff0a80" providerId="LiveId" clId="{A2C663D9-E38C-44B9-9825-3C60C5AE3459}" dt="2026-04-01T05:41:50.739" v="107"/>
          <ac:spMkLst>
            <pc:docMk/>
            <pc:sldMk cId="428487363" sldId="272"/>
            <ac:spMk id="38" creationId="{D42989E5-CEAA-0EF9-6F2B-0B3E43CD37FF}"/>
          </ac:spMkLst>
        </pc:spChg>
        <pc:spChg chg="add mod">
          <ac:chgData name="Chaitanya Sri" userId="ce7cd60cb5ff0a80" providerId="LiveId" clId="{A2C663D9-E38C-44B9-9825-3C60C5AE3459}" dt="2026-04-01T05:41:50.739" v="107"/>
          <ac:spMkLst>
            <pc:docMk/>
            <pc:sldMk cId="428487363" sldId="272"/>
            <ac:spMk id="39" creationId="{098BF903-F2C2-3A93-0366-04231F40B2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624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hyperlink" Target="http://ijcrt.org/viewfull.php?&amp;p_id=IJCRT2603506"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4" name="Shape 2"/>
          <p:cNvSpPr/>
          <p:nvPr/>
        </p:nvSpPr>
        <p:spPr>
          <a:xfrm>
            <a:off x="0" y="4389120"/>
            <a:ext cx="9144000" cy="754380"/>
          </a:xfrm>
          <a:prstGeom prst="rect">
            <a:avLst/>
          </a:prstGeom>
          <a:solidFill>
            <a:srgbClr val="1565C0">
              <a:alpha val="70000"/>
            </a:srgbClr>
          </a:solidFill>
          <a:ln/>
        </p:spPr>
      </p:sp>
      <p:sp>
        <p:nvSpPr>
          <p:cNvPr id="5" name="Shape 3"/>
          <p:cNvSpPr/>
          <p:nvPr/>
        </p:nvSpPr>
        <p:spPr>
          <a:xfrm>
            <a:off x="0" y="4343400"/>
            <a:ext cx="2743200" cy="73152"/>
          </a:xfrm>
          <a:prstGeom prst="rect">
            <a:avLst/>
          </a:prstGeom>
          <a:solidFill>
            <a:srgbClr val="F9A825"/>
          </a:solidFill>
          <a:ln/>
        </p:spPr>
      </p:sp>
      <p:sp>
        <p:nvSpPr>
          <p:cNvPr id="7" name="Text 5"/>
          <p:cNvSpPr/>
          <p:nvPr/>
        </p:nvSpPr>
        <p:spPr>
          <a:xfrm>
            <a:off x="365760" y="411480"/>
            <a:ext cx="2651760" cy="347472"/>
          </a:xfrm>
          <a:prstGeom prst="rect">
            <a:avLst/>
          </a:prstGeom>
          <a:noFill/>
          <a:ln/>
        </p:spPr>
        <p:txBody>
          <a:bodyPr wrap="square" lIns="0" tIns="0" rIns="0" bIns="0" rtlCol="0" anchor="ctr"/>
          <a:lstStyle/>
          <a:p>
            <a:pPr marL="0" indent="0" algn="ctr">
              <a:buNone/>
            </a:pPr>
            <a:endParaRPr lang="en-US" sz="750" dirty="0"/>
          </a:p>
        </p:txBody>
      </p:sp>
      <p:sp>
        <p:nvSpPr>
          <p:cNvPr id="8" name="Text 6"/>
          <p:cNvSpPr/>
          <p:nvPr/>
        </p:nvSpPr>
        <p:spPr>
          <a:xfrm>
            <a:off x="602953" y="338328"/>
            <a:ext cx="7772400" cy="777240"/>
          </a:xfrm>
          <a:prstGeom prst="rect">
            <a:avLst/>
          </a:prstGeom>
          <a:noFill/>
          <a:ln/>
        </p:spPr>
        <p:txBody>
          <a:bodyPr wrap="square" lIns="0" tIns="0" rIns="0" bIns="0" rtlCol="0" anchor="ctr"/>
          <a:lstStyle/>
          <a:p>
            <a:r>
              <a:rPr lang="en-US" sz="4000" b="1" dirty="0">
                <a:solidFill>
                  <a:srgbClr val="FFFFFF"/>
                </a:solidFill>
                <a:latin typeface="Calibri" pitchFamily="34" charset="0"/>
                <a:ea typeface="Calibri" pitchFamily="34" charset="-122"/>
                <a:cs typeface="Calibri" pitchFamily="34" charset="-120"/>
              </a:rPr>
              <a:t>AI-Driven Loan Eligibility </a:t>
            </a:r>
            <a:r>
              <a:rPr lang="en-US" sz="4000" b="1" dirty="0">
                <a:solidFill>
                  <a:schemeClr val="bg1"/>
                </a:solidFill>
                <a:latin typeface="Calibri" pitchFamily="34" charset="0"/>
                <a:ea typeface="Calibri" pitchFamily="34" charset="-122"/>
                <a:cs typeface="Calibri" pitchFamily="34" charset="-120"/>
              </a:rPr>
              <a:t>Prediction</a:t>
            </a:r>
            <a:endParaRPr lang="en-US" sz="4000" dirty="0"/>
          </a:p>
        </p:txBody>
      </p:sp>
      <p:sp>
        <p:nvSpPr>
          <p:cNvPr id="9" name="Text 7"/>
          <p:cNvSpPr/>
          <p:nvPr/>
        </p:nvSpPr>
        <p:spPr>
          <a:xfrm>
            <a:off x="2182074" y="1452816"/>
            <a:ext cx="5250659" cy="685800"/>
          </a:xfrm>
          <a:prstGeom prst="rect">
            <a:avLst/>
          </a:prstGeom>
          <a:noFill/>
          <a:ln/>
        </p:spPr>
        <p:txBody>
          <a:bodyPr wrap="square" lIns="0" tIns="0" rIns="0" bIns="0" rtlCol="0" anchor="ctr"/>
          <a:lstStyle/>
          <a:p>
            <a:pPr marL="0" indent="0">
              <a:buNone/>
            </a:pPr>
            <a:r>
              <a:rPr lang="en-US" sz="3600" b="1" dirty="0">
                <a:solidFill>
                  <a:schemeClr val="bg1"/>
                </a:solidFill>
                <a:latin typeface="Calibri" pitchFamily="34" charset="0"/>
                <a:ea typeface="Calibri" pitchFamily="34" charset="-122"/>
                <a:cs typeface="Calibri" pitchFamily="34" charset="-120"/>
              </a:rPr>
              <a:t>Document Verification</a:t>
            </a:r>
            <a:endParaRPr lang="en-US" sz="3600" b="1" dirty="0">
              <a:solidFill>
                <a:schemeClr val="bg1"/>
              </a:solidFill>
            </a:endParaRPr>
          </a:p>
        </p:txBody>
      </p:sp>
      <p:sp>
        <p:nvSpPr>
          <p:cNvPr id="11" name="Text 8"/>
          <p:cNvSpPr/>
          <p:nvPr/>
        </p:nvSpPr>
        <p:spPr>
          <a:xfrm>
            <a:off x="1202167" y="1906255"/>
            <a:ext cx="6858000" cy="438912"/>
          </a:xfrm>
          <a:prstGeom prst="rect">
            <a:avLst/>
          </a:prstGeom>
          <a:noFill/>
          <a:ln/>
        </p:spPr>
        <p:txBody>
          <a:bodyPr wrap="square" lIns="0" tIns="0" rIns="0" bIns="0" rtlCol="0" anchor="ctr"/>
          <a:lstStyle/>
          <a:p>
            <a:pPr marL="0" indent="0">
              <a:buNone/>
            </a:pPr>
            <a:endParaRPr lang="en-US" sz="1300" dirty="0"/>
          </a:p>
        </p:txBody>
      </p:sp>
      <p:sp>
        <p:nvSpPr>
          <p:cNvPr id="12" name="Text 9"/>
          <p:cNvSpPr/>
          <p:nvPr/>
        </p:nvSpPr>
        <p:spPr>
          <a:xfrm>
            <a:off x="601321" y="2798334"/>
            <a:ext cx="4029846" cy="1159750"/>
          </a:xfrm>
          <a:prstGeom prst="rect">
            <a:avLst/>
          </a:prstGeom>
          <a:noFill/>
          <a:ln/>
        </p:spPr>
        <p:txBody>
          <a:bodyPr wrap="square" lIns="0" tIns="0" rIns="0" bIns="0" rtlCol="0" anchor="ctr"/>
          <a:lstStyle/>
          <a:p>
            <a:r>
              <a:rPr lang="en-US" sz="1600" dirty="0">
                <a:solidFill>
                  <a:srgbClr val="AACCFF"/>
                </a:solidFill>
                <a:latin typeface="Calibri" pitchFamily="34" charset="0"/>
                <a:ea typeface="Calibri" pitchFamily="34" charset="-122"/>
                <a:cs typeface="Calibri" pitchFamily="34" charset="-120"/>
              </a:rPr>
              <a:t>·  Batta Chaitanya Sri  (Y22ACM408)</a:t>
            </a:r>
          </a:p>
          <a:p>
            <a:r>
              <a:rPr lang="en-US" sz="1600" dirty="0">
                <a:solidFill>
                  <a:srgbClr val="AACCFF"/>
                </a:solidFill>
                <a:latin typeface="Calibri" pitchFamily="34" charset="0"/>
                <a:ea typeface="Calibri" pitchFamily="34" charset="-122"/>
                <a:cs typeface="Calibri" pitchFamily="34" charset="-120"/>
              </a:rPr>
              <a:t>·  Dontiboina Naga Lakshmi (Y22ACM427) </a:t>
            </a:r>
          </a:p>
          <a:p>
            <a:r>
              <a:rPr lang="en-US" sz="1600" dirty="0">
                <a:solidFill>
                  <a:srgbClr val="AACCFF"/>
                </a:solidFill>
                <a:latin typeface="Calibri" pitchFamily="34" charset="0"/>
                <a:ea typeface="Calibri" pitchFamily="34" charset="-122"/>
                <a:cs typeface="Calibri" pitchFamily="34" charset="-120"/>
              </a:rPr>
              <a:t>·  Bellam Ravindra (Y22ACM410)</a:t>
            </a:r>
            <a:endParaRPr lang="en-US" sz="1600" dirty="0"/>
          </a:p>
          <a:p>
            <a:r>
              <a:rPr lang="en-US" sz="1600" dirty="0">
                <a:solidFill>
                  <a:srgbClr val="AACCFF"/>
                </a:solidFill>
                <a:latin typeface="Calibri" pitchFamily="34" charset="0"/>
                <a:ea typeface="Calibri" pitchFamily="34" charset="-122"/>
                <a:cs typeface="Calibri" pitchFamily="34" charset="-120"/>
              </a:rPr>
              <a:t>·  </a:t>
            </a:r>
            <a:r>
              <a:rPr lang="en-US" sz="1600" dirty="0" err="1">
                <a:solidFill>
                  <a:srgbClr val="AACCFF"/>
                </a:solidFill>
                <a:latin typeface="Calibri" pitchFamily="34" charset="0"/>
                <a:ea typeface="Calibri" pitchFamily="34" charset="-122"/>
                <a:cs typeface="Calibri" pitchFamily="34" charset="-120"/>
              </a:rPr>
              <a:t>Kalagotla</a:t>
            </a:r>
            <a:r>
              <a:rPr lang="en-US" sz="1600" dirty="0">
                <a:solidFill>
                  <a:srgbClr val="AACCFF"/>
                </a:solidFill>
                <a:latin typeface="Calibri" pitchFamily="34" charset="0"/>
                <a:ea typeface="Calibri" pitchFamily="34" charset="-122"/>
                <a:cs typeface="Calibri" pitchFamily="34" charset="-120"/>
              </a:rPr>
              <a:t> </a:t>
            </a:r>
            <a:r>
              <a:rPr lang="en-US" sz="1600" dirty="0" err="1">
                <a:solidFill>
                  <a:srgbClr val="AACCFF"/>
                </a:solidFill>
                <a:latin typeface="Calibri" pitchFamily="34" charset="0"/>
                <a:ea typeface="Calibri" pitchFamily="34" charset="-122"/>
                <a:cs typeface="Calibri" pitchFamily="34" charset="-120"/>
              </a:rPr>
              <a:t>Peeraiah</a:t>
            </a:r>
            <a:r>
              <a:rPr lang="en-US" sz="1600" dirty="0">
                <a:solidFill>
                  <a:srgbClr val="AACCFF"/>
                </a:solidFill>
                <a:latin typeface="Calibri" pitchFamily="34" charset="0"/>
                <a:ea typeface="Calibri" pitchFamily="34" charset="-122"/>
                <a:cs typeface="Calibri" pitchFamily="34" charset="-120"/>
              </a:rPr>
              <a:t> (Y22ACM436)</a:t>
            </a:r>
            <a:endParaRPr lang="en-US" sz="1600" dirty="0"/>
          </a:p>
        </p:txBody>
      </p:sp>
      <p:sp>
        <p:nvSpPr>
          <p:cNvPr id="13" name="Text 10"/>
          <p:cNvSpPr/>
          <p:nvPr/>
        </p:nvSpPr>
        <p:spPr>
          <a:xfrm>
            <a:off x="365760" y="4407408"/>
            <a:ext cx="8412480" cy="320040"/>
          </a:xfrm>
          <a:prstGeom prst="rect">
            <a:avLst/>
          </a:prstGeom>
          <a:noFill/>
          <a:ln/>
        </p:spPr>
        <p:txBody>
          <a:bodyPr wrap="square" lIns="0" tIns="0" rIns="0" bIns="0" rtlCol="0" anchor="ctr"/>
          <a:lstStyle/>
          <a:p>
            <a:pPr marL="0" indent="0">
              <a:buNone/>
            </a:pPr>
            <a:endParaRPr lang="en-US" sz="1000" dirty="0"/>
          </a:p>
        </p:txBody>
      </p:sp>
      <p:sp>
        <p:nvSpPr>
          <p:cNvPr id="15" name="TextBox 14">
            <a:extLst>
              <a:ext uri="{FF2B5EF4-FFF2-40B4-BE49-F238E27FC236}">
                <a16:creationId xmlns:a16="http://schemas.microsoft.com/office/drawing/2014/main" id="{42ECF4B0-58CF-0F36-FD99-BB9EA1E5F6F5}"/>
              </a:ext>
            </a:extLst>
          </p:cNvPr>
          <p:cNvSpPr txBox="1"/>
          <p:nvPr/>
        </p:nvSpPr>
        <p:spPr>
          <a:xfrm>
            <a:off x="4489153" y="3307535"/>
            <a:ext cx="5348566" cy="369332"/>
          </a:xfrm>
          <a:prstGeom prst="rect">
            <a:avLst/>
          </a:prstGeom>
          <a:noFill/>
        </p:spPr>
        <p:txBody>
          <a:bodyPr wrap="square">
            <a:spAutoFit/>
          </a:bodyPr>
          <a:lstStyle/>
          <a:p>
            <a:r>
              <a:rPr lang="en-US" sz="1800" dirty="0">
                <a:solidFill>
                  <a:srgbClr val="AACCFF"/>
                </a:solidFill>
                <a:latin typeface="Calibri" pitchFamily="34" charset="0"/>
                <a:ea typeface="Calibri" pitchFamily="34" charset="-122"/>
                <a:cs typeface="Calibri" pitchFamily="34" charset="-120"/>
              </a:rPr>
              <a:t>Guide: Ms. Dwija </a:t>
            </a:r>
            <a:r>
              <a:rPr lang="en-US" sz="1800" dirty="0" err="1">
                <a:solidFill>
                  <a:srgbClr val="AACCFF"/>
                </a:solidFill>
                <a:latin typeface="Calibri" pitchFamily="34" charset="0"/>
                <a:ea typeface="Calibri" pitchFamily="34" charset="-122"/>
                <a:cs typeface="Calibri" pitchFamily="34" charset="-120"/>
              </a:rPr>
              <a:t>Desireddy</a:t>
            </a:r>
            <a:r>
              <a:rPr lang="en-US" sz="1800" dirty="0">
                <a:solidFill>
                  <a:srgbClr val="AACCFF"/>
                </a:solidFill>
                <a:latin typeface="Calibri" pitchFamily="34" charset="0"/>
                <a:ea typeface="Calibri" pitchFamily="34" charset="-122"/>
                <a:cs typeface="Calibri" pitchFamily="34" charset="-120"/>
              </a:rPr>
              <a:t> (Asst. Professor)</a:t>
            </a:r>
            <a:endParaRPr lang="en-IN" dirty="0"/>
          </a:p>
        </p:txBody>
      </p:sp>
      <p:sp>
        <p:nvSpPr>
          <p:cNvPr id="17" name="TextBox 16">
            <a:extLst>
              <a:ext uri="{FF2B5EF4-FFF2-40B4-BE49-F238E27FC236}">
                <a16:creationId xmlns:a16="http://schemas.microsoft.com/office/drawing/2014/main" id="{11E0A578-D332-7EF8-5C6D-8129F40E9D61}"/>
              </a:ext>
            </a:extLst>
          </p:cNvPr>
          <p:cNvSpPr txBox="1"/>
          <p:nvPr/>
        </p:nvSpPr>
        <p:spPr>
          <a:xfrm>
            <a:off x="3673327" y="944630"/>
            <a:ext cx="647213" cy="707886"/>
          </a:xfrm>
          <a:prstGeom prst="rect">
            <a:avLst/>
          </a:prstGeom>
          <a:noFill/>
        </p:spPr>
        <p:txBody>
          <a:bodyPr wrap="square">
            <a:spAutoFit/>
          </a:bodyPr>
          <a:lstStyle/>
          <a:p>
            <a:pPr marL="0" indent="0">
              <a:buNone/>
            </a:pPr>
            <a:r>
              <a:rPr lang="en-US" sz="1800" b="1" dirty="0">
                <a:solidFill>
                  <a:schemeClr val="bg1"/>
                </a:solidFill>
                <a:latin typeface="Calibri" pitchFamily="34" charset="0"/>
                <a:ea typeface="Calibri" pitchFamily="34" charset="-122"/>
                <a:cs typeface="Calibri" pitchFamily="34" charset="-120"/>
              </a:rPr>
              <a:t>  </a:t>
            </a:r>
            <a:r>
              <a:rPr lang="en-US" sz="4000" b="1" dirty="0">
                <a:solidFill>
                  <a:schemeClr val="bg1"/>
                </a:solidFill>
                <a:latin typeface="Calibri" pitchFamily="34" charset="0"/>
                <a:ea typeface="Calibri" pitchFamily="34" charset="-122"/>
                <a:cs typeface="Calibri" pitchFamily="34" charset="-120"/>
              </a:rPr>
              <a:t>&amp;</a:t>
            </a:r>
            <a:endParaRPr lang="en-US" sz="4000" b="1" dirty="0">
              <a:solidFill>
                <a:schemeClr val="bg1"/>
              </a:solidFill>
            </a:endParaRPr>
          </a:p>
        </p:txBody>
      </p:sp>
      <p:sp>
        <p:nvSpPr>
          <p:cNvPr id="21" name="TextBox 20">
            <a:extLst>
              <a:ext uri="{FF2B5EF4-FFF2-40B4-BE49-F238E27FC236}">
                <a16:creationId xmlns:a16="http://schemas.microsoft.com/office/drawing/2014/main" id="{9525BECD-F91E-C180-75F7-A677CE267BC3}"/>
              </a:ext>
            </a:extLst>
          </p:cNvPr>
          <p:cNvSpPr txBox="1"/>
          <p:nvPr/>
        </p:nvSpPr>
        <p:spPr>
          <a:xfrm>
            <a:off x="619976" y="2406871"/>
            <a:ext cx="2143327" cy="369332"/>
          </a:xfrm>
          <a:prstGeom prst="rect">
            <a:avLst/>
          </a:prstGeom>
          <a:noFill/>
        </p:spPr>
        <p:txBody>
          <a:bodyPr wrap="square">
            <a:spAutoFit/>
          </a:bodyPr>
          <a:lstStyle/>
          <a:p>
            <a:r>
              <a:rPr lang="en-US" dirty="0">
                <a:solidFill>
                  <a:srgbClr val="AACCFF"/>
                </a:solidFill>
                <a:latin typeface="Calibri" pitchFamily="34" charset="0"/>
                <a:ea typeface="Calibri" pitchFamily="34" charset="-122"/>
                <a:cs typeface="Calibri" pitchFamily="34" charset="-120"/>
              </a:rPr>
              <a:t>Team Members</a:t>
            </a:r>
            <a:r>
              <a:rPr lang="en-US" sz="1800" dirty="0">
                <a:solidFill>
                  <a:srgbClr val="AACCFF"/>
                </a:solidFill>
                <a:latin typeface="Calibri" pitchFamily="34" charset="0"/>
                <a:ea typeface="Calibri" pitchFamily="34" charset="-122"/>
                <a:cs typeface="Calibri" pitchFamily="34" charset="-120"/>
              </a:rPr>
              <a:t>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6B1D6BD1-D133-6CD7-24B1-14C2202ED392}"/>
              </a:ext>
            </a:extLst>
          </p:cNvPr>
          <p:cNvSpPr/>
          <p:nvPr/>
        </p:nvSpPr>
        <p:spPr>
          <a:xfrm>
            <a:off x="0" y="0"/>
            <a:ext cx="9144000" cy="868680"/>
          </a:xfrm>
          <a:prstGeom prst="rect">
            <a:avLst/>
          </a:prstGeom>
          <a:solidFill>
            <a:srgbClr val="0A1628"/>
          </a:solidFill>
          <a:ln w="12700">
            <a:solidFill>
              <a:srgbClr val="0A1628"/>
            </a:solidFill>
            <a:prstDash val="solid"/>
          </a:ln>
        </p:spPr>
      </p:sp>
      <p:sp>
        <p:nvSpPr>
          <p:cNvPr id="22" name="Text 1">
            <a:extLst>
              <a:ext uri="{FF2B5EF4-FFF2-40B4-BE49-F238E27FC236}">
                <a16:creationId xmlns:a16="http://schemas.microsoft.com/office/drawing/2014/main" id="{FF6BB4DE-016B-E0F1-27C9-FADC01CD57CE}"/>
              </a:ext>
            </a:extLst>
          </p:cNvPr>
          <p:cNvSpPr/>
          <p:nvPr/>
        </p:nvSpPr>
        <p:spPr>
          <a:xfrm>
            <a:off x="365760" y="0"/>
            <a:ext cx="7772400" cy="8686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Abstract</a:t>
            </a:r>
            <a:endParaRPr lang="en-US" sz="2600" dirty="0"/>
          </a:p>
        </p:txBody>
      </p:sp>
      <p:sp>
        <p:nvSpPr>
          <p:cNvPr id="24" name="Shape 3">
            <a:extLst>
              <a:ext uri="{FF2B5EF4-FFF2-40B4-BE49-F238E27FC236}">
                <a16:creationId xmlns:a16="http://schemas.microsoft.com/office/drawing/2014/main" id="{25E6FF01-9257-C3D3-467E-4772A25F96DA}"/>
              </a:ext>
            </a:extLst>
          </p:cNvPr>
          <p:cNvSpPr/>
          <p:nvPr/>
        </p:nvSpPr>
        <p:spPr>
          <a:xfrm>
            <a:off x="365760" y="1024128"/>
            <a:ext cx="64008" cy="3310128"/>
          </a:xfrm>
          <a:prstGeom prst="rect">
            <a:avLst/>
          </a:prstGeom>
          <a:solidFill>
            <a:srgbClr val="028090"/>
          </a:solidFill>
          <a:ln w="12700">
            <a:solidFill>
              <a:srgbClr val="028090"/>
            </a:solidFill>
            <a:prstDash val="solid"/>
          </a:ln>
        </p:spPr>
      </p:sp>
      <p:sp>
        <p:nvSpPr>
          <p:cNvPr id="25" name="Text 4">
            <a:extLst>
              <a:ext uri="{FF2B5EF4-FFF2-40B4-BE49-F238E27FC236}">
                <a16:creationId xmlns:a16="http://schemas.microsoft.com/office/drawing/2014/main" id="{1D8ACAC1-4CDC-0846-0507-D86D764AA04A}"/>
              </a:ext>
            </a:extLst>
          </p:cNvPr>
          <p:cNvSpPr/>
          <p:nvPr/>
        </p:nvSpPr>
        <p:spPr>
          <a:xfrm>
            <a:off x="594360" y="1188720"/>
            <a:ext cx="8046720" cy="2377440"/>
          </a:xfrm>
          <a:prstGeom prst="rect">
            <a:avLst/>
          </a:prstGeom>
          <a:noFill/>
          <a:ln/>
        </p:spPr>
        <p:txBody>
          <a:bodyPr wrap="square" rtlCol="0" anchor="ctr"/>
          <a:lstStyle/>
          <a:p>
            <a:pPr marL="0" indent="0" algn="just">
              <a:buNone/>
            </a:pPr>
            <a:endParaRPr lang="en-US" sz="1500" dirty="0"/>
          </a:p>
        </p:txBody>
      </p:sp>
      <p:sp>
        <p:nvSpPr>
          <p:cNvPr id="27" name="TextBox 26">
            <a:extLst>
              <a:ext uri="{FF2B5EF4-FFF2-40B4-BE49-F238E27FC236}">
                <a16:creationId xmlns:a16="http://schemas.microsoft.com/office/drawing/2014/main" id="{1D92AE3C-C979-5C0E-780A-A2813506ACA0}"/>
              </a:ext>
            </a:extLst>
          </p:cNvPr>
          <p:cNvSpPr txBox="1"/>
          <p:nvPr/>
        </p:nvSpPr>
        <p:spPr>
          <a:xfrm>
            <a:off x="502920" y="1386530"/>
            <a:ext cx="8410857" cy="2585323"/>
          </a:xfrm>
          <a:prstGeom prst="rect">
            <a:avLst/>
          </a:prstGeom>
          <a:noFill/>
        </p:spPr>
        <p:txBody>
          <a:bodyPr wrap="square">
            <a:spAutoFit/>
          </a:bodyPr>
          <a:lstStyle/>
          <a:p>
            <a:r>
              <a:rPr lang="en-US" dirty="0"/>
              <a:t>Bank loan processing involves verifying applicants’ financial details, which is traditionally done manually, making it time-consuming and error-prone. This paper proposes a hybrid system that integrates document verification with AI-based loan assessment to improve speed, transparency, and efficiency. Applicants submit their financial data along with documents such as identity proof, salary slips, and credit reports. The system automatically extracts and compares this information using </a:t>
            </a:r>
            <a:r>
              <a:rPr lang="en-US" dirty="0" err="1"/>
              <a:t>LlamaIndex</a:t>
            </a:r>
            <a:r>
              <a:rPr lang="en-US" dirty="0"/>
              <a:t>, flagging any mismatches. After verification, a </a:t>
            </a:r>
            <a:r>
              <a:rPr lang="en-US" dirty="0" err="1"/>
              <a:t>LoRA</a:t>
            </a:r>
            <a:r>
              <a:rPr lang="en-US" dirty="0"/>
              <a:t> fine-tuned Qwen model predicts whether the loan should be approved or rejected based on the applicant’s financial profile, while also providing a brief explanation to make the decision clear and understandable.</a:t>
            </a:r>
            <a:endParaRPr lang="en-IN" dirty="0"/>
          </a:p>
        </p:txBody>
      </p:sp>
    </p:spTree>
    <p:extLst>
      <p:ext uri="{BB962C8B-B14F-4D97-AF65-F5344CB8AC3E}">
        <p14:creationId xmlns:p14="http://schemas.microsoft.com/office/powerpoint/2010/main" val="2199995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Existing System — Literature Survey</a:t>
            </a:r>
            <a:endParaRPr lang="en-US" sz="2200" dirty="0"/>
          </a:p>
        </p:txBody>
      </p:sp>
      <p:sp>
        <p:nvSpPr>
          <p:cNvPr id="5" name="Text 3"/>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3 / 15</a:t>
            </a:r>
            <a:endParaRPr lang="en-US" sz="900" dirty="0"/>
          </a:p>
        </p:txBody>
      </p:sp>
      <p:sp>
        <p:nvSpPr>
          <p:cNvPr id="6" name="Shape 4"/>
          <p:cNvSpPr/>
          <p:nvPr/>
        </p:nvSpPr>
        <p:spPr>
          <a:xfrm>
            <a:off x="274320" y="1005840"/>
            <a:ext cx="4206240" cy="17830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7" name="Shape 5"/>
          <p:cNvSpPr/>
          <p:nvPr/>
        </p:nvSpPr>
        <p:spPr>
          <a:xfrm>
            <a:off x="274320" y="1005840"/>
            <a:ext cx="73152" cy="1783080"/>
          </a:xfrm>
          <a:prstGeom prst="rect">
            <a:avLst/>
          </a:prstGeom>
          <a:solidFill>
            <a:srgbClr val="1565C0"/>
          </a:solidFill>
          <a:ln/>
        </p:spPr>
      </p:sp>
      <p:sp>
        <p:nvSpPr>
          <p:cNvPr id="8" name="Text 6"/>
          <p:cNvSpPr/>
          <p:nvPr/>
        </p:nvSpPr>
        <p:spPr>
          <a:xfrm>
            <a:off x="475488" y="1097280"/>
            <a:ext cx="3840480" cy="237744"/>
          </a:xfrm>
          <a:prstGeom prst="rect">
            <a:avLst/>
          </a:prstGeom>
          <a:noFill/>
          <a:ln/>
        </p:spPr>
        <p:txBody>
          <a:bodyPr wrap="square" lIns="0" tIns="0" rIns="0" bIns="0"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[1] Bansal et al., 2020</a:t>
            </a:r>
            <a:endParaRPr lang="en-US" sz="900" dirty="0"/>
          </a:p>
        </p:txBody>
      </p:sp>
      <p:sp>
        <p:nvSpPr>
          <p:cNvPr id="9" name="Text 7"/>
          <p:cNvSpPr/>
          <p:nvPr/>
        </p:nvSpPr>
        <p:spPr>
          <a:xfrm>
            <a:off x="475488" y="1325880"/>
            <a:ext cx="3840480" cy="274320"/>
          </a:xfrm>
          <a:prstGeom prst="rect">
            <a:avLst/>
          </a:prstGeom>
          <a:noFill/>
          <a:ln/>
        </p:spPr>
        <p:txBody>
          <a:bodyPr wrap="square" lIns="0" tIns="0" rIns="0" bIns="0" rtlCol="0" anchor="ctr"/>
          <a:lstStyle/>
          <a:p>
            <a:pPr marL="0" indent="0">
              <a:buNone/>
            </a:pPr>
            <a:r>
              <a:rPr lang="en-US" sz="1200" b="1" dirty="0">
                <a:solidFill>
                  <a:srgbClr val="0D1B3E"/>
                </a:solidFill>
                <a:latin typeface="Calibri" pitchFamily="34" charset="0"/>
                <a:ea typeface="Calibri" pitchFamily="34" charset="-122"/>
                <a:cs typeface="Calibri" pitchFamily="34" charset="-120"/>
              </a:rPr>
              <a:t>ML-Based Loan Prediction</a:t>
            </a:r>
            <a:endParaRPr lang="en-US" sz="1200" dirty="0"/>
          </a:p>
        </p:txBody>
      </p:sp>
      <p:sp>
        <p:nvSpPr>
          <p:cNvPr id="10" name="Text 8"/>
          <p:cNvSpPr/>
          <p:nvPr/>
        </p:nvSpPr>
        <p:spPr>
          <a:xfrm>
            <a:off x="475488" y="1600200"/>
            <a:ext cx="3794760" cy="10972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Used Logistic Regression, Decision Tree &amp; Random Forest on structured applicant data. Reduced manual effort but relied entirely on structured inputs — no document processing.</a:t>
            </a:r>
            <a:endParaRPr lang="en-US" sz="950" dirty="0"/>
          </a:p>
        </p:txBody>
      </p:sp>
      <p:sp>
        <p:nvSpPr>
          <p:cNvPr id="11" name="Shape 9"/>
          <p:cNvSpPr/>
          <p:nvPr/>
        </p:nvSpPr>
        <p:spPr>
          <a:xfrm>
            <a:off x="4709160" y="1005840"/>
            <a:ext cx="4206240" cy="17830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2" name="Shape 10"/>
          <p:cNvSpPr/>
          <p:nvPr/>
        </p:nvSpPr>
        <p:spPr>
          <a:xfrm>
            <a:off x="4709160" y="1005840"/>
            <a:ext cx="73152" cy="1783080"/>
          </a:xfrm>
          <a:prstGeom prst="rect">
            <a:avLst/>
          </a:prstGeom>
          <a:solidFill>
            <a:srgbClr val="1565C0"/>
          </a:solidFill>
          <a:ln/>
        </p:spPr>
      </p:sp>
      <p:sp>
        <p:nvSpPr>
          <p:cNvPr id="13" name="Text 11"/>
          <p:cNvSpPr/>
          <p:nvPr/>
        </p:nvSpPr>
        <p:spPr>
          <a:xfrm>
            <a:off x="4910328" y="1097280"/>
            <a:ext cx="3840480" cy="237744"/>
          </a:xfrm>
          <a:prstGeom prst="rect">
            <a:avLst/>
          </a:prstGeom>
          <a:noFill/>
          <a:ln/>
        </p:spPr>
        <p:txBody>
          <a:bodyPr wrap="square" lIns="0" tIns="0" rIns="0" bIns="0"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[2] Naik, 2021</a:t>
            </a:r>
            <a:endParaRPr lang="en-US" sz="900" dirty="0"/>
          </a:p>
        </p:txBody>
      </p:sp>
      <p:sp>
        <p:nvSpPr>
          <p:cNvPr id="14" name="Text 12"/>
          <p:cNvSpPr/>
          <p:nvPr/>
        </p:nvSpPr>
        <p:spPr>
          <a:xfrm>
            <a:off x="4910328" y="1325880"/>
            <a:ext cx="3840480" cy="274320"/>
          </a:xfrm>
          <a:prstGeom prst="rect">
            <a:avLst/>
          </a:prstGeom>
          <a:noFill/>
          <a:ln/>
        </p:spPr>
        <p:txBody>
          <a:bodyPr wrap="square" lIns="0" tIns="0" rIns="0" bIns="0" rtlCol="0" anchor="ctr"/>
          <a:lstStyle/>
          <a:p>
            <a:pPr marL="0" indent="0">
              <a:buNone/>
            </a:pPr>
            <a:r>
              <a:rPr lang="en-US" sz="1200" b="1" dirty="0">
                <a:solidFill>
                  <a:srgbClr val="0D1B3E"/>
                </a:solidFill>
                <a:latin typeface="Calibri" pitchFamily="34" charset="0"/>
                <a:ea typeface="Calibri" pitchFamily="34" charset="-122"/>
                <a:cs typeface="Calibri" pitchFamily="34" charset="-120"/>
              </a:rPr>
              <a:t>Credit Risk Framework (LightGBM)</a:t>
            </a:r>
            <a:endParaRPr lang="en-US" sz="1200" dirty="0"/>
          </a:p>
        </p:txBody>
      </p:sp>
      <p:sp>
        <p:nvSpPr>
          <p:cNvPr id="15" name="Text 13"/>
          <p:cNvSpPr/>
          <p:nvPr/>
        </p:nvSpPr>
        <p:spPr>
          <a:xfrm>
            <a:off x="4910328" y="1600200"/>
            <a:ext cx="3794760" cy="10972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LightGBM-based credit default prediction using past borrower data. High prediction efficiency but only structured financial attributes — no document verification coverage.</a:t>
            </a:r>
            <a:endParaRPr lang="en-US" sz="950" dirty="0"/>
          </a:p>
        </p:txBody>
      </p:sp>
      <p:sp>
        <p:nvSpPr>
          <p:cNvPr id="16" name="Shape 14"/>
          <p:cNvSpPr/>
          <p:nvPr/>
        </p:nvSpPr>
        <p:spPr>
          <a:xfrm>
            <a:off x="274320" y="2926080"/>
            <a:ext cx="4206240" cy="17830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7" name="Shape 15"/>
          <p:cNvSpPr/>
          <p:nvPr/>
        </p:nvSpPr>
        <p:spPr>
          <a:xfrm>
            <a:off x="274320" y="2926080"/>
            <a:ext cx="73152" cy="1783080"/>
          </a:xfrm>
          <a:prstGeom prst="rect">
            <a:avLst/>
          </a:prstGeom>
          <a:solidFill>
            <a:srgbClr val="1565C0"/>
          </a:solidFill>
          <a:ln/>
        </p:spPr>
      </p:sp>
      <p:sp>
        <p:nvSpPr>
          <p:cNvPr id="18" name="Text 16"/>
          <p:cNvSpPr/>
          <p:nvPr/>
        </p:nvSpPr>
        <p:spPr>
          <a:xfrm>
            <a:off x="475488" y="3017520"/>
            <a:ext cx="3840480" cy="237744"/>
          </a:xfrm>
          <a:prstGeom prst="rect">
            <a:avLst/>
          </a:prstGeom>
          <a:noFill/>
          <a:ln/>
        </p:spPr>
        <p:txBody>
          <a:bodyPr wrap="square" lIns="0" tIns="0" rIns="0" bIns="0"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[3] Liu et al., 2022</a:t>
            </a:r>
            <a:endParaRPr lang="en-US" sz="900" dirty="0"/>
          </a:p>
        </p:txBody>
      </p:sp>
      <p:sp>
        <p:nvSpPr>
          <p:cNvPr id="19" name="Text 17"/>
          <p:cNvSpPr/>
          <p:nvPr/>
        </p:nvSpPr>
        <p:spPr>
          <a:xfrm>
            <a:off x="475488" y="3246120"/>
            <a:ext cx="3840480" cy="274320"/>
          </a:xfrm>
          <a:prstGeom prst="rect">
            <a:avLst/>
          </a:prstGeom>
          <a:noFill/>
          <a:ln/>
        </p:spPr>
        <p:txBody>
          <a:bodyPr wrap="square" lIns="0" tIns="0" rIns="0" bIns="0" rtlCol="0" anchor="ctr"/>
          <a:lstStyle/>
          <a:p>
            <a:pPr marL="0" indent="0">
              <a:buNone/>
            </a:pPr>
            <a:r>
              <a:rPr lang="en-US" sz="1200" b="1" dirty="0">
                <a:solidFill>
                  <a:srgbClr val="0D1B3E"/>
                </a:solidFill>
                <a:latin typeface="Calibri" pitchFamily="34" charset="0"/>
                <a:ea typeface="Calibri" pitchFamily="34" charset="-122"/>
                <a:cs typeface="Calibri" pitchFamily="34" charset="-120"/>
              </a:rPr>
              <a:t>Deep Learning Credit Evaluation</a:t>
            </a:r>
            <a:endParaRPr lang="en-US" sz="1200" dirty="0"/>
          </a:p>
        </p:txBody>
      </p:sp>
      <p:sp>
        <p:nvSpPr>
          <p:cNvPr id="20" name="Text 18"/>
          <p:cNvSpPr/>
          <p:nvPr/>
        </p:nvSpPr>
        <p:spPr>
          <a:xfrm>
            <a:off x="475488" y="3520440"/>
            <a:ext cx="3794760" cy="10972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Neural network credit scoring outperformed traditional ML models. High computational cost, large training datasets required, no document parsing or verification methods.</a:t>
            </a:r>
            <a:endParaRPr lang="en-US" sz="950" dirty="0"/>
          </a:p>
        </p:txBody>
      </p:sp>
      <p:sp>
        <p:nvSpPr>
          <p:cNvPr id="21" name="Shape 19"/>
          <p:cNvSpPr/>
          <p:nvPr/>
        </p:nvSpPr>
        <p:spPr>
          <a:xfrm>
            <a:off x="4709160" y="2926080"/>
            <a:ext cx="4206240" cy="17830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2" name="Shape 20"/>
          <p:cNvSpPr/>
          <p:nvPr/>
        </p:nvSpPr>
        <p:spPr>
          <a:xfrm>
            <a:off x="4709160" y="2926080"/>
            <a:ext cx="73152" cy="1783080"/>
          </a:xfrm>
          <a:prstGeom prst="rect">
            <a:avLst/>
          </a:prstGeom>
          <a:solidFill>
            <a:srgbClr val="1565C0"/>
          </a:solidFill>
          <a:ln/>
        </p:spPr>
      </p:sp>
      <p:sp>
        <p:nvSpPr>
          <p:cNvPr id="23" name="Text 21"/>
          <p:cNvSpPr/>
          <p:nvPr/>
        </p:nvSpPr>
        <p:spPr>
          <a:xfrm>
            <a:off x="4910328" y="3017520"/>
            <a:ext cx="3840480" cy="237744"/>
          </a:xfrm>
          <a:prstGeom prst="rect">
            <a:avLst/>
          </a:prstGeom>
          <a:noFill/>
          <a:ln/>
        </p:spPr>
        <p:txBody>
          <a:bodyPr wrap="square" lIns="0" tIns="0" rIns="0" bIns="0"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[4] Jajoo et al., 2025</a:t>
            </a:r>
            <a:endParaRPr lang="en-US" sz="900" dirty="0"/>
          </a:p>
        </p:txBody>
      </p:sp>
      <p:sp>
        <p:nvSpPr>
          <p:cNvPr id="24" name="Text 22"/>
          <p:cNvSpPr/>
          <p:nvPr/>
        </p:nvSpPr>
        <p:spPr>
          <a:xfrm>
            <a:off x="4910328" y="3246120"/>
            <a:ext cx="3840480" cy="274320"/>
          </a:xfrm>
          <a:prstGeom prst="rect">
            <a:avLst/>
          </a:prstGeom>
          <a:noFill/>
          <a:ln/>
        </p:spPr>
        <p:txBody>
          <a:bodyPr wrap="square" lIns="0" tIns="0" rIns="0" bIns="0" rtlCol="0" anchor="ctr"/>
          <a:lstStyle/>
          <a:p>
            <a:pPr marL="0" indent="0">
              <a:buNone/>
            </a:pPr>
            <a:r>
              <a:rPr lang="en-US" sz="1200" b="1" dirty="0">
                <a:solidFill>
                  <a:srgbClr val="0D1B3E"/>
                </a:solidFill>
                <a:latin typeface="Calibri" pitchFamily="34" charset="0"/>
                <a:ea typeface="Calibri" pitchFamily="34" charset="-122"/>
                <a:cs typeface="Calibri" pitchFamily="34" charset="-120"/>
              </a:rPr>
              <a:t>LLM Multi-Agent Credit Scoring</a:t>
            </a:r>
            <a:endParaRPr lang="en-US" sz="1200" dirty="0"/>
          </a:p>
        </p:txBody>
      </p:sp>
      <p:sp>
        <p:nvSpPr>
          <p:cNvPr id="25" name="Text 23"/>
          <p:cNvSpPr/>
          <p:nvPr/>
        </p:nvSpPr>
        <p:spPr>
          <a:xfrm>
            <a:off x="4910328" y="3520440"/>
            <a:ext cx="3794760" cy="10972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Multi-agent LLM system for structured financial data analysis improved credit scoring. However, lacked document validation or automated processing of salary slips, IDs, and credit reports.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Proposed System</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AI-Based Loan Eligibility Prediction &amp; Document Verification</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4 / 15</a:t>
            </a:r>
            <a:endParaRPr lang="en-US" sz="900" dirty="0"/>
          </a:p>
        </p:txBody>
      </p:sp>
      <p:sp>
        <p:nvSpPr>
          <p:cNvPr id="7" name="Text 5"/>
          <p:cNvSpPr/>
          <p:nvPr/>
        </p:nvSpPr>
        <p:spPr>
          <a:xfrm>
            <a:off x="274320" y="960120"/>
            <a:ext cx="8595360" cy="29260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Key Modules</a:t>
            </a:r>
            <a:endParaRPr lang="en-US" sz="1300" dirty="0"/>
          </a:p>
        </p:txBody>
      </p:sp>
      <p:sp>
        <p:nvSpPr>
          <p:cNvPr id="8" name="Shape 6"/>
          <p:cNvSpPr/>
          <p:nvPr/>
        </p:nvSpPr>
        <p:spPr>
          <a:xfrm>
            <a:off x="274320" y="1325880"/>
            <a:ext cx="8595360" cy="676656"/>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9" name="Shape 7"/>
          <p:cNvSpPr/>
          <p:nvPr/>
        </p:nvSpPr>
        <p:spPr>
          <a:xfrm>
            <a:off x="274320" y="1325880"/>
            <a:ext cx="594360" cy="676656"/>
          </a:xfrm>
          <a:prstGeom prst="rect">
            <a:avLst/>
          </a:prstGeom>
          <a:solidFill>
            <a:srgbClr val="1565C0"/>
          </a:solidFill>
          <a:ln/>
        </p:spPr>
      </p:sp>
      <p:sp>
        <p:nvSpPr>
          <p:cNvPr id="10" name="Text 8"/>
          <p:cNvSpPr/>
          <p:nvPr/>
        </p:nvSpPr>
        <p:spPr>
          <a:xfrm>
            <a:off x="274320" y="1490472"/>
            <a:ext cx="59436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pic>
        <p:nvPicPr>
          <p:cNvPr id="11" name="Image 0" descr="preencoded.png"/>
          <p:cNvPicPr>
            <a:picLocks noChangeAspect="1"/>
          </p:cNvPicPr>
          <p:nvPr/>
        </p:nvPicPr>
        <p:blipFill>
          <a:blip r:embed="rId3"/>
          <a:stretch>
            <a:fillRect/>
          </a:stretch>
        </p:blipFill>
        <p:spPr>
          <a:xfrm>
            <a:off x="987552" y="1472184"/>
            <a:ext cx="365760" cy="365760"/>
          </a:xfrm>
          <a:prstGeom prst="rect">
            <a:avLst/>
          </a:prstGeom>
        </p:spPr>
      </p:pic>
      <p:sp>
        <p:nvSpPr>
          <p:cNvPr id="12" name="Text 9"/>
          <p:cNvSpPr/>
          <p:nvPr/>
        </p:nvSpPr>
        <p:spPr>
          <a:xfrm>
            <a:off x="1444752" y="1399032"/>
            <a:ext cx="2926080" cy="27432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Smart Loan Application Suite</a:t>
            </a:r>
            <a:endParaRPr lang="en-US" sz="1150" dirty="0"/>
          </a:p>
        </p:txBody>
      </p:sp>
      <p:sp>
        <p:nvSpPr>
          <p:cNvPr id="13" name="Shape 10"/>
          <p:cNvSpPr/>
          <p:nvPr/>
        </p:nvSpPr>
        <p:spPr>
          <a:xfrm>
            <a:off x="4434840" y="1417320"/>
            <a:ext cx="18288" cy="493776"/>
          </a:xfrm>
          <a:prstGeom prst="rect">
            <a:avLst/>
          </a:prstGeom>
          <a:solidFill>
            <a:srgbClr val="D0D8E8"/>
          </a:solidFill>
          <a:ln/>
        </p:spPr>
      </p:sp>
      <p:sp>
        <p:nvSpPr>
          <p:cNvPr id="14" name="Text 11"/>
          <p:cNvSpPr/>
          <p:nvPr/>
        </p:nvSpPr>
        <p:spPr>
          <a:xfrm>
            <a:off x="4526280" y="1399032"/>
            <a:ext cx="4206240" cy="53035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Digital platform where applicants submit personal and financial details — income, employment, loan amount, dependents, and credit score.</a:t>
            </a:r>
            <a:endParaRPr lang="en-US" sz="950" dirty="0"/>
          </a:p>
        </p:txBody>
      </p:sp>
      <p:sp>
        <p:nvSpPr>
          <p:cNvPr id="15" name="Shape 12"/>
          <p:cNvSpPr/>
          <p:nvPr/>
        </p:nvSpPr>
        <p:spPr>
          <a:xfrm>
            <a:off x="274320" y="2075688"/>
            <a:ext cx="8595360" cy="676656"/>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6" name="Shape 13"/>
          <p:cNvSpPr/>
          <p:nvPr/>
        </p:nvSpPr>
        <p:spPr>
          <a:xfrm>
            <a:off x="274320" y="2075688"/>
            <a:ext cx="594360" cy="676656"/>
          </a:xfrm>
          <a:prstGeom prst="rect">
            <a:avLst/>
          </a:prstGeom>
          <a:solidFill>
            <a:srgbClr val="00ACC1"/>
          </a:solidFill>
          <a:ln/>
        </p:spPr>
      </p:sp>
      <p:sp>
        <p:nvSpPr>
          <p:cNvPr id="17" name="Text 14"/>
          <p:cNvSpPr/>
          <p:nvPr/>
        </p:nvSpPr>
        <p:spPr>
          <a:xfrm>
            <a:off x="274320" y="2240280"/>
            <a:ext cx="59436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pic>
        <p:nvPicPr>
          <p:cNvPr id="18" name="Image 1" descr="preencoded.png"/>
          <p:cNvPicPr>
            <a:picLocks noChangeAspect="1"/>
          </p:cNvPicPr>
          <p:nvPr/>
        </p:nvPicPr>
        <p:blipFill>
          <a:blip r:embed="rId4"/>
          <a:stretch>
            <a:fillRect/>
          </a:stretch>
        </p:blipFill>
        <p:spPr>
          <a:xfrm>
            <a:off x="987552" y="2221992"/>
            <a:ext cx="365760" cy="365760"/>
          </a:xfrm>
          <a:prstGeom prst="rect">
            <a:avLst/>
          </a:prstGeom>
        </p:spPr>
      </p:pic>
      <p:sp>
        <p:nvSpPr>
          <p:cNvPr id="19" name="Text 15"/>
          <p:cNvSpPr/>
          <p:nvPr/>
        </p:nvSpPr>
        <p:spPr>
          <a:xfrm>
            <a:off x="1444752" y="2148840"/>
            <a:ext cx="2926080" cy="27432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Document Processing Automation</a:t>
            </a:r>
            <a:endParaRPr lang="en-US" sz="1150" dirty="0"/>
          </a:p>
        </p:txBody>
      </p:sp>
      <p:sp>
        <p:nvSpPr>
          <p:cNvPr id="20" name="Shape 16"/>
          <p:cNvSpPr/>
          <p:nvPr/>
        </p:nvSpPr>
        <p:spPr>
          <a:xfrm>
            <a:off x="4434840" y="2167128"/>
            <a:ext cx="18288" cy="493776"/>
          </a:xfrm>
          <a:prstGeom prst="rect">
            <a:avLst/>
          </a:prstGeom>
          <a:solidFill>
            <a:srgbClr val="D0D8E8"/>
          </a:solidFill>
          <a:ln/>
        </p:spPr>
      </p:sp>
      <p:sp>
        <p:nvSpPr>
          <p:cNvPr id="21" name="Text 17"/>
          <p:cNvSpPr/>
          <p:nvPr/>
        </p:nvSpPr>
        <p:spPr>
          <a:xfrm>
            <a:off x="4526280" y="2148840"/>
            <a:ext cx="4206240" cy="53035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Applicants upload identity proof, salary slips &amp; credit reports. LlamaParse extracts key details and converts unstructured docs into structured data.</a:t>
            </a:r>
            <a:endParaRPr lang="en-US" sz="950" dirty="0"/>
          </a:p>
        </p:txBody>
      </p:sp>
      <p:sp>
        <p:nvSpPr>
          <p:cNvPr id="22" name="Shape 18"/>
          <p:cNvSpPr/>
          <p:nvPr/>
        </p:nvSpPr>
        <p:spPr>
          <a:xfrm>
            <a:off x="274320" y="2825496"/>
            <a:ext cx="8595360" cy="676656"/>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3" name="Shape 19"/>
          <p:cNvSpPr/>
          <p:nvPr/>
        </p:nvSpPr>
        <p:spPr>
          <a:xfrm>
            <a:off x="274320" y="2825496"/>
            <a:ext cx="594360" cy="676656"/>
          </a:xfrm>
          <a:prstGeom prst="rect">
            <a:avLst/>
          </a:prstGeom>
          <a:solidFill>
            <a:srgbClr val="F9A825"/>
          </a:solidFill>
          <a:ln/>
        </p:spPr>
      </p:sp>
      <p:sp>
        <p:nvSpPr>
          <p:cNvPr id="24" name="Text 20"/>
          <p:cNvSpPr/>
          <p:nvPr/>
        </p:nvSpPr>
        <p:spPr>
          <a:xfrm>
            <a:off x="274320" y="2990088"/>
            <a:ext cx="59436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pic>
        <p:nvPicPr>
          <p:cNvPr id="25" name="Image 2" descr="preencoded.png"/>
          <p:cNvPicPr>
            <a:picLocks noChangeAspect="1"/>
          </p:cNvPicPr>
          <p:nvPr/>
        </p:nvPicPr>
        <p:blipFill>
          <a:blip r:embed="rId5"/>
          <a:stretch>
            <a:fillRect/>
          </a:stretch>
        </p:blipFill>
        <p:spPr>
          <a:xfrm>
            <a:off x="987552" y="2971800"/>
            <a:ext cx="365760" cy="365760"/>
          </a:xfrm>
          <a:prstGeom prst="rect">
            <a:avLst/>
          </a:prstGeom>
        </p:spPr>
      </p:pic>
      <p:sp>
        <p:nvSpPr>
          <p:cNvPr id="26" name="Text 21"/>
          <p:cNvSpPr/>
          <p:nvPr/>
        </p:nvSpPr>
        <p:spPr>
          <a:xfrm>
            <a:off x="1444752" y="2898648"/>
            <a:ext cx="2926080" cy="27432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Data Checking &amp; Verification</a:t>
            </a:r>
            <a:endParaRPr lang="en-US" sz="1150" dirty="0"/>
          </a:p>
        </p:txBody>
      </p:sp>
      <p:sp>
        <p:nvSpPr>
          <p:cNvPr id="27" name="Shape 22"/>
          <p:cNvSpPr/>
          <p:nvPr/>
        </p:nvSpPr>
        <p:spPr>
          <a:xfrm>
            <a:off x="4434840" y="2916936"/>
            <a:ext cx="18288" cy="493776"/>
          </a:xfrm>
          <a:prstGeom prst="rect">
            <a:avLst/>
          </a:prstGeom>
          <a:solidFill>
            <a:srgbClr val="D0D8E8"/>
          </a:solidFill>
          <a:ln/>
        </p:spPr>
      </p:sp>
      <p:sp>
        <p:nvSpPr>
          <p:cNvPr id="28" name="Text 23"/>
          <p:cNvSpPr/>
          <p:nvPr/>
        </p:nvSpPr>
        <p:spPr>
          <a:xfrm>
            <a:off x="4526280" y="2898648"/>
            <a:ext cx="4206240" cy="53035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LlamaIndex cross-matches extracted document values against user-entered data. Any mismatch triggers a flag, ensuring data integrity.</a:t>
            </a:r>
            <a:endParaRPr lang="en-US" sz="950" dirty="0"/>
          </a:p>
        </p:txBody>
      </p:sp>
      <p:sp>
        <p:nvSpPr>
          <p:cNvPr id="29" name="Shape 24"/>
          <p:cNvSpPr/>
          <p:nvPr/>
        </p:nvSpPr>
        <p:spPr>
          <a:xfrm>
            <a:off x="274320" y="3575304"/>
            <a:ext cx="8595360" cy="676656"/>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0" name="Shape 25"/>
          <p:cNvSpPr/>
          <p:nvPr/>
        </p:nvSpPr>
        <p:spPr>
          <a:xfrm>
            <a:off x="274320" y="3575304"/>
            <a:ext cx="594360" cy="676656"/>
          </a:xfrm>
          <a:prstGeom prst="rect">
            <a:avLst/>
          </a:prstGeom>
          <a:solidFill>
            <a:srgbClr val="2E7D32"/>
          </a:solidFill>
          <a:ln/>
        </p:spPr>
      </p:sp>
      <p:sp>
        <p:nvSpPr>
          <p:cNvPr id="31" name="Text 26"/>
          <p:cNvSpPr/>
          <p:nvPr/>
        </p:nvSpPr>
        <p:spPr>
          <a:xfrm>
            <a:off x="274320" y="3739896"/>
            <a:ext cx="59436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pic>
        <p:nvPicPr>
          <p:cNvPr id="32" name="Image 3" descr="preencoded.png"/>
          <p:cNvPicPr>
            <a:picLocks noChangeAspect="1"/>
          </p:cNvPicPr>
          <p:nvPr/>
        </p:nvPicPr>
        <p:blipFill>
          <a:blip r:embed="rId6"/>
          <a:stretch>
            <a:fillRect/>
          </a:stretch>
        </p:blipFill>
        <p:spPr>
          <a:xfrm>
            <a:off x="987552" y="3721608"/>
            <a:ext cx="365760" cy="365760"/>
          </a:xfrm>
          <a:prstGeom prst="rect">
            <a:avLst/>
          </a:prstGeom>
        </p:spPr>
      </p:pic>
      <p:sp>
        <p:nvSpPr>
          <p:cNvPr id="33" name="Text 27"/>
          <p:cNvSpPr/>
          <p:nvPr/>
        </p:nvSpPr>
        <p:spPr>
          <a:xfrm>
            <a:off x="1444752" y="3648456"/>
            <a:ext cx="2926080" cy="27432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AI-Based Loan Evaluation</a:t>
            </a:r>
            <a:endParaRPr lang="en-US" sz="1150" dirty="0"/>
          </a:p>
        </p:txBody>
      </p:sp>
      <p:sp>
        <p:nvSpPr>
          <p:cNvPr id="34" name="Shape 28"/>
          <p:cNvSpPr/>
          <p:nvPr/>
        </p:nvSpPr>
        <p:spPr>
          <a:xfrm>
            <a:off x="4434840" y="3666744"/>
            <a:ext cx="18288" cy="493776"/>
          </a:xfrm>
          <a:prstGeom prst="rect">
            <a:avLst/>
          </a:prstGeom>
          <a:solidFill>
            <a:srgbClr val="D0D8E8"/>
          </a:solidFill>
          <a:ln/>
        </p:spPr>
      </p:sp>
      <p:sp>
        <p:nvSpPr>
          <p:cNvPr id="35" name="Text 29"/>
          <p:cNvSpPr/>
          <p:nvPr/>
        </p:nvSpPr>
        <p:spPr>
          <a:xfrm>
            <a:off x="4526280" y="3648456"/>
            <a:ext cx="4206240" cy="53035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LoRA fine-tuned Qwen LLM analyzes the financial profile — income capacity, EMI ratio, credit score — and predicts loan approval or rejection.</a:t>
            </a:r>
            <a:endParaRPr lang="en-US" sz="950" dirty="0"/>
          </a:p>
        </p:txBody>
      </p:sp>
      <p:sp>
        <p:nvSpPr>
          <p:cNvPr id="36" name="Shape 30"/>
          <p:cNvSpPr/>
          <p:nvPr/>
        </p:nvSpPr>
        <p:spPr>
          <a:xfrm>
            <a:off x="274320" y="4325112"/>
            <a:ext cx="8595360" cy="676656"/>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7" name="Shape 31"/>
          <p:cNvSpPr/>
          <p:nvPr/>
        </p:nvSpPr>
        <p:spPr>
          <a:xfrm>
            <a:off x="274320" y="4325112"/>
            <a:ext cx="594360" cy="676656"/>
          </a:xfrm>
          <a:prstGeom prst="rect">
            <a:avLst/>
          </a:prstGeom>
          <a:solidFill>
            <a:srgbClr val="0D1B3E"/>
          </a:solidFill>
          <a:ln/>
        </p:spPr>
      </p:sp>
      <p:sp>
        <p:nvSpPr>
          <p:cNvPr id="38" name="Text 32"/>
          <p:cNvSpPr/>
          <p:nvPr/>
        </p:nvSpPr>
        <p:spPr>
          <a:xfrm>
            <a:off x="274320" y="4489704"/>
            <a:ext cx="594360"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pic>
        <p:nvPicPr>
          <p:cNvPr id="39" name="Image 4" descr="preencoded.png"/>
          <p:cNvPicPr>
            <a:picLocks noChangeAspect="1"/>
          </p:cNvPicPr>
          <p:nvPr/>
        </p:nvPicPr>
        <p:blipFill>
          <a:blip r:embed="rId7"/>
          <a:stretch>
            <a:fillRect/>
          </a:stretch>
        </p:blipFill>
        <p:spPr>
          <a:xfrm>
            <a:off x="987552" y="4471416"/>
            <a:ext cx="365760" cy="365760"/>
          </a:xfrm>
          <a:prstGeom prst="rect">
            <a:avLst/>
          </a:prstGeom>
        </p:spPr>
      </p:pic>
      <p:sp>
        <p:nvSpPr>
          <p:cNvPr id="40" name="Text 33"/>
          <p:cNvSpPr/>
          <p:nvPr/>
        </p:nvSpPr>
        <p:spPr>
          <a:xfrm>
            <a:off x="1444752" y="4398264"/>
            <a:ext cx="2926080" cy="27432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Clear Decision Output</a:t>
            </a:r>
            <a:endParaRPr lang="en-US" sz="1150" dirty="0"/>
          </a:p>
        </p:txBody>
      </p:sp>
      <p:sp>
        <p:nvSpPr>
          <p:cNvPr id="41" name="Shape 34"/>
          <p:cNvSpPr/>
          <p:nvPr/>
        </p:nvSpPr>
        <p:spPr>
          <a:xfrm>
            <a:off x="4434840" y="4416552"/>
            <a:ext cx="18288" cy="493776"/>
          </a:xfrm>
          <a:prstGeom prst="rect">
            <a:avLst/>
          </a:prstGeom>
          <a:solidFill>
            <a:srgbClr val="D0D8E8"/>
          </a:solidFill>
          <a:ln/>
        </p:spPr>
      </p:sp>
      <p:sp>
        <p:nvSpPr>
          <p:cNvPr id="42" name="Text 35"/>
          <p:cNvSpPr/>
          <p:nvPr/>
        </p:nvSpPr>
        <p:spPr>
          <a:xfrm>
            <a:off x="4526280" y="4398264"/>
            <a:ext cx="4206240" cy="53035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System displays the eligibility status (Approved/Rejected) along with AI-generated natural language reasoning, ensuring full transparency.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System Design — Architecture</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End-to-End Processing Pipeline</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5 / 15</a:t>
            </a:r>
            <a:endParaRPr lang="en-US" sz="900" dirty="0"/>
          </a:p>
        </p:txBody>
      </p:sp>
      <p:sp>
        <p:nvSpPr>
          <p:cNvPr id="7" name="Shape 5"/>
          <p:cNvSpPr/>
          <p:nvPr/>
        </p:nvSpPr>
        <p:spPr>
          <a:xfrm>
            <a:off x="274320" y="1097280"/>
            <a:ext cx="1554480" cy="1417320"/>
          </a:xfrm>
          <a:prstGeom prst="rect">
            <a:avLst/>
          </a:prstGeom>
          <a:solidFill>
            <a:srgbClr val="1565C0"/>
          </a:solidFill>
          <a:ln/>
          <a:effectLst>
            <a:outerShdw blurRad="101600" dist="38100" dir="8100000" algn="bl" rotWithShape="0">
              <a:srgbClr val="000000">
                <a:alpha val="18000"/>
              </a:srgbClr>
            </a:outerShdw>
          </a:effectLst>
        </p:spPr>
      </p:sp>
      <p:pic>
        <p:nvPicPr>
          <p:cNvPr id="8" name="Image 0" descr="preencoded.png"/>
          <p:cNvPicPr>
            <a:picLocks noChangeAspect="1"/>
          </p:cNvPicPr>
          <p:nvPr/>
        </p:nvPicPr>
        <p:blipFill>
          <a:blip r:embed="rId3"/>
          <a:stretch>
            <a:fillRect/>
          </a:stretch>
        </p:blipFill>
        <p:spPr>
          <a:xfrm>
            <a:off x="822960" y="1261872"/>
            <a:ext cx="457200" cy="457200"/>
          </a:xfrm>
          <a:prstGeom prst="rect">
            <a:avLst/>
          </a:prstGeom>
        </p:spPr>
      </p:pic>
      <p:sp>
        <p:nvSpPr>
          <p:cNvPr id="9" name="Text 6"/>
          <p:cNvSpPr/>
          <p:nvPr/>
        </p:nvSpPr>
        <p:spPr>
          <a:xfrm>
            <a:off x="320040" y="1755648"/>
            <a:ext cx="146304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p:txBody>
      </p:sp>
      <p:sp>
        <p:nvSpPr>
          <p:cNvPr id="10" name="Shape 7"/>
          <p:cNvSpPr/>
          <p:nvPr/>
        </p:nvSpPr>
        <p:spPr>
          <a:xfrm>
            <a:off x="1828800" y="1719072"/>
            <a:ext cx="182880" cy="182880"/>
          </a:xfrm>
          <a:prstGeom prst="rect">
            <a:avLst/>
          </a:prstGeom>
          <a:solidFill>
            <a:srgbClr val="00ACC1"/>
          </a:solidFill>
          <a:ln/>
        </p:spPr>
      </p:sp>
      <p:sp>
        <p:nvSpPr>
          <p:cNvPr id="11" name="Shape 8"/>
          <p:cNvSpPr/>
          <p:nvPr/>
        </p:nvSpPr>
        <p:spPr>
          <a:xfrm>
            <a:off x="2011680" y="1097280"/>
            <a:ext cx="1554480" cy="1417320"/>
          </a:xfrm>
          <a:prstGeom prst="rect">
            <a:avLst/>
          </a:prstGeom>
          <a:solidFill>
            <a:srgbClr val="00ACC1"/>
          </a:solidFill>
          <a:ln/>
          <a:effectLst>
            <a:outerShdw blurRad="101600" dist="38100" dir="8100000" algn="bl" rotWithShape="0">
              <a:srgbClr val="000000">
                <a:alpha val="18000"/>
              </a:srgbClr>
            </a:outerShdw>
          </a:effectLst>
        </p:spPr>
      </p:sp>
      <p:pic>
        <p:nvPicPr>
          <p:cNvPr id="12" name="Image 1" descr="preencoded.png"/>
          <p:cNvPicPr>
            <a:picLocks noChangeAspect="1"/>
          </p:cNvPicPr>
          <p:nvPr/>
        </p:nvPicPr>
        <p:blipFill>
          <a:blip r:embed="rId4"/>
          <a:stretch>
            <a:fillRect/>
          </a:stretch>
        </p:blipFill>
        <p:spPr>
          <a:xfrm>
            <a:off x="2560320" y="1261872"/>
            <a:ext cx="457200" cy="457200"/>
          </a:xfrm>
          <a:prstGeom prst="rect">
            <a:avLst/>
          </a:prstGeom>
        </p:spPr>
      </p:pic>
      <p:sp>
        <p:nvSpPr>
          <p:cNvPr id="13" name="Text 9"/>
          <p:cNvSpPr/>
          <p:nvPr/>
        </p:nvSpPr>
        <p:spPr>
          <a:xfrm>
            <a:off x="2057400" y="1755648"/>
            <a:ext cx="146304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Document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Parsing</a:t>
            </a:r>
            <a:endParaRPr lang="en-US" sz="1000" dirty="0"/>
          </a:p>
        </p:txBody>
      </p:sp>
      <p:sp>
        <p:nvSpPr>
          <p:cNvPr id="14" name="Shape 10"/>
          <p:cNvSpPr/>
          <p:nvPr/>
        </p:nvSpPr>
        <p:spPr>
          <a:xfrm>
            <a:off x="3566160" y="1719072"/>
            <a:ext cx="182880" cy="182880"/>
          </a:xfrm>
          <a:prstGeom prst="rect">
            <a:avLst/>
          </a:prstGeom>
          <a:solidFill>
            <a:srgbClr val="00ACC1"/>
          </a:solidFill>
          <a:ln/>
        </p:spPr>
      </p:sp>
      <p:sp>
        <p:nvSpPr>
          <p:cNvPr id="15" name="Shape 11"/>
          <p:cNvSpPr/>
          <p:nvPr/>
        </p:nvSpPr>
        <p:spPr>
          <a:xfrm>
            <a:off x="3749040" y="1097280"/>
            <a:ext cx="1554480" cy="1417320"/>
          </a:xfrm>
          <a:prstGeom prst="rect">
            <a:avLst/>
          </a:prstGeom>
          <a:solidFill>
            <a:srgbClr val="F9A825"/>
          </a:solidFill>
          <a:ln/>
          <a:effectLst>
            <a:outerShdw blurRad="101600" dist="38100" dir="8100000" algn="bl" rotWithShape="0">
              <a:srgbClr val="000000">
                <a:alpha val="18000"/>
              </a:srgbClr>
            </a:outerShdw>
          </a:effectLst>
        </p:spPr>
      </p:sp>
      <p:pic>
        <p:nvPicPr>
          <p:cNvPr id="16" name="Image 2" descr="preencoded.png"/>
          <p:cNvPicPr>
            <a:picLocks noChangeAspect="1"/>
          </p:cNvPicPr>
          <p:nvPr/>
        </p:nvPicPr>
        <p:blipFill>
          <a:blip r:embed="rId5"/>
          <a:stretch>
            <a:fillRect/>
          </a:stretch>
        </p:blipFill>
        <p:spPr>
          <a:xfrm>
            <a:off x="4297680" y="1261872"/>
            <a:ext cx="457200" cy="457200"/>
          </a:xfrm>
          <a:prstGeom prst="rect">
            <a:avLst/>
          </a:prstGeom>
        </p:spPr>
      </p:pic>
      <p:sp>
        <p:nvSpPr>
          <p:cNvPr id="17" name="Text 12"/>
          <p:cNvSpPr/>
          <p:nvPr/>
        </p:nvSpPr>
        <p:spPr>
          <a:xfrm>
            <a:off x="3794760" y="1755648"/>
            <a:ext cx="146304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Pre-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processing</a:t>
            </a:r>
            <a:endParaRPr lang="en-US" sz="1000" dirty="0"/>
          </a:p>
        </p:txBody>
      </p:sp>
      <p:sp>
        <p:nvSpPr>
          <p:cNvPr id="18" name="Shape 13"/>
          <p:cNvSpPr/>
          <p:nvPr/>
        </p:nvSpPr>
        <p:spPr>
          <a:xfrm>
            <a:off x="5303520" y="1719072"/>
            <a:ext cx="182880" cy="182880"/>
          </a:xfrm>
          <a:prstGeom prst="rect">
            <a:avLst/>
          </a:prstGeom>
          <a:solidFill>
            <a:srgbClr val="00ACC1"/>
          </a:solidFill>
          <a:ln/>
        </p:spPr>
      </p:sp>
      <p:sp>
        <p:nvSpPr>
          <p:cNvPr id="19" name="Shape 14"/>
          <p:cNvSpPr/>
          <p:nvPr/>
        </p:nvSpPr>
        <p:spPr>
          <a:xfrm>
            <a:off x="5486400" y="1097280"/>
            <a:ext cx="1554480" cy="1417320"/>
          </a:xfrm>
          <a:prstGeom prst="rect">
            <a:avLst/>
          </a:prstGeom>
          <a:solidFill>
            <a:srgbClr val="2E7D32"/>
          </a:solidFill>
          <a:ln/>
          <a:effectLst>
            <a:outerShdw blurRad="101600" dist="38100" dir="8100000" algn="bl" rotWithShape="0">
              <a:srgbClr val="000000">
                <a:alpha val="18000"/>
              </a:srgbClr>
            </a:outerShdw>
          </a:effectLst>
        </p:spPr>
      </p:sp>
      <p:pic>
        <p:nvPicPr>
          <p:cNvPr id="20" name="Image 3" descr="preencoded.png"/>
          <p:cNvPicPr>
            <a:picLocks noChangeAspect="1"/>
          </p:cNvPicPr>
          <p:nvPr/>
        </p:nvPicPr>
        <p:blipFill>
          <a:blip r:embed="rId6"/>
          <a:stretch>
            <a:fillRect/>
          </a:stretch>
        </p:blipFill>
        <p:spPr>
          <a:xfrm>
            <a:off x="6035040" y="1261872"/>
            <a:ext cx="457200" cy="457200"/>
          </a:xfrm>
          <a:prstGeom prst="rect">
            <a:avLst/>
          </a:prstGeom>
        </p:spPr>
      </p:pic>
      <p:sp>
        <p:nvSpPr>
          <p:cNvPr id="21" name="Text 15"/>
          <p:cNvSpPr/>
          <p:nvPr/>
        </p:nvSpPr>
        <p:spPr>
          <a:xfrm>
            <a:off x="5532120" y="1755648"/>
            <a:ext cx="146304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LLM Decision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Engine</a:t>
            </a:r>
            <a:endParaRPr lang="en-US" sz="1000" dirty="0"/>
          </a:p>
        </p:txBody>
      </p:sp>
      <p:sp>
        <p:nvSpPr>
          <p:cNvPr id="22" name="Shape 16"/>
          <p:cNvSpPr/>
          <p:nvPr/>
        </p:nvSpPr>
        <p:spPr>
          <a:xfrm>
            <a:off x="7040880" y="1719072"/>
            <a:ext cx="182880" cy="182880"/>
          </a:xfrm>
          <a:prstGeom prst="rect">
            <a:avLst/>
          </a:prstGeom>
          <a:solidFill>
            <a:srgbClr val="00ACC1"/>
          </a:solidFill>
          <a:ln/>
        </p:spPr>
      </p:sp>
      <p:sp>
        <p:nvSpPr>
          <p:cNvPr id="23" name="Shape 17"/>
          <p:cNvSpPr/>
          <p:nvPr/>
        </p:nvSpPr>
        <p:spPr>
          <a:xfrm>
            <a:off x="7223760" y="1097280"/>
            <a:ext cx="1554480" cy="1417320"/>
          </a:xfrm>
          <a:prstGeom prst="rect">
            <a:avLst/>
          </a:prstGeom>
          <a:solidFill>
            <a:srgbClr val="0D1B3E"/>
          </a:solidFill>
          <a:ln/>
          <a:effectLst>
            <a:outerShdw blurRad="101600" dist="38100" dir="8100000" algn="bl" rotWithShape="0">
              <a:srgbClr val="000000">
                <a:alpha val="18000"/>
              </a:srgbClr>
            </a:outerShdw>
          </a:effectLst>
        </p:spPr>
      </p:sp>
      <p:pic>
        <p:nvPicPr>
          <p:cNvPr id="24" name="Image 4" descr="preencoded.png"/>
          <p:cNvPicPr>
            <a:picLocks noChangeAspect="1"/>
          </p:cNvPicPr>
          <p:nvPr/>
        </p:nvPicPr>
        <p:blipFill>
          <a:blip r:embed="rId7"/>
          <a:stretch>
            <a:fillRect/>
          </a:stretch>
        </p:blipFill>
        <p:spPr>
          <a:xfrm>
            <a:off x="7772400" y="1261872"/>
            <a:ext cx="457200" cy="457200"/>
          </a:xfrm>
          <a:prstGeom prst="rect">
            <a:avLst/>
          </a:prstGeom>
        </p:spPr>
      </p:pic>
      <p:sp>
        <p:nvSpPr>
          <p:cNvPr id="25" name="Text 18"/>
          <p:cNvSpPr/>
          <p:nvPr/>
        </p:nvSpPr>
        <p:spPr>
          <a:xfrm>
            <a:off x="7269480" y="1755648"/>
            <a:ext cx="146304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Output &amp;</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p>
        </p:txBody>
      </p:sp>
      <p:sp>
        <p:nvSpPr>
          <p:cNvPr id="26" name="Shape 19"/>
          <p:cNvSpPr/>
          <p:nvPr/>
        </p:nvSpPr>
        <p:spPr>
          <a:xfrm>
            <a:off x="274320" y="2697480"/>
            <a:ext cx="1554480" cy="20116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7" name="Text 20"/>
          <p:cNvSpPr/>
          <p:nvPr/>
        </p:nvSpPr>
        <p:spPr>
          <a:xfrm>
            <a:off x="347472" y="2788920"/>
            <a:ext cx="1417320" cy="1828800"/>
          </a:xfrm>
          <a:prstGeom prst="rect">
            <a:avLst/>
          </a:prstGeom>
          <a:noFill/>
          <a:ln/>
        </p:spPr>
        <p:txBody>
          <a:bodyPr wrap="square" rtlCol="0" anchor="ctr"/>
          <a:lstStyle/>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Personal Info</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Financial Details</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Document Upload</a:t>
            </a:r>
            <a:endParaRPr lang="en-US" sz="900" dirty="0"/>
          </a:p>
        </p:txBody>
      </p:sp>
      <p:sp>
        <p:nvSpPr>
          <p:cNvPr id="28" name="Shape 21"/>
          <p:cNvSpPr/>
          <p:nvPr/>
        </p:nvSpPr>
        <p:spPr>
          <a:xfrm>
            <a:off x="2011680" y="2697480"/>
            <a:ext cx="1554480" cy="20116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9" name="Text 22"/>
          <p:cNvSpPr/>
          <p:nvPr/>
        </p:nvSpPr>
        <p:spPr>
          <a:xfrm>
            <a:off x="2084832" y="2788920"/>
            <a:ext cx="1417320" cy="1828800"/>
          </a:xfrm>
          <a:prstGeom prst="rect">
            <a:avLst/>
          </a:prstGeom>
          <a:noFill/>
          <a:ln/>
        </p:spPr>
        <p:txBody>
          <a:bodyPr wrap="square" rtlCol="0" anchor="ctr"/>
          <a:lstStyle/>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LlamaParse</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ID / Salary / CIBIL</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Text Extraction</a:t>
            </a:r>
            <a:endParaRPr lang="en-US" sz="900" dirty="0"/>
          </a:p>
        </p:txBody>
      </p:sp>
      <p:sp>
        <p:nvSpPr>
          <p:cNvPr id="30" name="Shape 23"/>
          <p:cNvSpPr/>
          <p:nvPr/>
        </p:nvSpPr>
        <p:spPr>
          <a:xfrm>
            <a:off x="3749040" y="2697480"/>
            <a:ext cx="1554480" cy="20116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1" name="Text 24"/>
          <p:cNvSpPr/>
          <p:nvPr/>
        </p:nvSpPr>
        <p:spPr>
          <a:xfrm>
            <a:off x="3822192" y="2788920"/>
            <a:ext cx="1417320" cy="1828800"/>
          </a:xfrm>
          <a:prstGeom prst="rect">
            <a:avLst/>
          </a:prstGeom>
          <a:noFill/>
          <a:ln/>
        </p:spPr>
        <p:txBody>
          <a:bodyPr wrap="square" rtlCol="0" anchor="ctr"/>
          <a:lstStyle/>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Income Calc</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EMI Ratio</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Feature Transform</a:t>
            </a:r>
            <a:endParaRPr lang="en-US" sz="900" dirty="0"/>
          </a:p>
        </p:txBody>
      </p:sp>
      <p:sp>
        <p:nvSpPr>
          <p:cNvPr id="32" name="Shape 25"/>
          <p:cNvSpPr/>
          <p:nvPr/>
        </p:nvSpPr>
        <p:spPr>
          <a:xfrm>
            <a:off x="5486400" y="2697480"/>
            <a:ext cx="1554480" cy="20116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3" name="Text 26"/>
          <p:cNvSpPr/>
          <p:nvPr/>
        </p:nvSpPr>
        <p:spPr>
          <a:xfrm>
            <a:off x="5559552" y="2788920"/>
            <a:ext cx="1417320" cy="1828800"/>
          </a:xfrm>
          <a:prstGeom prst="rect">
            <a:avLst/>
          </a:prstGeom>
          <a:noFill/>
          <a:ln/>
        </p:spPr>
        <p:txBody>
          <a:bodyPr wrap="square" rtlCol="0" anchor="ctr"/>
          <a:lstStyle/>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Prompt Build</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Qwen Inference</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LoRA Tuning</a:t>
            </a:r>
            <a:endParaRPr lang="en-US" sz="900" dirty="0"/>
          </a:p>
        </p:txBody>
      </p:sp>
      <p:sp>
        <p:nvSpPr>
          <p:cNvPr id="34" name="Shape 27"/>
          <p:cNvSpPr/>
          <p:nvPr/>
        </p:nvSpPr>
        <p:spPr>
          <a:xfrm>
            <a:off x="7223760" y="2697480"/>
            <a:ext cx="1554480" cy="201168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5" name="Text 28"/>
          <p:cNvSpPr/>
          <p:nvPr/>
        </p:nvSpPr>
        <p:spPr>
          <a:xfrm>
            <a:off x="7296912" y="2788920"/>
            <a:ext cx="1417320" cy="1828800"/>
          </a:xfrm>
          <a:prstGeom prst="rect">
            <a:avLst/>
          </a:prstGeom>
          <a:noFill/>
          <a:ln/>
        </p:spPr>
        <p:txBody>
          <a:bodyPr wrap="square" rtlCol="0" anchor="ctr"/>
          <a:lstStyle/>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Approved/Rejected</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AI Reasoning</a:t>
            </a:r>
            <a:endParaRPr lang="en-US" sz="900" dirty="0"/>
          </a:p>
          <a:p>
            <a:pPr marL="342900" indent="-342900">
              <a:buSzPct val="100000"/>
              <a:buChar char="•"/>
            </a:pPr>
            <a:r>
              <a:rPr lang="en-US" sz="900" dirty="0">
                <a:solidFill>
                  <a:srgbClr val="546E7A"/>
                </a:solidFill>
                <a:latin typeface="Calibri" pitchFamily="34" charset="0"/>
                <a:ea typeface="Calibri" pitchFamily="34" charset="-122"/>
                <a:cs typeface="Calibri" pitchFamily="34" charset="-120"/>
              </a:rPr>
              <a:t>Explanation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Methodology</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Step-by-Step Implementation Approach</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6 / 15</a:t>
            </a:r>
            <a:endParaRPr lang="en-US" sz="900" dirty="0"/>
          </a:p>
        </p:txBody>
      </p:sp>
      <p:sp>
        <p:nvSpPr>
          <p:cNvPr id="7" name="Shape 5"/>
          <p:cNvSpPr/>
          <p:nvPr/>
        </p:nvSpPr>
        <p:spPr>
          <a:xfrm>
            <a:off x="274320" y="1005840"/>
            <a:ext cx="4206240" cy="118872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8" name="Shape 6"/>
          <p:cNvSpPr/>
          <p:nvPr/>
        </p:nvSpPr>
        <p:spPr>
          <a:xfrm>
            <a:off x="274320" y="1005840"/>
            <a:ext cx="502920" cy="1188720"/>
          </a:xfrm>
          <a:prstGeom prst="rect">
            <a:avLst/>
          </a:prstGeom>
          <a:solidFill>
            <a:srgbClr val="1565C0"/>
          </a:solidFill>
          <a:ln/>
        </p:spPr>
      </p:sp>
      <p:sp>
        <p:nvSpPr>
          <p:cNvPr id="9" name="Text 7"/>
          <p:cNvSpPr/>
          <p:nvPr/>
        </p:nvSpPr>
        <p:spPr>
          <a:xfrm>
            <a:off x="274320" y="1353312"/>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p:nvPr/>
        </p:nvSpPr>
        <p:spPr>
          <a:xfrm>
            <a:off x="868680" y="1078992"/>
            <a:ext cx="3493008" cy="301752"/>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User Input Module</a:t>
            </a:r>
            <a:endParaRPr lang="en-US" sz="1150" dirty="0"/>
          </a:p>
        </p:txBody>
      </p:sp>
      <p:sp>
        <p:nvSpPr>
          <p:cNvPr id="11" name="Text 9"/>
          <p:cNvSpPr/>
          <p:nvPr/>
        </p:nvSpPr>
        <p:spPr>
          <a:xfrm>
            <a:off x="868680" y="1399032"/>
            <a:ext cx="3493008" cy="71323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Collects name, gender, marital status, dependents, income, co-applicant income, credit score, loan amount, employment &amp; property location via web form.</a:t>
            </a:r>
            <a:endParaRPr lang="en-US" sz="950" dirty="0"/>
          </a:p>
        </p:txBody>
      </p:sp>
      <p:sp>
        <p:nvSpPr>
          <p:cNvPr id="12" name="Shape 10"/>
          <p:cNvSpPr/>
          <p:nvPr/>
        </p:nvSpPr>
        <p:spPr>
          <a:xfrm>
            <a:off x="4709160" y="1005840"/>
            <a:ext cx="4206240" cy="118872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3" name="Shape 11"/>
          <p:cNvSpPr/>
          <p:nvPr/>
        </p:nvSpPr>
        <p:spPr>
          <a:xfrm>
            <a:off x="4709160" y="1005840"/>
            <a:ext cx="502920" cy="1188720"/>
          </a:xfrm>
          <a:prstGeom prst="rect">
            <a:avLst/>
          </a:prstGeom>
          <a:solidFill>
            <a:srgbClr val="00ACC1"/>
          </a:solidFill>
          <a:ln/>
        </p:spPr>
      </p:sp>
      <p:sp>
        <p:nvSpPr>
          <p:cNvPr id="14" name="Text 12"/>
          <p:cNvSpPr/>
          <p:nvPr/>
        </p:nvSpPr>
        <p:spPr>
          <a:xfrm>
            <a:off x="4709160" y="1353312"/>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5303520" y="1078992"/>
            <a:ext cx="3493008" cy="301752"/>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Document Parsing (LlamaParse)</a:t>
            </a:r>
            <a:endParaRPr lang="en-US" sz="1150" dirty="0"/>
          </a:p>
        </p:txBody>
      </p:sp>
      <p:sp>
        <p:nvSpPr>
          <p:cNvPr id="16" name="Text 14"/>
          <p:cNvSpPr/>
          <p:nvPr/>
        </p:nvSpPr>
        <p:spPr>
          <a:xfrm>
            <a:off x="5303520" y="1399032"/>
            <a:ext cx="3493008" cy="71323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Uploaded documents parsed individually: Identity doc → name; Salary slip → income; CIBIL report → credit score. PDFs/images converted to structured data.</a:t>
            </a:r>
            <a:endParaRPr lang="en-US" sz="950" dirty="0"/>
          </a:p>
        </p:txBody>
      </p:sp>
      <p:sp>
        <p:nvSpPr>
          <p:cNvPr id="17" name="Shape 15"/>
          <p:cNvSpPr/>
          <p:nvPr/>
        </p:nvSpPr>
        <p:spPr>
          <a:xfrm>
            <a:off x="274320" y="2322576"/>
            <a:ext cx="4206240" cy="118872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8" name="Shape 16"/>
          <p:cNvSpPr/>
          <p:nvPr/>
        </p:nvSpPr>
        <p:spPr>
          <a:xfrm>
            <a:off x="274320" y="2322576"/>
            <a:ext cx="502920" cy="1188720"/>
          </a:xfrm>
          <a:prstGeom prst="rect">
            <a:avLst/>
          </a:prstGeom>
          <a:solidFill>
            <a:srgbClr val="F9A825"/>
          </a:solidFill>
          <a:ln/>
        </p:spPr>
      </p:sp>
      <p:sp>
        <p:nvSpPr>
          <p:cNvPr id="19" name="Text 17"/>
          <p:cNvSpPr/>
          <p:nvPr/>
        </p:nvSpPr>
        <p:spPr>
          <a:xfrm>
            <a:off x="274320" y="2670048"/>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0" name="Text 18"/>
          <p:cNvSpPr/>
          <p:nvPr/>
        </p:nvSpPr>
        <p:spPr>
          <a:xfrm>
            <a:off x="868680" y="2395728"/>
            <a:ext cx="3493008" cy="301752"/>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Preprocessing &amp; Feature Engineering</a:t>
            </a:r>
            <a:endParaRPr lang="en-US" sz="1150" dirty="0"/>
          </a:p>
        </p:txBody>
      </p:sp>
      <p:sp>
        <p:nvSpPr>
          <p:cNvPr id="21" name="Text 19"/>
          <p:cNvSpPr/>
          <p:nvPr/>
        </p:nvSpPr>
        <p:spPr>
          <a:xfrm>
            <a:off x="868680" y="2715768"/>
            <a:ext cx="3493008" cy="71323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EMI Ratio = (Loan/Period) / Usable Income. Usable Income = 50% of Total Income. Dependents categorized: Low/Moderate/High. Repayment capacity computed.</a:t>
            </a:r>
            <a:endParaRPr lang="en-US" sz="950" dirty="0"/>
          </a:p>
        </p:txBody>
      </p:sp>
      <p:sp>
        <p:nvSpPr>
          <p:cNvPr id="22" name="Shape 20"/>
          <p:cNvSpPr/>
          <p:nvPr/>
        </p:nvSpPr>
        <p:spPr>
          <a:xfrm>
            <a:off x="4709160" y="2322576"/>
            <a:ext cx="4206240" cy="118872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3" name="Shape 21"/>
          <p:cNvSpPr/>
          <p:nvPr/>
        </p:nvSpPr>
        <p:spPr>
          <a:xfrm>
            <a:off x="4709160" y="2322576"/>
            <a:ext cx="502920" cy="1188720"/>
          </a:xfrm>
          <a:prstGeom prst="rect">
            <a:avLst/>
          </a:prstGeom>
          <a:solidFill>
            <a:srgbClr val="2E7D32"/>
          </a:solidFill>
          <a:ln/>
        </p:spPr>
      </p:sp>
      <p:sp>
        <p:nvSpPr>
          <p:cNvPr id="24" name="Text 22"/>
          <p:cNvSpPr/>
          <p:nvPr/>
        </p:nvSpPr>
        <p:spPr>
          <a:xfrm>
            <a:off x="4709160" y="2670048"/>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5" name="Text 23"/>
          <p:cNvSpPr/>
          <p:nvPr/>
        </p:nvSpPr>
        <p:spPr>
          <a:xfrm>
            <a:off x="5303520" y="2395728"/>
            <a:ext cx="3493008" cy="301752"/>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Document Verification (LlamaIndex)</a:t>
            </a:r>
            <a:endParaRPr lang="en-US" sz="1150" dirty="0"/>
          </a:p>
        </p:txBody>
      </p:sp>
      <p:sp>
        <p:nvSpPr>
          <p:cNvPr id="26" name="Text 24"/>
          <p:cNvSpPr/>
          <p:nvPr/>
        </p:nvSpPr>
        <p:spPr>
          <a:xfrm>
            <a:off x="5303520" y="2715768"/>
            <a:ext cx="3493008" cy="71323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Extracted document values cross-matched with user-entered data. Mismatches trigger a flag ensuring data integrity before AI prediction.</a:t>
            </a:r>
            <a:endParaRPr lang="en-US" sz="950" dirty="0"/>
          </a:p>
        </p:txBody>
      </p:sp>
      <p:sp>
        <p:nvSpPr>
          <p:cNvPr id="27" name="Shape 25"/>
          <p:cNvSpPr/>
          <p:nvPr/>
        </p:nvSpPr>
        <p:spPr>
          <a:xfrm>
            <a:off x="274320" y="3639312"/>
            <a:ext cx="4206240" cy="118872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8" name="Shape 26"/>
          <p:cNvSpPr/>
          <p:nvPr/>
        </p:nvSpPr>
        <p:spPr>
          <a:xfrm>
            <a:off x="274320" y="3639312"/>
            <a:ext cx="502920" cy="1188720"/>
          </a:xfrm>
          <a:prstGeom prst="rect">
            <a:avLst/>
          </a:prstGeom>
          <a:solidFill>
            <a:srgbClr val="0D1B3E"/>
          </a:solidFill>
          <a:ln/>
        </p:spPr>
      </p:sp>
      <p:sp>
        <p:nvSpPr>
          <p:cNvPr id="29" name="Text 27"/>
          <p:cNvSpPr/>
          <p:nvPr/>
        </p:nvSpPr>
        <p:spPr>
          <a:xfrm>
            <a:off x="274320" y="3986784"/>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0" name="Text 28"/>
          <p:cNvSpPr/>
          <p:nvPr/>
        </p:nvSpPr>
        <p:spPr>
          <a:xfrm>
            <a:off x="868680" y="3712464"/>
            <a:ext cx="3493008" cy="301752"/>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Loan Prediction (Qwen + LoRA)</a:t>
            </a:r>
            <a:endParaRPr lang="en-US" sz="1150" dirty="0"/>
          </a:p>
        </p:txBody>
      </p:sp>
      <p:sp>
        <p:nvSpPr>
          <p:cNvPr id="31" name="Text 29"/>
          <p:cNvSpPr/>
          <p:nvPr/>
        </p:nvSpPr>
        <p:spPr>
          <a:xfrm>
            <a:off x="868680" y="4032504"/>
            <a:ext cx="3493008" cy="71323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Structured prompt with financial profile + verification status passed to LoRA fine-tuned Qwen LLM. Temperature, Top-p sampling &amp; repetition penalty control output.</a:t>
            </a:r>
            <a:endParaRPr lang="en-US" sz="950" dirty="0"/>
          </a:p>
        </p:txBody>
      </p:sp>
      <p:sp>
        <p:nvSpPr>
          <p:cNvPr id="32" name="Shape 30"/>
          <p:cNvSpPr/>
          <p:nvPr/>
        </p:nvSpPr>
        <p:spPr>
          <a:xfrm>
            <a:off x="4709160" y="3639312"/>
            <a:ext cx="4206240" cy="118872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3" name="Shape 31"/>
          <p:cNvSpPr/>
          <p:nvPr/>
        </p:nvSpPr>
        <p:spPr>
          <a:xfrm>
            <a:off x="4709160" y="3639312"/>
            <a:ext cx="502920" cy="1188720"/>
          </a:xfrm>
          <a:prstGeom prst="rect">
            <a:avLst/>
          </a:prstGeom>
          <a:solidFill>
            <a:srgbClr val="C62828"/>
          </a:solidFill>
          <a:ln/>
        </p:spPr>
      </p:sp>
      <p:sp>
        <p:nvSpPr>
          <p:cNvPr id="34" name="Text 32"/>
          <p:cNvSpPr/>
          <p:nvPr/>
        </p:nvSpPr>
        <p:spPr>
          <a:xfrm>
            <a:off x="4709160" y="3986784"/>
            <a:ext cx="50292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5" name="Text 33"/>
          <p:cNvSpPr/>
          <p:nvPr/>
        </p:nvSpPr>
        <p:spPr>
          <a:xfrm>
            <a:off x="5303520" y="3712464"/>
            <a:ext cx="3493008" cy="301752"/>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Result Generation</a:t>
            </a:r>
            <a:endParaRPr lang="en-US" sz="1150" dirty="0"/>
          </a:p>
        </p:txBody>
      </p:sp>
      <p:sp>
        <p:nvSpPr>
          <p:cNvPr id="36" name="Text 34"/>
          <p:cNvSpPr/>
          <p:nvPr/>
        </p:nvSpPr>
        <p:spPr>
          <a:xfrm>
            <a:off x="5303520" y="4032504"/>
            <a:ext cx="3493008" cy="713232"/>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Final output: APPROVED or REJECTED with AI-generated natural language reasoning — helping applicants and institutions understand the key decision factors.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Implementation</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Technology Stack &amp; Key Modules</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7 / 15</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024128"/>
          <a:ext cx="8595360" cy="3364992"/>
        </p:xfrm>
        <a:graphic>
          <a:graphicData uri="http://schemas.openxmlformats.org/drawingml/2006/table">
            <a:tbl>
              <a:tblPr/>
              <a:tblGrid>
                <a:gridCol w="19202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2062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Technology / Tool</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D1B3E"/>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Frontend Interface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HTML / CSS / JavaScript</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Web-based loan application form</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Document Parsing</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LlamaParse (LlamaIndex)</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OCR &amp; structured extraction from PDFs/images</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Data Verification</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LlamaIndex</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Cross-match document vs. user-entered data</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AI Prediction Model</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Qwen LLM (LoRA fine-tuned)</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Loan eligibility prediction with reasoning</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Adaptation Method</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LoRA (Low-Rank Adaptation)</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Efficient fine-tuning without full retraining</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Preprocessing</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Python (custom logic)</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EMI ratio, income calculation, feature transform</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File Storage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UUID-based folder structure</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tc>
                  <a:txBody>
                    <a:bodyPr/>
                    <a:lstStyle/>
                    <a:p>
                      <a:pPr marL="0" indent="0">
                        <a:buNone/>
                      </a:pPr>
                      <a:r>
                        <a:rPr lang="en-US" sz="1050" dirty="0">
                          <a:solidFill>
                            <a:srgbClr val="546E7A"/>
                          </a:solidFill>
                          <a:latin typeface="Calibri" pitchFamily="34" charset="0"/>
                          <a:ea typeface="Calibri" pitchFamily="34" charset="-122"/>
                          <a:cs typeface="Calibri" pitchFamily="34" charset="-120"/>
                        </a:rPr>
                        <a:t>Conflict-free document file management</a:t>
                      </a:r>
                      <a:endParaRPr lang="en-US" sz="1050" dirty="0">
                        <a:latin typeface="Calibri" charset="0"/>
                        <a:ea typeface="Calibri" charset="0"/>
                        <a:cs typeface="Calibri" charset="0"/>
                      </a:endParaRPr>
                    </a:p>
                  </a:txBody>
                  <a:tcPr>
                    <a:lnL w="6350" cap="flat" cmpd="sng" algn="ctr">
                      <a:solidFill>
                        <a:srgbClr val="D0D8E8"/>
                      </a:solidFill>
                      <a:prstDash val="solid"/>
                      <a:round/>
                      <a:headEnd type="none" w="med" len="med"/>
                      <a:tailEnd type="none" w="med" len="med"/>
                    </a:lnL>
                    <a:lnR w="6350" cap="flat" cmpd="sng" algn="ctr">
                      <a:solidFill>
                        <a:srgbClr val="D0D8E8"/>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Implementation — Project Files</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Key Source Files &amp; Their Roles</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8 / 15</a:t>
            </a:r>
            <a:endParaRPr lang="en-US" sz="900" dirty="0"/>
          </a:p>
        </p:txBody>
      </p:sp>
      <p:sp>
        <p:nvSpPr>
          <p:cNvPr id="7" name="Shape 5"/>
          <p:cNvSpPr/>
          <p:nvPr/>
        </p:nvSpPr>
        <p:spPr>
          <a:xfrm>
            <a:off x="256032" y="987552"/>
            <a:ext cx="4251960" cy="18288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8" name="Shape 6"/>
          <p:cNvSpPr/>
          <p:nvPr/>
        </p:nvSpPr>
        <p:spPr>
          <a:xfrm>
            <a:off x="256032" y="987552"/>
            <a:ext cx="4251960" cy="64008"/>
          </a:xfrm>
          <a:prstGeom prst="rect">
            <a:avLst/>
          </a:prstGeom>
          <a:solidFill>
            <a:srgbClr val="1565C0"/>
          </a:solidFill>
          <a:ln/>
        </p:spPr>
      </p:sp>
      <p:sp>
        <p:nvSpPr>
          <p:cNvPr id="9" name="Shape 7"/>
          <p:cNvSpPr/>
          <p:nvPr/>
        </p:nvSpPr>
        <p:spPr>
          <a:xfrm>
            <a:off x="393192" y="1133856"/>
            <a:ext cx="420624" cy="420624"/>
          </a:xfrm>
          <a:prstGeom prst="ellipse">
            <a:avLst/>
          </a:prstGeom>
          <a:solidFill>
            <a:srgbClr val="1565C0">
              <a:alpha val="85000"/>
            </a:srgbClr>
          </a:solidFill>
          <a:ln/>
        </p:spPr>
      </p:sp>
      <p:pic>
        <p:nvPicPr>
          <p:cNvPr id="10" name="Image 0" descr="preencoded.png"/>
          <p:cNvPicPr>
            <a:picLocks noChangeAspect="1"/>
          </p:cNvPicPr>
          <p:nvPr/>
        </p:nvPicPr>
        <p:blipFill>
          <a:blip r:embed="rId3"/>
          <a:stretch>
            <a:fillRect/>
          </a:stretch>
        </p:blipFill>
        <p:spPr>
          <a:xfrm>
            <a:off x="429768" y="1161288"/>
            <a:ext cx="347472" cy="347472"/>
          </a:xfrm>
          <a:prstGeom prst="rect">
            <a:avLst/>
          </a:prstGeom>
        </p:spPr>
      </p:pic>
      <p:sp>
        <p:nvSpPr>
          <p:cNvPr id="11" name="Shape 8"/>
          <p:cNvSpPr/>
          <p:nvPr/>
        </p:nvSpPr>
        <p:spPr>
          <a:xfrm>
            <a:off x="914400" y="1133856"/>
            <a:ext cx="960120" cy="246888"/>
          </a:xfrm>
          <a:prstGeom prst="rect">
            <a:avLst/>
          </a:prstGeom>
          <a:solidFill>
            <a:srgbClr val="1565C0"/>
          </a:solidFill>
          <a:ln/>
        </p:spPr>
      </p:sp>
      <p:sp>
        <p:nvSpPr>
          <p:cNvPr id="12" name="Text 9"/>
          <p:cNvSpPr/>
          <p:nvPr/>
        </p:nvSpPr>
        <p:spPr>
          <a:xfrm>
            <a:off x="914400" y="1133856"/>
            <a:ext cx="960120"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app.py</a:t>
            </a:r>
            <a:endParaRPr lang="en-US" sz="950" dirty="0"/>
          </a:p>
        </p:txBody>
      </p:sp>
      <p:sp>
        <p:nvSpPr>
          <p:cNvPr id="13" name="Text 10"/>
          <p:cNvSpPr/>
          <p:nvPr/>
        </p:nvSpPr>
        <p:spPr>
          <a:xfrm>
            <a:off x="1975104" y="1143000"/>
            <a:ext cx="2423160" cy="237744"/>
          </a:xfrm>
          <a:prstGeom prst="rect">
            <a:avLst/>
          </a:prstGeom>
          <a:noFill/>
          <a:ln/>
        </p:spPr>
        <p:txBody>
          <a:bodyPr wrap="square" lIns="0" tIns="0" rIns="0" bIns="0"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Flask Application Backbone</a:t>
            </a:r>
            <a:endParaRPr lang="en-US" sz="1000" dirty="0"/>
          </a:p>
        </p:txBody>
      </p:sp>
      <p:sp>
        <p:nvSpPr>
          <p:cNvPr id="14" name="Text 11"/>
          <p:cNvSpPr/>
          <p:nvPr/>
        </p:nvSpPr>
        <p:spPr>
          <a:xfrm>
            <a:off x="393192" y="1490472"/>
            <a:ext cx="4005072" cy="1261872"/>
          </a:xfrm>
          <a:prstGeom prst="rect">
            <a:avLst/>
          </a:prstGeom>
          <a:noFill/>
          <a:ln/>
        </p:spPr>
        <p:txBody>
          <a:bodyPr wrap="square" lIns="0" tIns="0" rIns="0" bIns="0" rtlCol="0" anchor="ctr"/>
          <a:lstStyle/>
          <a:p>
            <a:pPr marL="0" indent="0">
              <a:buNone/>
            </a:pPr>
            <a:r>
              <a:rPr lang="en-US" sz="900" dirty="0">
                <a:solidFill>
                  <a:srgbClr val="546E7A"/>
                </a:solidFill>
                <a:latin typeface="Calibri" pitchFamily="34" charset="0"/>
                <a:ea typeface="Calibri" pitchFamily="34" charset="-122"/>
                <a:cs typeface="Calibri" pitchFamily="34" charset="-120"/>
              </a:rPr>
              <a:t>Serves as the backbone of the system built on Flask. Manages user sessions, file uploads and routing across the two-step application process. The Qwen model is loaded once at startup to avoid repeated overhead, and each submission triggers document verification, loan prediction and KPI logging. Error handling is implemented at both route and global level for graceful failure recovery.</a:t>
            </a:r>
            <a:endParaRPr lang="en-US" sz="900" dirty="0"/>
          </a:p>
        </p:txBody>
      </p:sp>
      <p:sp>
        <p:nvSpPr>
          <p:cNvPr id="15" name="Shape 12"/>
          <p:cNvSpPr/>
          <p:nvPr/>
        </p:nvSpPr>
        <p:spPr>
          <a:xfrm>
            <a:off x="4700016" y="987552"/>
            <a:ext cx="4251960" cy="18288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6" name="Shape 13"/>
          <p:cNvSpPr/>
          <p:nvPr/>
        </p:nvSpPr>
        <p:spPr>
          <a:xfrm>
            <a:off x="4700016" y="987552"/>
            <a:ext cx="4251960" cy="64008"/>
          </a:xfrm>
          <a:prstGeom prst="rect">
            <a:avLst/>
          </a:prstGeom>
          <a:solidFill>
            <a:srgbClr val="00ACC1"/>
          </a:solidFill>
          <a:ln/>
        </p:spPr>
      </p:sp>
      <p:sp>
        <p:nvSpPr>
          <p:cNvPr id="17" name="Shape 14"/>
          <p:cNvSpPr/>
          <p:nvPr/>
        </p:nvSpPr>
        <p:spPr>
          <a:xfrm>
            <a:off x="4837176" y="1133856"/>
            <a:ext cx="420624" cy="420624"/>
          </a:xfrm>
          <a:prstGeom prst="ellipse">
            <a:avLst/>
          </a:prstGeom>
          <a:solidFill>
            <a:srgbClr val="00ACC1">
              <a:alpha val="85000"/>
            </a:srgbClr>
          </a:solidFill>
          <a:ln/>
        </p:spPr>
      </p:sp>
      <p:pic>
        <p:nvPicPr>
          <p:cNvPr id="18" name="Image 1" descr="preencoded.png"/>
          <p:cNvPicPr>
            <a:picLocks noChangeAspect="1"/>
          </p:cNvPicPr>
          <p:nvPr/>
        </p:nvPicPr>
        <p:blipFill>
          <a:blip r:embed="rId4"/>
          <a:stretch>
            <a:fillRect/>
          </a:stretch>
        </p:blipFill>
        <p:spPr>
          <a:xfrm>
            <a:off x="4873752" y="1161288"/>
            <a:ext cx="347472" cy="347472"/>
          </a:xfrm>
          <a:prstGeom prst="rect">
            <a:avLst/>
          </a:prstGeom>
        </p:spPr>
      </p:pic>
      <p:sp>
        <p:nvSpPr>
          <p:cNvPr id="19" name="Shape 15"/>
          <p:cNvSpPr/>
          <p:nvPr/>
        </p:nvSpPr>
        <p:spPr>
          <a:xfrm>
            <a:off x="5358384" y="1133856"/>
            <a:ext cx="960120" cy="246888"/>
          </a:xfrm>
          <a:prstGeom prst="rect">
            <a:avLst/>
          </a:prstGeom>
          <a:solidFill>
            <a:srgbClr val="00ACC1"/>
          </a:solidFill>
          <a:ln/>
        </p:spPr>
      </p:sp>
      <p:sp>
        <p:nvSpPr>
          <p:cNvPr id="20" name="Text 16"/>
          <p:cNvSpPr/>
          <p:nvPr/>
        </p:nvSpPr>
        <p:spPr>
          <a:xfrm>
            <a:off x="5358384" y="1133856"/>
            <a:ext cx="960120"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prediction.py</a:t>
            </a:r>
            <a:endParaRPr lang="en-US" sz="950" dirty="0"/>
          </a:p>
        </p:txBody>
      </p:sp>
      <p:sp>
        <p:nvSpPr>
          <p:cNvPr id="21" name="Text 17"/>
          <p:cNvSpPr/>
          <p:nvPr/>
        </p:nvSpPr>
        <p:spPr>
          <a:xfrm>
            <a:off x="6419088" y="1143000"/>
            <a:ext cx="2423160" cy="237744"/>
          </a:xfrm>
          <a:prstGeom prst="rect">
            <a:avLst/>
          </a:prstGeom>
          <a:noFill/>
          <a:ln/>
        </p:spPr>
        <p:txBody>
          <a:bodyPr wrap="square" lIns="0" tIns="0" rIns="0" bIns="0" rtlCol="0" anchor="ctr"/>
          <a:lstStyle/>
          <a:p>
            <a:pPr marL="0" indent="0">
              <a:buNone/>
            </a:pPr>
            <a:r>
              <a:rPr lang="en-US" sz="1000" b="1" dirty="0">
                <a:solidFill>
                  <a:srgbClr val="00ACC1"/>
                </a:solidFill>
                <a:latin typeface="Calibri" pitchFamily="34" charset="0"/>
                <a:ea typeface="Calibri" pitchFamily="34" charset="-122"/>
                <a:cs typeface="Calibri" pitchFamily="34" charset="-120"/>
              </a:rPr>
              <a:t>AI Intelligence Engine</a:t>
            </a:r>
            <a:endParaRPr lang="en-US" sz="1000" dirty="0"/>
          </a:p>
        </p:txBody>
      </p:sp>
      <p:sp>
        <p:nvSpPr>
          <p:cNvPr id="22" name="Text 18"/>
          <p:cNvSpPr/>
          <p:nvPr/>
        </p:nvSpPr>
        <p:spPr>
          <a:xfrm>
            <a:off x="4837176" y="1490472"/>
            <a:ext cx="4005072" cy="1261872"/>
          </a:xfrm>
          <a:prstGeom prst="rect">
            <a:avLst/>
          </a:prstGeom>
          <a:noFill/>
          <a:ln/>
        </p:spPr>
        <p:txBody>
          <a:bodyPr wrap="square" lIns="0" tIns="0" rIns="0" bIns="0" rtlCol="0" anchor="ctr"/>
          <a:lstStyle/>
          <a:p>
            <a:pPr marL="0" indent="0">
              <a:buNone/>
            </a:pPr>
            <a:r>
              <a:rPr lang="en-US" sz="900" dirty="0">
                <a:solidFill>
                  <a:srgbClr val="546E7A"/>
                </a:solidFill>
                <a:latin typeface="Calibri" pitchFamily="34" charset="0"/>
                <a:ea typeface="Calibri" pitchFamily="34" charset="-122"/>
                <a:cs typeface="Calibri" pitchFamily="34" charset="-120"/>
              </a:rPr>
              <a:t>Handles the two core intelligence tasks — document parsing and loan decision generation. LlamaParse extracts key fields such as name, CIBIL score and income from uploaded documents, while a rule-based engine evaluates hard rejection criteria. The fine-tuned Qwen LLM then generates natural-language reasoning for the decision, combining rule-based logic with explainable AI for transparency.</a:t>
            </a:r>
            <a:endParaRPr lang="en-US" sz="900" dirty="0"/>
          </a:p>
        </p:txBody>
      </p:sp>
      <p:sp>
        <p:nvSpPr>
          <p:cNvPr id="23" name="Shape 19"/>
          <p:cNvSpPr/>
          <p:nvPr/>
        </p:nvSpPr>
        <p:spPr>
          <a:xfrm>
            <a:off x="256032" y="2944368"/>
            <a:ext cx="4251960" cy="18288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4" name="Shape 20"/>
          <p:cNvSpPr/>
          <p:nvPr/>
        </p:nvSpPr>
        <p:spPr>
          <a:xfrm>
            <a:off x="256032" y="2944368"/>
            <a:ext cx="4251960" cy="64008"/>
          </a:xfrm>
          <a:prstGeom prst="rect">
            <a:avLst/>
          </a:prstGeom>
          <a:solidFill>
            <a:srgbClr val="F9A825"/>
          </a:solidFill>
          <a:ln/>
        </p:spPr>
      </p:sp>
      <p:sp>
        <p:nvSpPr>
          <p:cNvPr id="25" name="Shape 21"/>
          <p:cNvSpPr/>
          <p:nvPr/>
        </p:nvSpPr>
        <p:spPr>
          <a:xfrm>
            <a:off x="393192" y="3090672"/>
            <a:ext cx="420624" cy="420624"/>
          </a:xfrm>
          <a:prstGeom prst="ellipse">
            <a:avLst/>
          </a:prstGeom>
          <a:solidFill>
            <a:srgbClr val="F9A825">
              <a:alpha val="85000"/>
            </a:srgbClr>
          </a:solidFill>
          <a:ln/>
        </p:spPr>
      </p:sp>
      <p:pic>
        <p:nvPicPr>
          <p:cNvPr id="26" name="Image 2" descr="preencoded.png"/>
          <p:cNvPicPr>
            <a:picLocks noChangeAspect="1"/>
          </p:cNvPicPr>
          <p:nvPr/>
        </p:nvPicPr>
        <p:blipFill>
          <a:blip r:embed="rId5"/>
          <a:stretch>
            <a:fillRect/>
          </a:stretch>
        </p:blipFill>
        <p:spPr>
          <a:xfrm>
            <a:off x="429768" y="3118104"/>
            <a:ext cx="347472" cy="347472"/>
          </a:xfrm>
          <a:prstGeom prst="rect">
            <a:avLst/>
          </a:prstGeom>
        </p:spPr>
      </p:pic>
      <p:sp>
        <p:nvSpPr>
          <p:cNvPr id="27" name="Shape 22"/>
          <p:cNvSpPr/>
          <p:nvPr/>
        </p:nvSpPr>
        <p:spPr>
          <a:xfrm>
            <a:off x="914400" y="3090672"/>
            <a:ext cx="960120" cy="246888"/>
          </a:xfrm>
          <a:prstGeom prst="rect">
            <a:avLst/>
          </a:prstGeom>
          <a:solidFill>
            <a:srgbClr val="F9A825"/>
          </a:solidFill>
          <a:ln/>
        </p:spPr>
      </p:sp>
      <p:sp>
        <p:nvSpPr>
          <p:cNvPr id="28" name="Text 23"/>
          <p:cNvSpPr/>
          <p:nvPr/>
        </p:nvSpPr>
        <p:spPr>
          <a:xfrm>
            <a:off x="914400" y="3090672"/>
            <a:ext cx="960120"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index.html</a:t>
            </a:r>
            <a:endParaRPr lang="en-US" sz="950" dirty="0"/>
          </a:p>
        </p:txBody>
      </p:sp>
      <p:sp>
        <p:nvSpPr>
          <p:cNvPr id="29" name="Text 24"/>
          <p:cNvSpPr/>
          <p:nvPr/>
        </p:nvSpPr>
        <p:spPr>
          <a:xfrm>
            <a:off x="1975104" y="3099816"/>
            <a:ext cx="2423160" cy="237744"/>
          </a:xfrm>
          <a:prstGeom prst="rect">
            <a:avLst/>
          </a:prstGeom>
          <a:noFill/>
          <a:ln/>
        </p:spPr>
        <p:txBody>
          <a:bodyPr wrap="square" lIns="0" tIns="0" rIns="0" bIns="0" rtlCol="0" anchor="ctr"/>
          <a:lstStyle/>
          <a:p>
            <a:pPr marL="0" indent="0">
              <a:buNone/>
            </a:pPr>
            <a:r>
              <a:rPr lang="en-US" sz="1000" b="1" dirty="0">
                <a:solidFill>
                  <a:srgbClr val="F9A825"/>
                </a:solidFill>
                <a:latin typeface="Calibri" pitchFamily="34" charset="0"/>
                <a:ea typeface="Calibri" pitchFamily="34" charset="-122"/>
                <a:cs typeface="Calibri" pitchFamily="34" charset="-120"/>
              </a:rPr>
              <a:t>Frontend Application Interface</a:t>
            </a:r>
            <a:endParaRPr lang="en-US" sz="1000" dirty="0"/>
          </a:p>
        </p:txBody>
      </p:sp>
      <p:sp>
        <p:nvSpPr>
          <p:cNvPr id="30" name="Text 25"/>
          <p:cNvSpPr/>
          <p:nvPr/>
        </p:nvSpPr>
        <p:spPr>
          <a:xfrm>
            <a:off x="393192" y="3447288"/>
            <a:ext cx="4005072" cy="1261872"/>
          </a:xfrm>
          <a:prstGeom prst="rect">
            <a:avLst/>
          </a:prstGeom>
          <a:noFill/>
          <a:ln/>
        </p:spPr>
        <p:txBody>
          <a:bodyPr wrap="square" lIns="0" tIns="0" rIns="0" bIns="0" rtlCol="0" anchor="ctr"/>
          <a:lstStyle/>
          <a:p>
            <a:pPr marL="0" indent="0">
              <a:buNone/>
            </a:pPr>
            <a:r>
              <a:rPr lang="en-US" sz="900" dirty="0">
                <a:solidFill>
                  <a:srgbClr val="546E7A"/>
                </a:solidFill>
                <a:latin typeface="Calibri" pitchFamily="34" charset="0"/>
                <a:ea typeface="Calibri" pitchFamily="34" charset="-122"/>
                <a:cs typeface="Calibri" pitchFamily="34" charset="-120"/>
              </a:rPr>
              <a:t>Defines the frontend interface structured as a two-step form using Bootstrap 5. Step 1 collects personal and financial details — income, CIBIL score, loan amount and employment status. Step 2 handles document uploads including Government ID, salary slip and CIBIL statement. JavaScript fetch calls manage smooth step transitions without full page reloads.</a:t>
            </a:r>
            <a:endParaRPr lang="en-US" sz="900" dirty="0"/>
          </a:p>
        </p:txBody>
      </p:sp>
      <p:sp>
        <p:nvSpPr>
          <p:cNvPr id="31" name="Shape 26"/>
          <p:cNvSpPr/>
          <p:nvPr/>
        </p:nvSpPr>
        <p:spPr>
          <a:xfrm>
            <a:off x="4700016" y="2944368"/>
            <a:ext cx="4251960" cy="18288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32" name="Shape 27"/>
          <p:cNvSpPr/>
          <p:nvPr/>
        </p:nvSpPr>
        <p:spPr>
          <a:xfrm>
            <a:off x="4700016" y="2944368"/>
            <a:ext cx="4251960" cy="64008"/>
          </a:xfrm>
          <a:prstGeom prst="rect">
            <a:avLst/>
          </a:prstGeom>
          <a:solidFill>
            <a:srgbClr val="2E7D32"/>
          </a:solidFill>
          <a:ln/>
        </p:spPr>
      </p:sp>
      <p:sp>
        <p:nvSpPr>
          <p:cNvPr id="33" name="Shape 28"/>
          <p:cNvSpPr/>
          <p:nvPr/>
        </p:nvSpPr>
        <p:spPr>
          <a:xfrm>
            <a:off x="4837176" y="3090672"/>
            <a:ext cx="420624" cy="420624"/>
          </a:xfrm>
          <a:prstGeom prst="ellipse">
            <a:avLst/>
          </a:prstGeom>
          <a:solidFill>
            <a:srgbClr val="2E7D32">
              <a:alpha val="85000"/>
            </a:srgbClr>
          </a:solidFill>
          <a:ln/>
        </p:spPr>
      </p:sp>
      <p:pic>
        <p:nvPicPr>
          <p:cNvPr id="34" name="Image 3" descr="preencoded.png"/>
          <p:cNvPicPr>
            <a:picLocks noChangeAspect="1"/>
          </p:cNvPicPr>
          <p:nvPr/>
        </p:nvPicPr>
        <p:blipFill>
          <a:blip r:embed="rId6"/>
          <a:stretch>
            <a:fillRect/>
          </a:stretch>
        </p:blipFill>
        <p:spPr>
          <a:xfrm>
            <a:off x="4873752" y="3118104"/>
            <a:ext cx="347472" cy="347472"/>
          </a:xfrm>
          <a:prstGeom prst="rect">
            <a:avLst/>
          </a:prstGeom>
        </p:spPr>
      </p:pic>
      <p:sp>
        <p:nvSpPr>
          <p:cNvPr id="35" name="Shape 29"/>
          <p:cNvSpPr/>
          <p:nvPr/>
        </p:nvSpPr>
        <p:spPr>
          <a:xfrm>
            <a:off x="5358384" y="3090672"/>
            <a:ext cx="960120" cy="246888"/>
          </a:xfrm>
          <a:prstGeom prst="rect">
            <a:avLst/>
          </a:prstGeom>
          <a:solidFill>
            <a:srgbClr val="2E7D32"/>
          </a:solidFill>
          <a:ln/>
        </p:spPr>
      </p:sp>
      <p:sp>
        <p:nvSpPr>
          <p:cNvPr id="36" name="Text 30"/>
          <p:cNvSpPr/>
          <p:nvPr/>
        </p:nvSpPr>
        <p:spPr>
          <a:xfrm>
            <a:off x="5358384" y="3090672"/>
            <a:ext cx="960120" cy="2468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result.html</a:t>
            </a:r>
            <a:endParaRPr lang="en-US" sz="950" dirty="0"/>
          </a:p>
        </p:txBody>
      </p:sp>
      <p:sp>
        <p:nvSpPr>
          <p:cNvPr id="37" name="Text 31"/>
          <p:cNvSpPr/>
          <p:nvPr/>
        </p:nvSpPr>
        <p:spPr>
          <a:xfrm>
            <a:off x="6419088" y="3099816"/>
            <a:ext cx="2423160" cy="237744"/>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Decision Result Template</a:t>
            </a:r>
            <a:endParaRPr lang="en-US" sz="1000" dirty="0"/>
          </a:p>
        </p:txBody>
      </p:sp>
      <p:sp>
        <p:nvSpPr>
          <p:cNvPr id="38" name="Text 32"/>
          <p:cNvSpPr/>
          <p:nvPr/>
        </p:nvSpPr>
        <p:spPr>
          <a:xfrm>
            <a:off x="4837176" y="3447288"/>
            <a:ext cx="4005072" cy="1261872"/>
          </a:xfrm>
          <a:prstGeom prst="rect">
            <a:avLst/>
          </a:prstGeom>
          <a:noFill/>
          <a:ln/>
        </p:spPr>
        <p:txBody>
          <a:bodyPr wrap="square" lIns="0" tIns="0" rIns="0" bIns="0" rtlCol="0" anchor="ctr"/>
          <a:lstStyle/>
          <a:p>
            <a:pPr marL="0" indent="0">
              <a:buNone/>
            </a:pPr>
            <a:r>
              <a:rPr lang="en-US" sz="900" dirty="0">
                <a:solidFill>
                  <a:srgbClr val="546E7A"/>
                </a:solidFill>
                <a:latin typeface="Calibri" pitchFamily="34" charset="0"/>
                <a:ea typeface="Calibri" pitchFamily="34" charset="-122"/>
                <a:cs typeface="Calibri" pitchFamily="34" charset="-120"/>
              </a:rPr>
              <a:t>Renders the final loan decision returned by the Flask backend after model inference. Displays applicant details, the LLM-generated reasoning in a styled text box and the final Approved or Rejected verdict with distinct color coding. Navigation buttons allow the user to either reapply or visit the KPI dashboard for insights.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 Case 1: Loan Approved</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Applicant: Rajesh Kumar Sharma  | Income: 74800  |   CIBIL: 792 | Dependents: 2  |  Loan: ₹10,00,000  |  Decision: APPROVED</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9 / 15</a:t>
            </a:r>
            <a:endParaRPr lang="en-US" sz="900" dirty="0"/>
          </a:p>
        </p:txBody>
      </p:sp>
      <p:sp>
        <p:nvSpPr>
          <p:cNvPr id="7" name="Shape 5"/>
          <p:cNvSpPr/>
          <p:nvPr/>
        </p:nvSpPr>
        <p:spPr>
          <a:xfrm>
            <a:off x="256032" y="1051560"/>
            <a:ext cx="2743200" cy="292608"/>
          </a:xfrm>
          <a:prstGeom prst="rect">
            <a:avLst/>
          </a:prstGeom>
          <a:solidFill>
            <a:srgbClr val="1565C0"/>
          </a:solidFill>
          <a:ln/>
        </p:spPr>
      </p:sp>
      <p:sp>
        <p:nvSpPr>
          <p:cNvPr id="8" name="Text 6"/>
          <p:cNvSpPr/>
          <p:nvPr/>
        </p:nvSpPr>
        <p:spPr>
          <a:xfrm>
            <a:off x="256032"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1  |  Applicant Details</a:t>
            </a:r>
            <a:endParaRPr lang="en-US" sz="950" dirty="0"/>
          </a:p>
        </p:txBody>
      </p:sp>
      <p:sp>
        <p:nvSpPr>
          <p:cNvPr id="9" name="Shape 7"/>
          <p:cNvSpPr/>
          <p:nvPr/>
        </p:nvSpPr>
        <p:spPr>
          <a:xfrm>
            <a:off x="256032"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sp>
        <p:nvSpPr>
          <p:cNvPr id="11" name="Shape 8"/>
          <p:cNvSpPr/>
          <p:nvPr/>
        </p:nvSpPr>
        <p:spPr>
          <a:xfrm>
            <a:off x="3200400" y="1051560"/>
            <a:ext cx="2743200" cy="292608"/>
          </a:xfrm>
          <a:prstGeom prst="rect">
            <a:avLst/>
          </a:prstGeom>
          <a:solidFill>
            <a:srgbClr val="00ACC1"/>
          </a:solidFill>
          <a:ln/>
        </p:spPr>
      </p:sp>
      <p:sp>
        <p:nvSpPr>
          <p:cNvPr id="12" name="Text 9"/>
          <p:cNvSpPr/>
          <p:nvPr/>
        </p:nvSpPr>
        <p:spPr>
          <a:xfrm>
            <a:off x="3200400"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2  |  Document Upload</a:t>
            </a:r>
            <a:endParaRPr lang="en-US" sz="950" dirty="0"/>
          </a:p>
        </p:txBody>
      </p:sp>
      <p:sp>
        <p:nvSpPr>
          <p:cNvPr id="13" name="Shape 10"/>
          <p:cNvSpPr/>
          <p:nvPr/>
        </p:nvSpPr>
        <p:spPr>
          <a:xfrm>
            <a:off x="3200400"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sp>
        <p:nvSpPr>
          <p:cNvPr id="15" name="Shape 11"/>
          <p:cNvSpPr/>
          <p:nvPr/>
        </p:nvSpPr>
        <p:spPr>
          <a:xfrm>
            <a:off x="6144768" y="1051560"/>
            <a:ext cx="2743200" cy="292608"/>
          </a:xfrm>
          <a:prstGeom prst="rect">
            <a:avLst/>
          </a:prstGeom>
          <a:solidFill>
            <a:srgbClr val="2E7D32"/>
          </a:solidFill>
          <a:ln/>
        </p:spPr>
      </p:sp>
      <p:sp>
        <p:nvSpPr>
          <p:cNvPr id="16" name="Text 12"/>
          <p:cNvSpPr/>
          <p:nvPr/>
        </p:nvSpPr>
        <p:spPr>
          <a:xfrm>
            <a:off x="6144768"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3  |  Loan Prediction Result</a:t>
            </a:r>
            <a:endParaRPr lang="en-US" sz="950" dirty="0"/>
          </a:p>
        </p:txBody>
      </p:sp>
      <p:sp>
        <p:nvSpPr>
          <p:cNvPr id="17" name="Shape 13"/>
          <p:cNvSpPr/>
          <p:nvPr/>
        </p:nvSpPr>
        <p:spPr>
          <a:xfrm>
            <a:off x="6144768"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20" name="Picture 19">
            <a:extLst>
              <a:ext uri="{FF2B5EF4-FFF2-40B4-BE49-F238E27FC236}">
                <a16:creationId xmlns:a16="http://schemas.microsoft.com/office/drawing/2014/main" id="{80E0BF90-6E0A-F5D6-E47E-4C1C21DBDAC8}"/>
              </a:ext>
            </a:extLst>
          </p:cNvPr>
          <p:cNvPicPr>
            <a:picLocks noChangeAspect="1"/>
          </p:cNvPicPr>
          <p:nvPr/>
        </p:nvPicPr>
        <p:blipFill>
          <a:blip r:embed="rId3"/>
          <a:stretch>
            <a:fillRect/>
          </a:stretch>
        </p:blipFill>
        <p:spPr>
          <a:xfrm>
            <a:off x="256032" y="1380744"/>
            <a:ext cx="2743201" cy="2926064"/>
          </a:xfrm>
          <a:prstGeom prst="rect">
            <a:avLst/>
          </a:prstGeom>
        </p:spPr>
      </p:pic>
      <p:pic>
        <p:nvPicPr>
          <p:cNvPr id="22" name="Picture 21">
            <a:extLst>
              <a:ext uri="{FF2B5EF4-FFF2-40B4-BE49-F238E27FC236}">
                <a16:creationId xmlns:a16="http://schemas.microsoft.com/office/drawing/2014/main" id="{8A44166B-F65A-3233-77F6-90E2BC21A9AC}"/>
              </a:ext>
            </a:extLst>
          </p:cNvPr>
          <p:cNvPicPr>
            <a:picLocks noChangeAspect="1"/>
          </p:cNvPicPr>
          <p:nvPr/>
        </p:nvPicPr>
        <p:blipFill>
          <a:blip r:embed="rId4"/>
          <a:stretch>
            <a:fillRect/>
          </a:stretch>
        </p:blipFill>
        <p:spPr>
          <a:xfrm>
            <a:off x="3330857" y="1380744"/>
            <a:ext cx="2482286" cy="2992122"/>
          </a:xfrm>
          <a:prstGeom prst="rect">
            <a:avLst/>
          </a:prstGeom>
        </p:spPr>
      </p:pic>
      <p:pic>
        <p:nvPicPr>
          <p:cNvPr id="26" name="Picture 25">
            <a:extLst>
              <a:ext uri="{FF2B5EF4-FFF2-40B4-BE49-F238E27FC236}">
                <a16:creationId xmlns:a16="http://schemas.microsoft.com/office/drawing/2014/main" id="{FE83BB72-9B54-9453-23CA-0313D6268458}"/>
              </a:ext>
            </a:extLst>
          </p:cNvPr>
          <p:cNvPicPr>
            <a:picLocks noChangeAspect="1"/>
          </p:cNvPicPr>
          <p:nvPr/>
        </p:nvPicPr>
        <p:blipFill>
          <a:blip r:embed="rId5"/>
          <a:stretch>
            <a:fillRect/>
          </a:stretch>
        </p:blipFill>
        <p:spPr>
          <a:xfrm>
            <a:off x="6191349" y="1380744"/>
            <a:ext cx="2650038" cy="28757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 Case 2: Loan Rejected</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Applicant: Rajesh Kumar Sharma  | Income:  40000  |  CIBIL: 645  |  Dependents: 2  | Document Verification: Risk  |  Loan: ₹10,00,000  |  Decision: REJECTED</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10 / 15</a:t>
            </a:r>
            <a:endParaRPr lang="en-US" sz="900" dirty="0"/>
          </a:p>
        </p:txBody>
      </p:sp>
      <p:sp>
        <p:nvSpPr>
          <p:cNvPr id="7" name="Shape 5"/>
          <p:cNvSpPr/>
          <p:nvPr/>
        </p:nvSpPr>
        <p:spPr>
          <a:xfrm>
            <a:off x="256032" y="1051560"/>
            <a:ext cx="2743200" cy="292608"/>
          </a:xfrm>
          <a:prstGeom prst="rect">
            <a:avLst/>
          </a:prstGeom>
          <a:solidFill>
            <a:srgbClr val="1565C0"/>
          </a:solidFill>
          <a:ln/>
        </p:spPr>
      </p:sp>
      <p:sp>
        <p:nvSpPr>
          <p:cNvPr id="8" name="Text 6"/>
          <p:cNvSpPr/>
          <p:nvPr/>
        </p:nvSpPr>
        <p:spPr>
          <a:xfrm>
            <a:off x="256032"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1  |  Applicant Details</a:t>
            </a:r>
            <a:endParaRPr lang="en-US" sz="950" dirty="0"/>
          </a:p>
        </p:txBody>
      </p:sp>
      <p:sp>
        <p:nvSpPr>
          <p:cNvPr id="9" name="Shape 7"/>
          <p:cNvSpPr/>
          <p:nvPr/>
        </p:nvSpPr>
        <p:spPr>
          <a:xfrm>
            <a:off x="256032"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0" name="Image 0" descr="/mnt/user-data/uploads/1774928659434_Screenshot_2026-03-29_114706.png"/>
          <p:cNvPicPr>
            <a:picLocks noChangeAspect="1"/>
          </p:cNvPicPr>
          <p:nvPr/>
        </p:nvPicPr>
        <p:blipFill>
          <a:blip r:embed="rId3"/>
          <a:srcRect/>
          <a:stretch/>
        </p:blipFill>
        <p:spPr>
          <a:xfrm>
            <a:off x="292608" y="1380744"/>
            <a:ext cx="2670048" cy="2944368"/>
          </a:xfrm>
          <a:prstGeom prst="rect">
            <a:avLst/>
          </a:prstGeom>
        </p:spPr>
      </p:pic>
      <p:sp>
        <p:nvSpPr>
          <p:cNvPr id="11" name="Shape 8"/>
          <p:cNvSpPr/>
          <p:nvPr/>
        </p:nvSpPr>
        <p:spPr>
          <a:xfrm>
            <a:off x="3200400" y="1051560"/>
            <a:ext cx="2743200" cy="292608"/>
          </a:xfrm>
          <a:prstGeom prst="rect">
            <a:avLst/>
          </a:prstGeom>
          <a:solidFill>
            <a:srgbClr val="00ACC1"/>
          </a:solidFill>
          <a:ln/>
        </p:spPr>
      </p:sp>
      <p:sp>
        <p:nvSpPr>
          <p:cNvPr id="12" name="Text 9"/>
          <p:cNvSpPr/>
          <p:nvPr/>
        </p:nvSpPr>
        <p:spPr>
          <a:xfrm>
            <a:off x="3200400"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2  |  Document Upload</a:t>
            </a:r>
            <a:endParaRPr lang="en-US" sz="950" dirty="0"/>
          </a:p>
        </p:txBody>
      </p:sp>
      <p:sp>
        <p:nvSpPr>
          <p:cNvPr id="13" name="Shape 10"/>
          <p:cNvSpPr/>
          <p:nvPr/>
        </p:nvSpPr>
        <p:spPr>
          <a:xfrm>
            <a:off x="3200400"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4" name="Image 1" descr="/mnt/user-data/uploads/1774928681453_Screenshot_2026-03-29_120557.png"/>
          <p:cNvPicPr>
            <a:picLocks noChangeAspect="1"/>
          </p:cNvPicPr>
          <p:nvPr/>
        </p:nvPicPr>
        <p:blipFill>
          <a:blip r:embed="rId4"/>
          <a:srcRect/>
          <a:stretch/>
        </p:blipFill>
        <p:spPr>
          <a:xfrm>
            <a:off x="3236976" y="1380744"/>
            <a:ext cx="2670048" cy="2944368"/>
          </a:xfrm>
          <a:prstGeom prst="rect">
            <a:avLst/>
          </a:prstGeom>
        </p:spPr>
      </p:pic>
      <p:sp>
        <p:nvSpPr>
          <p:cNvPr id="15" name="Shape 11"/>
          <p:cNvSpPr/>
          <p:nvPr/>
        </p:nvSpPr>
        <p:spPr>
          <a:xfrm>
            <a:off x="6144768" y="1051560"/>
            <a:ext cx="2743200" cy="292608"/>
          </a:xfrm>
          <a:prstGeom prst="rect">
            <a:avLst/>
          </a:prstGeom>
          <a:solidFill>
            <a:srgbClr val="C62828"/>
          </a:solidFill>
          <a:ln/>
        </p:spPr>
      </p:sp>
      <p:sp>
        <p:nvSpPr>
          <p:cNvPr id="16" name="Text 12"/>
          <p:cNvSpPr/>
          <p:nvPr/>
        </p:nvSpPr>
        <p:spPr>
          <a:xfrm>
            <a:off x="6144768"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3  |  Loan Prediction Result</a:t>
            </a:r>
            <a:endParaRPr lang="en-US" sz="950" dirty="0"/>
          </a:p>
        </p:txBody>
      </p:sp>
      <p:sp>
        <p:nvSpPr>
          <p:cNvPr id="17" name="Shape 13"/>
          <p:cNvSpPr/>
          <p:nvPr/>
        </p:nvSpPr>
        <p:spPr>
          <a:xfrm>
            <a:off x="6144768"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8" name="Image 2" descr="/mnt/user-data/uploads/1774928703540_Screenshot_2026-03-29_115447.png"/>
          <p:cNvPicPr>
            <a:picLocks noChangeAspect="1"/>
          </p:cNvPicPr>
          <p:nvPr/>
        </p:nvPicPr>
        <p:blipFill>
          <a:blip r:embed="rId5"/>
          <a:srcRect/>
          <a:stretch/>
        </p:blipFill>
        <p:spPr>
          <a:xfrm>
            <a:off x="6181344" y="1380744"/>
            <a:ext cx="2670048" cy="29443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 Case 3: Loan Rejected</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Applicant: Rajesh Kumar Sharma  |  Income :  45000|  CIBIL: 425  |  Dependents:2   |   Loan: ₹10,00,000  |  Decision: REJECTED</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11 / 15</a:t>
            </a:r>
            <a:endParaRPr lang="en-US" sz="900" dirty="0"/>
          </a:p>
        </p:txBody>
      </p:sp>
      <p:sp>
        <p:nvSpPr>
          <p:cNvPr id="7" name="Shape 5"/>
          <p:cNvSpPr/>
          <p:nvPr/>
        </p:nvSpPr>
        <p:spPr>
          <a:xfrm>
            <a:off x="256032" y="1051560"/>
            <a:ext cx="2743200" cy="292608"/>
          </a:xfrm>
          <a:prstGeom prst="rect">
            <a:avLst/>
          </a:prstGeom>
          <a:solidFill>
            <a:srgbClr val="1565C0"/>
          </a:solidFill>
          <a:ln/>
        </p:spPr>
      </p:sp>
      <p:sp>
        <p:nvSpPr>
          <p:cNvPr id="8" name="Text 6"/>
          <p:cNvSpPr/>
          <p:nvPr/>
        </p:nvSpPr>
        <p:spPr>
          <a:xfrm>
            <a:off x="256032"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1  |  Applicant Details</a:t>
            </a:r>
            <a:endParaRPr lang="en-US" sz="950" dirty="0"/>
          </a:p>
        </p:txBody>
      </p:sp>
      <p:sp>
        <p:nvSpPr>
          <p:cNvPr id="9" name="Shape 7"/>
          <p:cNvSpPr/>
          <p:nvPr/>
        </p:nvSpPr>
        <p:spPr>
          <a:xfrm>
            <a:off x="256032"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0" name="Image 0" descr="/mnt/user-data/uploads/1774925760218_Screenshot_2026-03-29_120528.png"/>
          <p:cNvPicPr>
            <a:picLocks noChangeAspect="1"/>
          </p:cNvPicPr>
          <p:nvPr/>
        </p:nvPicPr>
        <p:blipFill>
          <a:blip r:embed="rId3"/>
          <a:srcRect/>
          <a:stretch/>
        </p:blipFill>
        <p:spPr>
          <a:xfrm>
            <a:off x="292608" y="1380744"/>
            <a:ext cx="2670048" cy="2944368"/>
          </a:xfrm>
          <a:prstGeom prst="rect">
            <a:avLst/>
          </a:prstGeom>
        </p:spPr>
      </p:pic>
      <p:sp>
        <p:nvSpPr>
          <p:cNvPr id="11" name="Shape 8"/>
          <p:cNvSpPr/>
          <p:nvPr/>
        </p:nvSpPr>
        <p:spPr>
          <a:xfrm>
            <a:off x="3200400" y="1051560"/>
            <a:ext cx="2743200" cy="292608"/>
          </a:xfrm>
          <a:prstGeom prst="rect">
            <a:avLst/>
          </a:prstGeom>
          <a:solidFill>
            <a:srgbClr val="00ACC1"/>
          </a:solidFill>
          <a:ln/>
        </p:spPr>
      </p:sp>
      <p:sp>
        <p:nvSpPr>
          <p:cNvPr id="12" name="Text 9"/>
          <p:cNvSpPr/>
          <p:nvPr/>
        </p:nvSpPr>
        <p:spPr>
          <a:xfrm>
            <a:off x="3200400"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2  |  Document Upload</a:t>
            </a:r>
            <a:endParaRPr lang="en-US" sz="950" dirty="0"/>
          </a:p>
        </p:txBody>
      </p:sp>
      <p:sp>
        <p:nvSpPr>
          <p:cNvPr id="13" name="Shape 10"/>
          <p:cNvSpPr/>
          <p:nvPr/>
        </p:nvSpPr>
        <p:spPr>
          <a:xfrm>
            <a:off x="3200400"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4" name="Image 1" descr="/mnt/user-data/uploads/1774925774588_Screenshot_2026-03-29_120557.png"/>
          <p:cNvPicPr>
            <a:picLocks noChangeAspect="1"/>
          </p:cNvPicPr>
          <p:nvPr/>
        </p:nvPicPr>
        <p:blipFill>
          <a:blip r:embed="rId4"/>
          <a:srcRect/>
          <a:stretch/>
        </p:blipFill>
        <p:spPr>
          <a:xfrm>
            <a:off x="3236976" y="1380744"/>
            <a:ext cx="2670048" cy="2944368"/>
          </a:xfrm>
          <a:prstGeom prst="rect">
            <a:avLst/>
          </a:prstGeom>
        </p:spPr>
      </p:pic>
      <p:sp>
        <p:nvSpPr>
          <p:cNvPr id="15" name="Shape 11"/>
          <p:cNvSpPr/>
          <p:nvPr/>
        </p:nvSpPr>
        <p:spPr>
          <a:xfrm>
            <a:off x="6144768" y="1051560"/>
            <a:ext cx="2743200" cy="292608"/>
          </a:xfrm>
          <a:prstGeom prst="rect">
            <a:avLst/>
          </a:prstGeom>
          <a:solidFill>
            <a:srgbClr val="C62828"/>
          </a:solidFill>
          <a:ln/>
        </p:spPr>
      </p:sp>
      <p:sp>
        <p:nvSpPr>
          <p:cNvPr id="16" name="Text 12"/>
          <p:cNvSpPr/>
          <p:nvPr/>
        </p:nvSpPr>
        <p:spPr>
          <a:xfrm>
            <a:off x="6144768"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3  |  Loan Prediction Result</a:t>
            </a:r>
            <a:endParaRPr lang="en-US" sz="950" dirty="0"/>
          </a:p>
        </p:txBody>
      </p:sp>
      <p:sp>
        <p:nvSpPr>
          <p:cNvPr id="17" name="Shape 13"/>
          <p:cNvSpPr/>
          <p:nvPr/>
        </p:nvSpPr>
        <p:spPr>
          <a:xfrm>
            <a:off x="6144768"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8" name="Image 2" descr="/mnt/user-data/uploads/1774925823772_Screenshot_2026-03-29_121000.png"/>
          <p:cNvPicPr>
            <a:picLocks noChangeAspect="1"/>
          </p:cNvPicPr>
          <p:nvPr/>
        </p:nvPicPr>
        <p:blipFill>
          <a:blip r:embed="rId5"/>
          <a:srcRect/>
          <a:stretch/>
        </p:blipFill>
        <p:spPr>
          <a:xfrm>
            <a:off x="6181344" y="1380744"/>
            <a:ext cx="2670048" cy="29443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 Case 4: Loan Rejected</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Applicant: Rajesh Kumar Sharma  |  Income: 43000  |  CIBIL: 785  |  Dependents:4  |  Loan: ₹10,00,000  |  Decision: REJECTED</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19 / 15</a:t>
            </a:r>
            <a:endParaRPr lang="en-US" sz="900" dirty="0"/>
          </a:p>
        </p:txBody>
      </p:sp>
      <p:sp>
        <p:nvSpPr>
          <p:cNvPr id="7" name="Shape 5"/>
          <p:cNvSpPr/>
          <p:nvPr/>
        </p:nvSpPr>
        <p:spPr>
          <a:xfrm>
            <a:off x="256032" y="1051560"/>
            <a:ext cx="2743200" cy="292608"/>
          </a:xfrm>
          <a:prstGeom prst="rect">
            <a:avLst/>
          </a:prstGeom>
          <a:solidFill>
            <a:srgbClr val="1565C0"/>
          </a:solidFill>
          <a:ln/>
        </p:spPr>
      </p:sp>
      <p:sp>
        <p:nvSpPr>
          <p:cNvPr id="8" name="Text 6"/>
          <p:cNvSpPr/>
          <p:nvPr/>
        </p:nvSpPr>
        <p:spPr>
          <a:xfrm>
            <a:off x="256032"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1  |  Applicant Details</a:t>
            </a:r>
            <a:endParaRPr lang="en-US" sz="950" dirty="0"/>
          </a:p>
        </p:txBody>
      </p:sp>
      <p:sp>
        <p:nvSpPr>
          <p:cNvPr id="9" name="Shape 7"/>
          <p:cNvSpPr/>
          <p:nvPr/>
        </p:nvSpPr>
        <p:spPr>
          <a:xfrm>
            <a:off x="256032"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0" name="Image 0" descr="/mnt/user-data/uploads/1774929710035_Screenshot_2026-03-31_091858.png"/>
          <p:cNvPicPr>
            <a:picLocks noChangeAspect="1"/>
          </p:cNvPicPr>
          <p:nvPr/>
        </p:nvPicPr>
        <p:blipFill>
          <a:blip r:embed="rId3"/>
          <a:srcRect/>
          <a:stretch/>
        </p:blipFill>
        <p:spPr>
          <a:xfrm>
            <a:off x="292608" y="1380744"/>
            <a:ext cx="2670048" cy="2944368"/>
          </a:xfrm>
          <a:prstGeom prst="rect">
            <a:avLst/>
          </a:prstGeom>
        </p:spPr>
      </p:pic>
      <p:sp>
        <p:nvSpPr>
          <p:cNvPr id="11" name="Shape 8"/>
          <p:cNvSpPr/>
          <p:nvPr/>
        </p:nvSpPr>
        <p:spPr>
          <a:xfrm>
            <a:off x="3200400" y="1051560"/>
            <a:ext cx="2743200" cy="292608"/>
          </a:xfrm>
          <a:prstGeom prst="rect">
            <a:avLst/>
          </a:prstGeom>
          <a:solidFill>
            <a:srgbClr val="00ACC1"/>
          </a:solidFill>
          <a:ln/>
        </p:spPr>
      </p:sp>
      <p:sp>
        <p:nvSpPr>
          <p:cNvPr id="12" name="Text 9"/>
          <p:cNvSpPr/>
          <p:nvPr/>
        </p:nvSpPr>
        <p:spPr>
          <a:xfrm>
            <a:off x="3200400"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2  |  Document Upload</a:t>
            </a:r>
            <a:endParaRPr lang="en-US" sz="950" dirty="0"/>
          </a:p>
        </p:txBody>
      </p:sp>
      <p:sp>
        <p:nvSpPr>
          <p:cNvPr id="13" name="Shape 10"/>
          <p:cNvSpPr/>
          <p:nvPr/>
        </p:nvSpPr>
        <p:spPr>
          <a:xfrm>
            <a:off x="3200400"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4" name="Image 1" descr="/mnt/user-data/uploads/1774929738447_Screenshot_2026-03-31_091930.png"/>
          <p:cNvPicPr>
            <a:picLocks noChangeAspect="1"/>
          </p:cNvPicPr>
          <p:nvPr/>
        </p:nvPicPr>
        <p:blipFill>
          <a:blip r:embed="rId4"/>
          <a:srcRect/>
          <a:stretch/>
        </p:blipFill>
        <p:spPr>
          <a:xfrm>
            <a:off x="3236976" y="1380744"/>
            <a:ext cx="2670048" cy="2944368"/>
          </a:xfrm>
          <a:prstGeom prst="rect">
            <a:avLst/>
          </a:prstGeom>
        </p:spPr>
      </p:pic>
      <p:sp>
        <p:nvSpPr>
          <p:cNvPr id="15" name="Shape 11"/>
          <p:cNvSpPr/>
          <p:nvPr/>
        </p:nvSpPr>
        <p:spPr>
          <a:xfrm>
            <a:off x="6144768" y="1051560"/>
            <a:ext cx="2743200" cy="292608"/>
          </a:xfrm>
          <a:prstGeom prst="rect">
            <a:avLst/>
          </a:prstGeom>
          <a:solidFill>
            <a:srgbClr val="C62828"/>
          </a:solidFill>
          <a:ln/>
        </p:spPr>
      </p:sp>
      <p:sp>
        <p:nvSpPr>
          <p:cNvPr id="16" name="Text 12"/>
          <p:cNvSpPr/>
          <p:nvPr/>
        </p:nvSpPr>
        <p:spPr>
          <a:xfrm>
            <a:off x="6144768" y="1051560"/>
            <a:ext cx="274320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STEP 3  |  Loan Prediction Result</a:t>
            </a:r>
            <a:endParaRPr lang="en-US" sz="950" dirty="0"/>
          </a:p>
        </p:txBody>
      </p:sp>
      <p:sp>
        <p:nvSpPr>
          <p:cNvPr id="17" name="Shape 13"/>
          <p:cNvSpPr/>
          <p:nvPr/>
        </p:nvSpPr>
        <p:spPr>
          <a:xfrm>
            <a:off x="6144768" y="1344168"/>
            <a:ext cx="2743200" cy="3017520"/>
          </a:xfrm>
          <a:prstGeom prst="rect">
            <a:avLst/>
          </a:prstGeom>
          <a:solidFill>
            <a:srgbClr val="FFFFFF"/>
          </a:solidFill>
          <a:ln w="12700">
            <a:solidFill>
              <a:srgbClr val="D0D8E8"/>
            </a:solidFill>
            <a:prstDash val="solid"/>
          </a:ln>
          <a:effectLst>
            <a:outerShdw blurRad="101600" dist="38100" dir="8100000" algn="bl" rotWithShape="0">
              <a:srgbClr val="000000">
                <a:alpha val="15000"/>
              </a:srgbClr>
            </a:outerShdw>
          </a:effectLst>
        </p:spPr>
      </p:sp>
      <p:pic>
        <p:nvPicPr>
          <p:cNvPr id="18" name="Image 2" descr="/mnt/user-data/uploads/1774930170710_Screenshot_2026-03-31_092835.png"/>
          <p:cNvPicPr>
            <a:picLocks noChangeAspect="1"/>
          </p:cNvPicPr>
          <p:nvPr/>
        </p:nvPicPr>
        <p:blipFill>
          <a:blip r:embed="rId5"/>
          <a:srcRect/>
          <a:stretch/>
        </p:blipFill>
        <p:spPr>
          <a:xfrm>
            <a:off x="6181344" y="1380744"/>
            <a:ext cx="2670048" cy="29443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5" name="Text 3"/>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19 / 15</a:t>
            </a:r>
            <a:endParaRPr lang="en-US" sz="900" dirty="0"/>
          </a:p>
        </p:txBody>
      </p:sp>
      <p:sp>
        <p:nvSpPr>
          <p:cNvPr id="6" name="Text 4"/>
          <p:cNvSpPr/>
          <p:nvPr/>
        </p:nvSpPr>
        <p:spPr>
          <a:xfrm>
            <a:off x="320040" y="987552"/>
            <a:ext cx="8503920" cy="548640"/>
          </a:xfrm>
          <a:prstGeom prst="rect">
            <a:avLst/>
          </a:prstGeom>
          <a:noFill/>
          <a:ln/>
        </p:spPr>
        <p:txBody>
          <a:bodyPr wrap="square" lIns="0" tIns="0" rIns="0" bIns="0" rtlCol="0" anchor="ctr"/>
          <a:lstStyle/>
          <a:p>
            <a:pPr marL="0" indent="0">
              <a:buNone/>
            </a:pPr>
            <a:r>
              <a:rPr lang="en-US" sz="1150" dirty="0">
                <a:solidFill>
                  <a:srgbClr val="546E7A"/>
                </a:solidFill>
                <a:latin typeface="Calibri" pitchFamily="34" charset="0"/>
                <a:ea typeface="Calibri" pitchFamily="34" charset="-122"/>
                <a:cs typeface="Calibri" pitchFamily="34" charset="-120"/>
              </a:rPr>
              <a:t>This paper presented an AI-based Loan Eligibility Prediction and Document Verification System that fully automates the loan evaluation process — filling the gap in literature between automated document verification and AI-based loan eligibility forecasting.</a:t>
            </a:r>
            <a:endParaRPr lang="en-US" sz="1150" dirty="0"/>
          </a:p>
        </p:txBody>
      </p:sp>
      <p:sp>
        <p:nvSpPr>
          <p:cNvPr id="7" name="Shape 5"/>
          <p:cNvSpPr/>
          <p:nvPr/>
        </p:nvSpPr>
        <p:spPr>
          <a:xfrm>
            <a:off x="274320" y="1691640"/>
            <a:ext cx="4206240" cy="13716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8" name="Shape 6"/>
          <p:cNvSpPr/>
          <p:nvPr/>
        </p:nvSpPr>
        <p:spPr>
          <a:xfrm>
            <a:off x="274320" y="1691640"/>
            <a:ext cx="4206240" cy="73152"/>
          </a:xfrm>
          <a:prstGeom prst="rect">
            <a:avLst/>
          </a:prstGeom>
          <a:solidFill>
            <a:srgbClr val="1565C0"/>
          </a:solidFill>
          <a:ln/>
        </p:spPr>
      </p:sp>
      <p:pic>
        <p:nvPicPr>
          <p:cNvPr id="9" name="Image 0" descr="preencoded.png"/>
          <p:cNvPicPr>
            <a:picLocks noChangeAspect="1"/>
          </p:cNvPicPr>
          <p:nvPr/>
        </p:nvPicPr>
        <p:blipFill>
          <a:blip r:embed="rId3"/>
          <a:stretch>
            <a:fillRect/>
          </a:stretch>
        </p:blipFill>
        <p:spPr>
          <a:xfrm>
            <a:off x="438912" y="1892808"/>
            <a:ext cx="384048" cy="384048"/>
          </a:xfrm>
          <a:prstGeom prst="rect">
            <a:avLst/>
          </a:prstGeom>
        </p:spPr>
      </p:pic>
      <p:sp>
        <p:nvSpPr>
          <p:cNvPr id="10" name="Text 7"/>
          <p:cNvSpPr/>
          <p:nvPr/>
        </p:nvSpPr>
        <p:spPr>
          <a:xfrm>
            <a:off x="932688" y="1874520"/>
            <a:ext cx="3401568" cy="32004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Intelligent Document Parsing</a:t>
            </a:r>
            <a:endParaRPr lang="en-US" sz="1150" dirty="0"/>
          </a:p>
        </p:txBody>
      </p:sp>
      <p:sp>
        <p:nvSpPr>
          <p:cNvPr id="11" name="Text 8"/>
          <p:cNvSpPr/>
          <p:nvPr/>
        </p:nvSpPr>
        <p:spPr>
          <a:xfrm>
            <a:off x="438912" y="2331720"/>
            <a:ext cx="3904488" cy="6400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LlamaParse extracts structured data from identity proofs, salary slips and CIBIL reports with high accuracy across PDFs and images.</a:t>
            </a:r>
            <a:endParaRPr lang="en-US" sz="950" dirty="0"/>
          </a:p>
        </p:txBody>
      </p:sp>
      <p:sp>
        <p:nvSpPr>
          <p:cNvPr id="12" name="Shape 9"/>
          <p:cNvSpPr/>
          <p:nvPr/>
        </p:nvSpPr>
        <p:spPr>
          <a:xfrm>
            <a:off x="4709160" y="1691640"/>
            <a:ext cx="4206240" cy="13716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3" name="Shape 10"/>
          <p:cNvSpPr/>
          <p:nvPr/>
        </p:nvSpPr>
        <p:spPr>
          <a:xfrm>
            <a:off x="4709160" y="1691640"/>
            <a:ext cx="4206240" cy="73152"/>
          </a:xfrm>
          <a:prstGeom prst="rect">
            <a:avLst/>
          </a:prstGeom>
          <a:solidFill>
            <a:srgbClr val="00ACC1"/>
          </a:solidFill>
          <a:ln/>
        </p:spPr>
      </p:sp>
      <p:pic>
        <p:nvPicPr>
          <p:cNvPr id="14" name="Image 1" descr="preencoded.png"/>
          <p:cNvPicPr>
            <a:picLocks noChangeAspect="1"/>
          </p:cNvPicPr>
          <p:nvPr/>
        </p:nvPicPr>
        <p:blipFill>
          <a:blip r:embed="rId4"/>
          <a:stretch>
            <a:fillRect/>
          </a:stretch>
        </p:blipFill>
        <p:spPr>
          <a:xfrm>
            <a:off x="4873752" y="1892808"/>
            <a:ext cx="384048" cy="384048"/>
          </a:xfrm>
          <a:prstGeom prst="rect">
            <a:avLst/>
          </a:prstGeom>
        </p:spPr>
      </p:pic>
      <p:sp>
        <p:nvSpPr>
          <p:cNvPr id="15" name="Text 11"/>
          <p:cNvSpPr/>
          <p:nvPr/>
        </p:nvSpPr>
        <p:spPr>
          <a:xfrm>
            <a:off x="5367528" y="1874520"/>
            <a:ext cx="3401568" cy="32004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Automated Cross-Verification</a:t>
            </a:r>
            <a:endParaRPr lang="en-US" sz="1150" dirty="0"/>
          </a:p>
        </p:txBody>
      </p:sp>
      <p:sp>
        <p:nvSpPr>
          <p:cNvPr id="16" name="Text 12"/>
          <p:cNvSpPr/>
          <p:nvPr/>
        </p:nvSpPr>
        <p:spPr>
          <a:xfrm>
            <a:off x="4873752" y="2331720"/>
            <a:ext cx="3904488" cy="6400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LlamaIndex cross-matches extracted document data vs. applicant entries, detecting mismatches and enhancing accuracy automatically.</a:t>
            </a:r>
            <a:endParaRPr lang="en-US" sz="950" dirty="0"/>
          </a:p>
        </p:txBody>
      </p:sp>
      <p:sp>
        <p:nvSpPr>
          <p:cNvPr id="17" name="Shape 13"/>
          <p:cNvSpPr/>
          <p:nvPr/>
        </p:nvSpPr>
        <p:spPr>
          <a:xfrm>
            <a:off x="274320" y="3227832"/>
            <a:ext cx="4206240" cy="13716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8" name="Shape 14"/>
          <p:cNvSpPr/>
          <p:nvPr/>
        </p:nvSpPr>
        <p:spPr>
          <a:xfrm>
            <a:off x="274320" y="3227832"/>
            <a:ext cx="4206240" cy="73152"/>
          </a:xfrm>
          <a:prstGeom prst="rect">
            <a:avLst/>
          </a:prstGeom>
          <a:solidFill>
            <a:srgbClr val="F9A825"/>
          </a:solidFill>
          <a:ln/>
        </p:spPr>
      </p:sp>
      <p:pic>
        <p:nvPicPr>
          <p:cNvPr id="19" name="Image 2" descr="preencoded.png"/>
          <p:cNvPicPr>
            <a:picLocks noChangeAspect="1"/>
          </p:cNvPicPr>
          <p:nvPr/>
        </p:nvPicPr>
        <p:blipFill>
          <a:blip r:embed="rId5"/>
          <a:stretch>
            <a:fillRect/>
          </a:stretch>
        </p:blipFill>
        <p:spPr>
          <a:xfrm>
            <a:off x="438912" y="3429000"/>
            <a:ext cx="384048" cy="384048"/>
          </a:xfrm>
          <a:prstGeom prst="rect">
            <a:avLst/>
          </a:prstGeom>
        </p:spPr>
      </p:pic>
      <p:sp>
        <p:nvSpPr>
          <p:cNvPr id="20" name="Text 15"/>
          <p:cNvSpPr/>
          <p:nvPr/>
        </p:nvSpPr>
        <p:spPr>
          <a:xfrm>
            <a:off x="932688" y="3410712"/>
            <a:ext cx="3401568" cy="32004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Explainable AI Decisions</a:t>
            </a:r>
            <a:endParaRPr lang="en-US" sz="1150" dirty="0"/>
          </a:p>
        </p:txBody>
      </p:sp>
      <p:sp>
        <p:nvSpPr>
          <p:cNvPr id="21" name="Text 16"/>
          <p:cNvSpPr/>
          <p:nvPr/>
        </p:nvSpPr>
        <p:spPr>
          <a:xfrm>
            <a:off x="438912" y="3867912"/>
            <a:ext cx="3904488" cy="6400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LoRA fine-tuned Qwen LLM delivers accurate loan predictions with transparent, human-readable reasoning for every applicant.</a:t>
            </a:r>
            <a:endParaRPr lang="en-US" sz="950" dirty="0"/>
          </a:p>
        </p:txBody>
      </p:sp>
      <p:sp>
        <p:nvSpPr>
          <p:cNvPr id="22" name="Shape 17"/>
          <p:cNvSpPr/>
          <p:nvPr/>
        </p:nvSpPr>
        <p:spPr>
          <a:xfrm>
            <a:off x="4709160" y="3227832"/>
            <a:ext cx="4206240" cy="137160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23" name="Shape 18"/>
          <p:cNvSpPr/>
          <p:nvPr/>
        </p:nvSpPr>
        <p:spPr>
          <a:xfrm>
            <a:off x="4709160" y="3227832"/>
            <a:ext cx="4206240" cy="73152"/>
          </a:xfrm>
          <a:prstGeom prst="rect">
            <a:avLst/>
          </a:prstGeom>
          <a:solidFill>
            <a:srgbClr val="2E7D32"/>
          </a:solidFill>
          <a:ln/>
        </p:spPr>
      </p:sp>
      <p:pic>
        <p:nvPicPr>
          <p:cNvPr id="24" name="Image 3" descr="preencoded.png"/>
          <p:cNvPicPr>
            <a:picLocks noChangeAspect="1"/>
          </p:cNvPicPr>
          <p:nvPr/>
        </p:nvPicPr>
        <p:blipFill>
          <a:blip r:embed="rId6"/>
          <a:stretch>
            <a:fillRect/>
          </a:stretch>
        </p:blipFill>
        <p:spPr>
          <a:xfrm>
            <a:off x="4873752" y="3429000"/>
            <a:ext cx="384048" cy="384048"/>
          </a:xfrm>
          <a:prstGeom prst="rect">
            <a:avLst/>
          </a:prstGeom>
        </p:spPr>
      </p:pic>
      <p:sp>
        <p:nvSpPr>
          <p:cNvPr id="25" name="Text 19"/>
          <p:cNvSpPr/>
          <p:nvPr/>
        </p:nvSpPr>
        <p:spPr>
          <a:xfrm>
            <a:off x="5367528" y="3410712"/>
            <a:ext cx="3401568" cy="320040"/>
          </a:xfrm>
          <a:prstGeom prst="rect">
            <a:avLst/>
          </a:prstGeom>
          <a:noFill/>
          <a:ln/>
        </p:spPr>
        <p:txBody>
          <a:bodyPr wrap="square" lIns="0" tIns="0" rIns="0" bIns="0" rtlCol="0" anchor="ctr"/>
          <a:lstStyle/>
          <a:p>
            <a:pPr marL="0" indent="0">
              <a:buNone/>
            </a:pPr>
            <a:r>
              <a:rPr lang="en-US" sz="1150" b="1" dirty="0">
                <a:solidFill>
                  <a:srgbClr val="0D1B3E"/>
                </a:solidFill>
                <a:latin typeface="Calibri" pitchFamily="34" charset="0"/>
                <a:ea typeface="Calibri" pitchFamily="34" charset="-122"/>
                <a:cs typeface="Calibri" pitchFamily="34" charset="-120"/>
              </a:rPr>
              <a:t>Significant Research Contribution</a:t>
            </a:r>
            <a:endParaRPr lang="en-US" sz="1150" dirty="0"/>
          </a:p>
        </p:txBody>
      </p:sp>
      <p:sp>
        <p:nvSpPr>
          <p:cNvPr id="26" name="Text 20"/>
          <p:cNvSpPr/>
          <p:nvPr/>
        </p:nvSpPr>
        <p:spPr>
          <a:xfrm>
            <a:off x="4873752" y="3867912"/>
            <a:ext cx="3904488" cy="640080"/>
          </a:xfrm>
          <a:prstGeom prst="rect">
            <a:avLst/>
          </a:prstGeom>
          <a:noFill/>
          <a:ln/>
        </p:spPr>
        <p:txBody>
          <a:bodyPr wrap="square" lIns="0" tIns="0" rIns="0" bIns="0" rtlCol="0" anchor="ctr"/>
          <a:lstStyle/>
          <a:p>
            <a:pPr marL="0" indent="0">
              <a:buNone/>
            </a:pPr>
            <a:r>
              <a:rPr lang="en-US" sz="950" dirty="0">
                <a:solidFill>
                  <a:srgbClr val="546E7A"/>
                </a:solidFill>
                <a:latin typeface="Calibri" pitchFamily="34" charset="0"/>
                <a:ea typeface="Calibri" pitchFamily="34" charset="-122"/>
                <a:cs typeface="Calibri" pitchFamily="34" charset="-120"/>
              </a:rPr>
              <a:t>Fills the void in existing literature by combining automated document verification with AI-based loan eligibility prediction in one unified pipeline.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p:spPr>
        <p:txBody>
          <a:bodyPr/>
          <a:lstStyle/>
          <a:p>
            <a:endParaRPr lang="en-IN" dirty="0"/>
          </a:p>
        </p:txBody>
      </p:sp>
      <p:sp>
        <p:nvSpPr>
          <p:cNvPr id="3" name="Shape 1"/>
          <p:cNvSpPr/>
          <p:nvPr/>
        </p:nvSpPr>
        <p:spPr>
          <a:xfrm>
            <a:off x="0" y="777240"/>
            <a:ext cx="9144000" cy="64008"/>
          </a:xfrm>
          <a:prstGeom prst="rect">
            <a:avLst/>
          </a:prstGeom>
          <a:solidFill>
            <a:srgbClr val="00ACC1"/>
          </a:solidFill>
          <a:ln/>
        </p:spPr>
      </p:sp>
      <p:sp>
        <p:nvSpPr>
          <p:cNvPr id="4" name="Text 2"/>
          <p:cNvSpPr/>
          <p:nvPr/>
        </p:nvSpPr>
        <p:spPr>
          <a:xfrm>
            <a:off x="320040" y="73152"/>
            <a:ext cx="850392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Published Research</a:t>
            </a:r>
            <a:endParaRPr lang="en-US" sz="2200" dirty="0"/>
          </a:p>
        </p:txBody>
      </p:sp>
      <p:sp>
        <p:nvSpPr>
          <p:cNvPr id="5" name="Text 3"/>
          <p:cNvSpPr/>
          <p:nvPr/>
        </p:nvSpPr>
        <p:spPr>
          <a:xfrm>
            <a:off x="320040" y="594360"/>
            <a:ext cx="8503920" cy="201168"/>
          </a:xfrm>
          <a:prstGeom prst="rect">
            <a:avLst/>
          </a:prstGeom>
          <a:noFill/>
          <a:ln/>
        </p:spPr>
        <p:txBody>
          <a:bodyPr wrap="square" lIns="0" tIns="0" rIns="0" bIns="0" rtlCol="0" anchor="ctr"/>
          <a:lstStyle/>
          <a:p>
            <a:pPr marL="0" indent="0">
              <a:buNone/>
            </a:pPr>
            <a:r>
              <a:rPr lang="en-US" sz="1000" dirty="0">
                <a:solidFill>
                  <a:srgbClr val="00ACC1"/>
                </a:solidFill>
                <a:latin typeface="Calibri" pitchFamily="34" charset="0"/>
                <a:ea typeface="Calibri" pitchFamily="34" charset="-122"/>
                <a:cs typeface="Calibri" pitchFamily="34" charset="-120"/>
              </a:rPr>
              <a:t>International Journal of Creative Research Thoughts (IJCRT)</a:t>
            </a:r>
            <a:endParaRPr lang="en-US" sz="1000" dirty="0"/>
          </a:p>
        </p:txBody>
      </p:sp>
      <p:sp>
        <p:nvSpPr>
          <p:cNvPr id="6" name="Text 4"/>
          <p:cNvSpPr/>
          <p:nvPr/>
        </p:nvSpPr>
        <p:spPr>
          <a:xfrm>
            <a:off x="8412480" y="4983480"/>
            <a:ext cx="548640" cy="182880"/>
          </a:xfrm>
          <a:prstGeom prst="rect">
            <a:avLst/>
          </a:prstGeom>
          <a:noFill/>
          <a:ln/>
        </p:spPr>
        <p:txBody>
          <a:bodyPr wrap="square" lIns="0" tIns="0" rIns="0" bIns="0" rtlCol="0" anchor="ctr"/>
          <a:lstStyle/>
          <a:p>
            <a:pPr marL="0" indent="0" algn="r">
              <a:buNone/>
            </a:pPr>
            <a:r>
              <a:rPr lang="en-US" sz="900" dirty="0">
                <a:solidFill>
                  <a:srgbClr val="BBBBBB"/>
                </a:solidFill>
                <a:latin typeface="Calibri" pitchFamily="34" charset="0"/>
                <a:ea typeface="Calibri" pitchFamily="34" charset="-122"/>
                <a:cs typeface="Calibri" pitchFamily="34" charset="-120"/>
              </a:rPr>
              <a:t>19 / 15</a:t>
            </a:r>
            <a:endParaRPr lang="en-US" sz="900" dirty="0"/>
          </a:p>
        </p:txBody>
      </p:sp>
      <p:sp>
        <p:nvSpPr>
          <p:cNvPr id="7" name="Shape 5"/>
          <p:cNvSpPr/>
          <p:nvPr/>
        </p:nvSpPr>
        <p:spPr>
          <a:xfrm>
            <a:off x="274320" y="1024128"/>
            <a:ext cx="8595360" cy="960120"/>
          </a:xfrm>
          <a:prstGeom prst="rect">
            <a:avLst/>
          </a:prstGeom>
          <a:solidFill>
            <a:srgbClr val="0D1B3E"/>
          </a:solidFill>
          <a:ln/>
          <a:effectLst>
            <a:outerShdw blurRad="101600" dist="38100" dir="8100000" algn="bl" rotWithShape="0">
              <a:srgbClr val="000000">
                <a:alpha val="18000"/>
              </a:srgbClr>
            </a:outerShdw>
          </a:effectLst>
        </p:spPr>
      </p:sp>
      <p:sp>
        <p:nvSpPr>
          <p:cNvPr id="8" name="Text 6"/>
          <p:cNvSpPr/>
          <p:nvPr/>
        </p:nvSpPr>
        <p:spPr>
          <a:xfrm>
            <a:off x="457200" y="1078992"/>
            <a:ext cx="8229600"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AI-Driven Loan Eligibility Prediction And Document Verification</a:t>
            </a:r>
            <a:endParaRPr lang="en-US" sz="1600" dirty="0"/>
          </a:p>
        </p:txBody>
      </p:sp>
      <p:sp>
        <p:nvSpPr>
          <p:cNvPr id="9" name="Text 7"/>
          <p:cNvSpPr/>
          <p:nvPr/>
        </p:nvSpPr>
        <p:spPr>
          <a:xfrm>
            <a:off x="457200" y="1554480"/>
            <a:ext cx="8229600" cy="292608"/>
          </a:xfrm>
          <a:prstGeom prst="rect">
            <a:avLst/>
          </a:prstGeom>
          <a:noFill/>
          <a:ln/>
        </p:spPr>
        <p:txBody>
          <a:bodyPr wrap="square" lIns="0" tIns="0" rIns="0" bIns="0" rtlCol="0" anchor="ctr"/>
          <a:lstStyle/>
          <a:p>
            <a:pPr marL="0" indent="0" algn="ctr">
              <a:buNone/>
            </a:pPr>
            <a:r>
              <a:rPr lang="en-US" sz="1000" dirty="0">
                <a:solidFill>
                  <a:srgbClr val="00ACC1"/>
                </a:solidFill>
                <a:latin typeface="Calibri" pitchFamily="34" charset="0"/>
                <a:ea typeface="Calibri" pitchFamily="34" charset="-122"/>
                <a:cs typeface="Calibri" pitchFamily="34" charset="-120"/>
              </a:rPr>
              <a:t>IJCRT  |  Volume 14, Issue 3  |  March 2026  |  ISSN: 2320-2882  |  Paper ID: IJCRT2603506</a:t>
            </a:r>
            <a:endParaRPr lang="en-US" sz="1000" dirty="0"/>
          </a:p>
        </p:txBody>
      </p:sp>
      <p:sp>
        <p:nvSpPr>
          <p:cNvPr id="10" name="Shape 8"/>
          <p:cNvSpPr/>
          <p:nvPr/>
        </p:nvSpPr>
        <p:spPr>
          <a:xfrm>
            <a:off x="274320" y="2057400"/>
            <a:ext cx="4160520" cy="260604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1" name="Shape 9"/>
          <p:cNvSpPr/>
          <p:nvPr/>
        </p:nvSpPr>
        <p:spPr>
          <a:xfrm>
            <a:off x="274320" y="2057400"/>
            <a:ext cx="4160520" cy="73152"/>
          </a:xfrm>
          <a:prstGeom prst="rect">
            <a:avLst/>
          </a:prstGeom>
          <a:solidFill>
            <a:srgbClr val="1565C0"/>
          </a:solidFill>
          <a:ln/>
        </p:spPr>
      </p:sp>
      <p:sp>
        <p:nvSpPr>
          <p:cNvPr id="12" name="Text 10"/>
          <p:cNvSpPr/>
          <p:nvPr/>
        </p:nvSpPr>
        <p:spPr>
          <a:xfrm>
            <a:off x="365760" y="2176272"/>
            <a:ext cx="3977640" cy="29260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Authors</a:t>
            </a:r>
            <a:endParaRPr lang="en-US" sz="1300" dirty="0"/>
          </a:p>
        </p:txBody>
      </p:sp>
      <p:sp>
        <p:nvSpPr>
          <p:cNvPr id="13" name="Text 11"/>
          <p:cNvSpPr/>
          <p:nvPr/>
        </p:nvSpPr>
        <p:spPr>
          <a:xfrm>
            <a:off x="411480" y="2542032"/>
            <a:ext cx="3886200" cy="1993392"/>
          </a:xfrm>
          <a:prstGeom prst="rect">
            <a:avLst/>
          </a:prstGeom>
          <a:noFill/>
          <a:ln/>
        </p:spPr>
        <p:txBody>
          <a:bodyPr wrap="square" rtlCol="0" anchor="ctr"/>
          <a:lstStyle/>
          <a:p>
            <a:pPr marL="342900" indent="-342900">
              <a:buSzPct val="100000"/>
              <a:buChar char="•"/>
            </a:pPr>
            <a:r>
              <a:rPr lang="en-US" sz="1100" dirty="0">
                <a:solidFill>
                  <a:srgbClr val="546E7A"/>
                </a:solidFill>
                <a:latin typeface="Calibri" pitchFamily="34" charset="0"/>
                <a:ea typeface="Calibri" pitchFamily="34" charset="-122"/>
                <a:cs typeface="Calibri" pitchFamily="34" charset="-120"/>
              </a:rPr>
              <a:t>Batta Chaitanya Sri</a:t>
            </a:r>
            <a:endParaRPr lang="en-US" sz="1100" dirty="0"/>
          </a:p>
          <a:p>
            <a:pPr marL="342900" indent="-342900">
              <a:buSzPct val="100000"/>
              <a:buChar char="•"/>
            </a:pPr>
            <a:r>
              <a:rPr lang="en-US" sz="1100" dirty="0">
                <a:solidFill>
                  <a:srgbClr val="546E7A"/>
                </a:solidFill>
                <a:latin typeface="Calibri" pitchFamily="34" charset="0"/>
                <a:ea typeface="Calibri" pitchFamily="34" charset="-122"/>
                <a:cs typeface="Calibri" pitchFamily="34" charset="-120"/>
              </a:rPr>
              <a:t>Dontiboina Naga Lakshmi</a:t>
            </a:r>
            <a:endParaRPr lang="en-US" sz="1100" dirty="0"/>
          </a:p>
          <a:p>
            <a:pPr marL="342900" indent="-342900">
              <a:buSzPct val="100000"/>
              <a:buChar char="•"/>
            </a:pPr>
            <a:r>
              <a:rPr lang="en-US" sz="1100" dirty="0">
                <a:solidFill>
                  <a:srgbClr val="546E7A"/>
                </a:solidFill>
                <a:latin typeface="Calibri" pitchFamily="34" charset="0"/>
                <a:ea typeface="Calibri" pitchFamily="34" charset="-122"/>
                <a:cs typeface="Calibri" pitchFamily="34" charset="-120"/>
              </a:rPr>
              <a:t>Bellam Ravindra</a:t>
            </a:r>
            <a:endParaRPr lang="en-US" sz="1100" dirty="0"/>
          </a:p>
          <a:p>
            <a:pPr marL="342900" indent="-342900">
              <a:buSzPct val="100000"/>
              <a:buChar char="•"/>
            </a:pPr>
            <a:r>
              <a:rPr lang="en-US" sz="1100" dirty="0">
                <a:solidFill>
                  <a:srgbClr val="546E7A"/>
                </a:solidFill>
                <a:latin typeface="Calibri" pitchFamily="34" charset="0"/>
                <a:ea typeface="Calibri" pitchFamily="34" charset="-122"/>
                <a:cs typeface="Calibri" pitchFamily="34" charset="-120"/>
              </a:rPr>
              <a:t>Kalagotla Peeraiah</a:t>
            </a:r>
            <a:endParaRPr lang="en-US" sz="1100" dirty="0"/>
          </a:p>
          <a:p>
            <a:pPr marL="342900" indent="-342900">
              <a:buSzPct val="100000"/>
              <a:buChar char="•"/>
            </a:pPr>
            <a:r>
              <a:rPr lang="en-US" sz="1100" dirty="0">
                <a:solidFill>
                  <a:srgbClr val="546E7A"/>
                </a:solidFill>
                <a:latin typeface="Calibri" pitchFamily="34" charset="0"/>
                <a:ea typeface="Calibri" pitchFamily="34" charset="-122"/>
                <a:cs typeface="Calibri" pitchFamily="34" charset="-120"/>
              </a:rPr>
              <a:t>Ms. Dwija Desireddy (Guide)</a:t>
            </a:r>
            <a:endParaRPr lang="en-US" sz="1100" dirty="0"/>
          </a:p>
        </p:txBody>
      </p:sp>
      <p:sp>
        <p:nvSpPr>
          <p:cNvPr id="14" name="Shape 12"/>
          <p:cNvSpPr/>
          <p:nvPr/>
        </p:nvSpPr>
        <p:spPr>
          <a:xfrm>
            <a:off x="4709160" y="2057400"/>
            <a:ext cx="4160520" cy="2606040"/>
          </a:xfrm>
          <a:prstGeom prst="rect">
            <a:avLst/>
          </a:prstGeom>
          <a:solidFill>
            <a:srgbClr val="FFFFFF"/>
          </a:solidFill>
          <a:ln w="12700">
            <a:solidFill>
              <a:srgbClr val="D0D8E8"/>
            </a:solidFill>
            <a:prstDash val="solid"/>
          </a:ln>
          <a:effectLst>
            <a:outerShdw blurRad="76200" dist="25400" dir="8100000" algn="bl" rotWithShape="0">
              <a:srgbClr val="000000">
                <a:alpha val="10000"/>
              </a:srgbClr>
            </a:outerShdw>
          </a:effectLst>
        </p:spPr>
      </p:sp>
      <p:sp>
        <p:nvSpPr>
          <p:cNvPr id="15" name="Shape 13"/>
          <p:cNvSpPr/>
          <p:nvPr/>
        </p:nvSpPr>
        <p:spPr>
          <a:xfrm>
            <a:off x="4709160" y="2057400"/>
            <a:ext cx="4160520" cy="73152"/>
          </a:xfrm>
          <a:prstGeom prst="rect">
            <a:avLst/>
          </a:prstGeom>
          <a:solidFill>
            <a:srgbClr val="00ACC1"/>
          </a:solidFill>
          <a:ln/>
        </p:spPr>
      </p:sp>
      <p:sp>
        <p:nvSpPr>
          <p:cNvPr id="16" name="Text 14"/>
          <p:cNvSpPr/>
          <p:nvPr/>
        </p:nvSpPr>
        <p:spPr>
          <a:xfrm>
            <a:off x="4800600" y="2176272"/>
            <a:ext cx="3977640" cy="292608"/>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Publication Details</a:t>
            </a:r>
            <a:endParaRPr lang="en-US" sz="1300" dirty="0"/>
          </a:p>
        </p:txBody>
      </p:sp>
      <p:sp>
        <p:nvSpPr>
          <p:cNvPr id="17" name="Text 15"/>
          <p:cNvSpPr/>
          <p:nvPr/>
        </p:nvSpPr>
        <p:spPr>
          <a:xfrm>
            <a:off x="4800600" y="2578608"/>
            <a:ext cx="1097280" cy="34747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Journal:</a:t>
            </a:r>
            <a:endParaRPr lang="en-US" sz="1050" dirty="0"/>
          </a:p>
        </p:txBody>
      </p:sp>
      <p:sp>
        <p:nvSpPr>
          <p:cNvPr id="18" name="Text 16"/>
          <p:cNvSpPr/>
          <p:nvPr/>
        </p:nvSpPr>
        <p:spPr>
          <a:xfrm>
            <a:off x="5943600" y="2578608"/>
            <a:ext cx="2834640" cy="347472"/>
          </a:xfrm>
          <a:prstGeom prst="rect">
            <a:avLst/>
          </a:prstGeom>
          <a:noFill/>
          <a:ln/>
        </p:spPr>
        <p:txBody>
          <a:bodyPr wrap="square" lIns="0" tIns="0" rIns="0" bIns="0" rtlCol="0" anchor="ctr"/>
          <a:lstStyle/>
          <a:p>
            <a:pPr marL="0" indent="0">
              <a:buNone/>
            </a:pPr>
            <a:r>
              <a:rPr lang="en-US" sz="1050" dirty="0">
                <a:solidFill>
                  <a:srgbClr val="546E7A"/>
                </a:solidFill>
                <a:latin typeface="Calibri" pitchFamily="34" charset="0"/>
                <a:ea typeface="Calibri" pitchFamily="34" charset="-122"/>
                <a:cs typeface="Calibri" pitchFamily="34" charset="-120"/>
              </a:rPr>
              <a:t>IJCRT (Peer-reviewed, Open Access)</a:t>
            </a:r>
            <a:endParaRPr lang="en-US" sz="1050" dirty="0"/>
          </a:p>
        </p:txBody>
      </p:sp>
      <p:sp>
        <p:nvSpPr>
          <p:cNvPr id="19" name="Text 17"/>
          <p:cNvSpPr/>
          <p:nvPr/>
        </p:nvSpPr>
        <p:spPr>
          <a:xfrm>
            <a:off x="4800600" y="3035808"/>
            <a:ext cx="1097280" cy="34747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Volume:</a:t>
            </a:r>
            <a:endParaRPr lang="en-US" sz="1050" dirty="0"/>
          </a:p>
        </p:txBody>
      </p:sp>
      <p:sp>
        <p:nvSpPr>
          <p:cNvPr id="20" name="Text 18"/>
          <p:cNvSpPr/>
          <p:nvPr/>
        </p:nvSpPr>
        <p:spPr>
          <a:xfrm>
            <a:off x="5943600" y="3035808"/>
            <a:ext cx="2834640" cy="347472"/>
          </a:xfrm>
          <a:prstGeom prst="rect">
            <a:avLst/>
          </a:prstGeom>
          <a:noFill/>
          <a:ln/>
        </p:spPr>
        <p:txBody>
          <a:bodyPr wrap="square" lIns="0" tIns="0" rIns="0" bIns="0" rtlCol="0" anchor="ctr"/>
          <a:lstStyle/>
          <a:p>
            <a:pPr marL="0" indent="0">
              <a:buNone/>
            </a:pPr>
            <a:r>
              <a:rPr lang="en-US" sz="1050" dirty="0">
                <a:solidFill>
                  <a:srgbClr val="546E7A"/>
                </a:solidFill>
                <a:latin typeface="Calibri" pitchFamily="34" charset="0"/>
                <a:ea typeface="Calibri" pitchFamily="34" charset="-122"/>
                <a:cs typeface="Calibri" pitchFamily="34" charset="-120"/>
              </a:rPr>
              <a:t>14, Issue 3 — March 2026</a:t>
            </a:r>
            <a:endParaRPr lang="en-US" sz="1050" dirty="0"/>
          </a:p>
        </p:txBody>
      </p:sp>
      <p:sp>
        <p:nvSpPr>
          <p:cNvPr id="21" name="Text 19"/>
          <p:cNvSpPr/>
          <p:nvPr/>
        </p:nvSpPr>
        <p:spPr>
          <a:xfrm>
            <a:off x="4800600" y="3493008"/>
            <a:ext cx="1097280" cy="34747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ISSN:</a:t>
            </a:r>
            <a:endParaRPr lang="en-US" sz="1050" dirty="0"/>
          </a:p>
        </p:txBody>
      </p:sp>
      <p:sp>
        <p:nvSpPr>
          <p:cNvPr id="22" name="Text 20"/>
          <p:cNvSpPr/>
          <p:nvPr/>
        </p:nvSpPr>
        <p:spPr>
          <a:xfrm>
            <a:off x="5943600" y="3493008"/>
            <a:ext cx="2834640" cy="347472"/>
          </a:xfrm>
          <a:prstGeom prst="rect">
            <a:avLst/>
          </a:prstGeom>
          <a:noFill/>
          <a:ln/>
        </p:spPr>
        <p:txBody>
          <a:bodyPr wrap="square" lIns="0" tIns="0" rIns="0" bIns="0" rtlCol="0" anchor="ctr"/>
          <a:lstStyle/>
          <a:p>
            <a:pPr marL="0" indent="0">
              <a:buNone/>
            </a:pPr>
            <a:r>
              <a:rPr lang="en-US" sz="1050" dirty="0">
                <a:solidFill>
                  <a:srgbClr val="546E7A"/>
                </a:solidFill>
                <a:latin typeface="Calibri" pitchFamily="34" charset="0"/>
                <a:ea typeface="Calibri" pitchFamily="34" charset="-122"/>
                <a:cs typeface="Calibri" pitchFamily="34" charset="-120"/>
              </a:rPr>
              <a:t>2320-2882</a:t>
            </a:r>
            <a:endParaRPr lang="en-US" sz="1050" dirty="0"/>
          </a:p>
        </p:txBody>
      </p:sp>
      <p:sp>
        <p:nvSpPr>
          <p:cNvPr id="23" name="Text 21"/>
          <p:cNvSpPr/>
          <p:nvPr/>
        </p:nvSpPr>
        <p:spPr>
          <a:xfrm>
            <a:off x="4800600" y="3950208"/>
            <a:ext cx="1097280" cy="34747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Paper ID:</a:t>
            </a:r>
            <a:endParaRPr lang="en-US" sz="1050" dirty="0"/>
          </a:p>
        </p:txBody>
      </p:sp>
      <p:sp>
        <p:nvSpPr>
          <p:cNvPr id="24" name="Text 22"/>
          <p:cNvSpPr/>
          <p:nvPr/>
        </p:nvSpPr>
        <p:spPr>
          <a:xfrm>
            <a:off x="5943600" y="3950208"/>
            <a:ext cx="2834640" cy="347472"/>
          </a:xfrm>
          <a:prstGeom prst="rect">
            <a:avLst/>
          </a:prstGeom>
          <a:noFill/>
          <a:ln/>
        </p:spPr>
        <p:txBody>
          <a:bodyPr wrap="square" lIns="0" tIns="0" rIns="0" bIns="0" rtlCol="0" anchor="ctr"/>
          <a:lstStyle/>
          <a:p>
            <a:pPr marL="0" indent="0">
              <a:buNone/>
            </a:pPr>
            <a:r>
              <a:rPr lang="en-US" sz="1050" dirty="0">
                <a:solidFill>
                  <a:srgbClr val="546E7A"/>
                </a:solidFill>
                <a:latin typeface="Calibri" pitchFamily="34" charset="0"/>
                <a:ea typeface="Calibri" pitchFamily="34" charset="-122"/>
                <a:cs typeface="Calibri" pitchFamily="34" charset="-120"/>
              </a:rPr>
              <a:t>IJCRT2603506</a:t>
            </a:r>
            <a:endParaRPr lang="en-US" sz="1050" dirty="0"/>
          </a:p>
        </p:txBody>
      </p:sp>
      <p:sp>
        <p:nvSpPr>
          <p:cNvPr id="25" name="Shape 23"/>
          <p:cNvSpPr/>
          <p:nvPr/>
        </p:nvSpPr>
        <p:spPr>
          <a:xfrm>
            <a:off x="274320" y="4681728"/>
            <a:ext cx="8595360" cy="292608"/>
          </a:xfrm>
          <a:prstGeom prst="rect">
            <a:avLst/>
          </a:prstGeom>
          <a:solidFill>
            <a:srgbClr val="0D1B3E"/>
          </a:solidFill>
          <a:ln/>
          <a:effectLst>
            <a:outerShdw blurRad="50800" dist="25400" dir="8100000" algn="bl" rotWithShape="0">
              <a:srgbClr val="000000">
                <a:alpha val="12000"/>
              </a:srgbClr>
            </a:outerShdw>
          </a:effectLst>
        </p:spPr>
      </p:sp>
      <p:sp>
        <p:nvSpPr>
          <p:cNvPr id="26" name="Text 24">
            <a:hlinkClick r:id="rId3"/>
          </p:cNvPr>
          <p:cNvSpPr/>
          <p:nvPr/>
        </p:nvSpPr>
        <p:spPr>
          <a:xfrm>
            <a:off x="274320" y="4681728"/>
            <a:ext cx="8595360" cy="292608"/>
          </a:xfrm>
          <a:prstGeom prst="rect">
            <a:avLst/>
          </a:prstGeom>
          <a:noFill/>
          <a:ln/>
        </p:spPr>
        <p:txBody>
          <a:bodyPr wrap="square" lIns="0" tIns="0" rIns="0" bIns="0" rtlCol="0" anchor="ctr"/>
          <a:lstStyle/>
          <a:p>
            <a:pPr marL="0" indent="0" algn="ctr">
              <a:buNone/>
            </a:pPr>
            <a:r>
              <a:rPr lang="en-US" sz="1050" b="1" u="sng" dirty="0">
                <a:solidFill>
                  <a:srgbClr val="00ACC1"/>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  http://ijcrt.org/viewfull.php?&amp;p_id=IJCRT2603506</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1371600" y="3200400"/>
            <a:ext cx="4572000" cy="4572000"/>
          </a:xfrm>
          <a:prstGeom prst="ellipse">
            <a:avLst/>
          </a:prstGeom>
          <a:solidFill>
            <a:srgbClr val="1565C0">
              <a:alpha val="35000"/>
            </a:srgbClr>
          </a:solidFill>
          <a:ln/>
        </p:spPr>
      </p:sp>
      <p:sp>
        <p:nvSpPr>
          <p:cNvPr id="3" name="Shape 1"/>
          <p:cNvSpPr/>
          <p:nvPr/>
        </p:nvSpPr>
        <p:spPr>
          <a:xfrm>
            <a:off x="6858000" y="-1371600"/>
            <a:ext cx="3657600" cy="3657600"/>
          </a:xfrm>
          <a:prstGeom prst="ellipse">
            <a:avLst/>
          </a:prstGeom>
          <a:solidFill>
            <a:srgbClr val="00ACC1">
              <a:alpha val="40000"/>
            </a:srgbClr>
          </a:solidFill>
          <a:ln/>
        </p:spPr>
      </p:sp>
      <p:sp>
        <p:nvSpPr>
          <p:cNvPr id="4" name="Shape 2"/>
          <p:cNvSpPr/>
          <p:nvPr/>
        </p:nvSpPr>
        <p:spPr>
          <a:xfrm>
            <a:off x="0" y="0"/>
            <a:ext cx="9144000" cy="64008"/>
          </a:xfrm>
          <a:prstGeom prst="rect">
            <a:avLst/>
          </a:prstGeom>
          <a:solidFill>
            <a:srgbClr val="F9A825"/>
          </a:solidFill>
          <a:ln/>
        </p:spPr>
      </p:sp>
      <p:sp>
        <p:nvSpPr>
          <p:cNvPr id="5" name="Shape 3"/>
          <p:cNvSpPr/>
          <p:nvPr/>
        </p:nvSpPr>
        <p:spPr>
          <a:xfrm>
            <a:off x="0" y="5079492"/>
            <a:ext cx="9144000" cy="64008"/>
          </a:xfrm>
          <a:prstGeom prst="rect">
            <a:avLst/>
          </a:prstGeom>
          <a:solidFill>
            <a:srgbClr val="F9A825"/>
          </a:solidFill>
          <a:ln/>
        </p:spPr>
      </p:sp>
      <p:sp>
        <p:nvSpPr>
          <p:cNvPr id="7" name="Text 4"/>
          <p:cNvSpPr/>
          <p:nvPr/>
        </p:nvSpPr>
        <p:spPr>
          <a:xfrm>
            <a:off x="914400" y="1993392"/>
            <a:ext cx="7315200" cy="77724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8" name="Text 5"/>
          <p:cNvSpPr/>
          <p:nvPr/>
        </p:nvSpPr>
        <p:spPr>
          <a:xfrm>
            <a:off x="914400" y="2816352"/>
            <a:ext cx="7315200" cy="411480"/>
          </a:xfrm>
          <a:prstGeom prst="rect">
            <a:avLst/>
          </a:prstGeom>
          <a:noFill/>
          <a:ln/>
        </p:spPr>
        <p:txBody>
          <a:bodyPr wrap="square" lIns="0" tIns="0" rIns="0" bIns="0" rtlCol="0" anchor="ctr"/>
          <a:lstStyle/>
          <a:p>
            <a:pPr marL="0" indent="0" algn="ctr">
              <a:buNone/>
            </a:pPr>
            <a:r>
              <a:rPr lang="en-US" sz="1800" dirty="0">
                <a:solidFill>
                  <a:srgbClr val="00ACC1"/>
                </a:solidFill>
                <a:latin typeface="Calibri" pitchFamily="34" charset="0"/>
                <a:ea typeface="Calibri" pitchFamily="34" charset="-122"/>
                <a:cs typeface="Calibri" pitchFamily="34" charset="-120"/>
              </a:rPr>
              <a:t>Questions &amp; Discussion Welcome</a:t>
            </a:r>
            <a:endParaRPr lang="en-US" sz="1800" dirty="0"/>
          </a:p>
        </p:txBody>
      </p:sp>
      <p:sp>
        <p:nvSpPr>
          <p:cNvPr id="9" name="Text 6"/>
          <p:cNvSpPr/>
          <p:nvPr/>
        </p:nvSpPr>
        <p:spPr>
          <a:xfrm>
            <a:off x="914400" y="3401568"/>
            <a:ext cx="7315200" cy="320040"/>
          </a:xfrm>
          <a:prstGeom prst="rect">
            <a:avLst/>
          </a:prstGeom>
          <a:noFill/>
          <a:ln/>
        </p:spPr>
        <p:txBody>
          <a:bodyPr wrap="square" lIns="0" tIns="0" rIns="0" bIns="0" rtlCol="0" anchor="ctr"/>
          <a:lstStyle/>
          <a:p>
            <a:pPr marL="0" indent="0" algn="ctr">
              <a:buNone/>
            </a:pPr>
            <a:endParaRPr lang="en-US" sz="1000" dirty="0"/>
          </a:p>
        </p:txBody>
      </p:sp>
      <p:sp>
        <p:nvSpPr>
          <p:cNvPr id="10" name="Text 7"/>
          <p:cNvSpPr/>
          <p:nvPr/>
        </p:nvSpPr>
        <p:spPr>
          <a:xfrm>
            <a:off x="914400" y="4590288"/>
            <a:ext cx="7315200" cy="320040"/>
          </a:xfrm>
          <a:prstGeom prst="rect">
            <a:avLst/>
          </a:prstGeom>
          <a:noFill/>
          <a:ln/>
        </p:spPr>
        <p:txBody>
          <a:bodyPr wrap="square" lIns="0" tIns="0" rIns="0" bIns="0" rtlCol="0" anchor="ctr"/>
          <a:lstStyle/>
          <a:p>
            <a:pPr marL="0" indent="0" algn="ctr">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98</TotalTime>
  <Words>1560</Words>
  <Application>Microsoft Office PowerPoint</Application>
  <PresentationFormat>On-screen Show (16:9)</PresentationFormat>
  <Paragraphs>207</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Loan Eligibility Prediction</dc:title>
  <dc:subject>PptxGenJS Presentation</dc:subject>
  <dc:creator>PptxGenJS</dc:creator>
  <cp:lastModifiedBy>Chaitanya Sri</cp:lastModifiedBy>
  <cp:revision>1</cp:revision>
  <dcterms:created xsi:type="dcterms:W3CDTF">2026-03-31T16:40:42Z</dcterms:created>
  <dcterms:modified xsi:type="dcterms:W3CDTF">2026-04-02T03:01:30Z</dcterms:modified>
</cp:coreProperties>
</file>