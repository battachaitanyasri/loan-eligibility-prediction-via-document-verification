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A91C39-70C8-42A1-8615-33D11CB3F668}" v="1" dt="2026-02-26T06:20:41.3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itanya Sri" userId="ce7cd60cb5ff0a80" providerId="LiveId" clId="{A2C663D9-E38C-44B9-9825-3C60C5AE3459}"/>
    <pc:docChg chg="modSld">
      <pc:chgData name="Chaitanya Sri" userId="ce7cd60cb5ff0a80" providerId="LiveId" clId="{A2C663D9-E38C-44B9-9825-3C60C5AE3459}" dt="2026-02-26T06:20:41.344" v="32"/>
      <pc:docMkLst>
        <pc:docMk/>
      </pc:docMkLst>
      <pc:sldChg chg="modSp mod">
        <pc:chgData name="Chaitanya Sri" userId="ce7cd60cb5ff0a80" providerId="LiveId" clId="{A2C663D9-E38C-44B9-9825-3C60C5AE3459}" dt="2026-02-26T06:20:41.344" v="32"/>
        <pc:sldMkLst>
          <pc:docMk/>
          <pc:sldMk cId="0" sldId="262"/>
        </pc:sldMkLst>
        <pc:spChg chg="mod">
          <ac:chgData name="Chaitanya Sri" userId="ce7cd60cb5ff0a80" providerId="LiveId" clId="{A2C663D9-E38C-44B9-9825-3C60C5AE3459}" dt="2026-02-26T06:20:29.174" v="13" actId="21"/>
          <ac:spMkLst>
            <pc:docMk/>
            <pc:sldMk cId="0" sldId="262"/>
            <ac:spMk id="37" creationId="{00000000-0000-0000-0000-000000000000}"/>
          </ac:spMkLst>
        </pc:spChg>
        <pc:spChg chg="mod">
          <ac:chgData name="Chaitanya Sri" userId="ce7cd60cb5ff0a80" providerId="LiveId" clId="{A2C663D9-E38C-44B9-9825-3C60C5AE3459}" dt="2026-02-26T06:20:41.344" v="32"/>
          <ac:spMkLst>
            <pc:docMk/>
            <pc:sldMk cId="0" sldId="262"/>
            <ac:spMk id="4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9235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7132320" y="-914400"/>
            <a:ext cx="3200400" cy="3200400"/>
          </a:xfrm>
          <a:prstGeom prst="ellipse">
            <a:avLst/>
          </a:prstGeom>
          <a:solidFill>
            <a:srgbClr val="028090">
              <a:alpha val="18000"/>
            </a:srgbClr>
          </a:solidFill>
          <a:ln w="12700">
            <a:solidFill>
              <a:srgbClr val="028090">
                <a:alpha val="18000"/>
              </a:srgbClr>
            </a:solidFill>
            <a:prstDash val="solid"/>
          </a:ln>
        </p:spPr>
      </p:sp>
      <p:sp>
        <p:nvSpPr>
          <p:cNvPr id="4" name="Shape 2"/>
          <p:cNvSpPr/>
          <p:nvPr/>
        </p:nvSpPr>
        <p:spPr>
          <a:xfrm>
            <a:off x="-731520" y="3474720"/>
            <a:ext cx="2286000" cy="2286000"/>
          </a:xfrm>
          <a:prstGeom prst="ellipse">
            <a:avLst/>
          </a:prstGeom>
          <a:solidFill>
            <a:srgbClr val="1A3A6B">
              <a:alpha val="40000"/>
            </a:srgbClr>
          </a:solidFill>
          <a:ln w="12700">
            <a:solidFill>
              <a:srgbClr val="1A3A6B">
                <a:alpha val="40000"/>
              </a:srgbClr>
            </a:solidFill>
            <a:prstDash val="solid"/>
          </a:ln>
        </p:spPr>
      </p:sp>
      <p:sp>
        <p:nvSpPr>
          <p:cNvPr id="5" name="Shape 3"/>
          <p:cNvSpPr/>
          <p:nvPr/>
        </p:nvSpPr>
        <p:spPr>
          <a:xfrm>
            <a:off x="0" y="0"/>
            <a:ext cx="365760" cy="5143500"/>
          </a:xfrm>
          <a:prstGeom prst="rect">
            <a:avLst/>
          </a:prstGeom>
          <a:solidFill>
            <a:srgbClr val="028090"/>
          </a:solidFill>
          <a:ln w="12700">
            <a:solidFill>
              <a:srgbClr val="028090"/>
            </a:solidFill>
            <a:prstDash val="solid"/>
          </a:ln>
        </p:spPr>
      </p:sp>
      <p:sp>
        <p:nvSpPr>
          <p:cNvPr id="7" name="Text 5"/>
          <p:cNvSpPr/>
          <p:nvPr/>
        </p:nvSpPr>
        <p:spPr>
          <a:xfrm>
            <a:off x="594360" y="594360"/>
            <a:ext cx="2743200" cy="329184"/>
          </a:xfrm>
          <a:prstGeom prst="rect">
            <a:avLst/>
          </a:prstGeom>
          <a:noFill/>
          <a:ln/>
        </p:spPr>
        <p:txBody>
          <a:bodyPr wrap="square" lIns="0" tIns="0" rIns="0" bIns="0" rtlCol="0" anchor="ctr"/>
          <a:lstStyle/>
          <a:p>
            <a:pPr marL="0" indent="0" algn="ctr">
              <a:buNone/>
            </a:pPr>
            <a:endParaRPr lang="en-US" sz="800" dirty="0"/>
          </a:p>
        </p:txBody>
      </p:sp>
      <p:sp>
        <p:nvSpPr>
          <p:cNvPr id="8" name="Text 6"/>
          <p:cNvSpPr/>
          <p:nvPr/>
        </p:nvSpPr>
        <p:spPr>
          <a:xfrm>
            <a:off x="640080" y="576072"/>
            <a:ext cx="8229600" cy="713232"/>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Loan Eligibility Prediction</a:t>
            </a:r>
            <a:endParaRPr lang="en-US" sz="3800" dirty="0"/>
          </a:p>
        </p:txBody>
      </p:sp>
      <p:sp>
        <p:nvSpPr>
          <p:cNvPr id="9" name="Text 7"/>
          <p:cNvSpPr/>
          <p:nvPr/>
        </p:nvSpPr>
        <p:spPr>
          <a:xfrm>
            <a:off x="777240" y="1216152"/>
            <a:ext cx="8229600" cy="640080"/>
          </a:xfrm>
          <a:prstGeom prst="rect">
            <a:avLst/>
          </a:prstGeom>
          <a:noFill/>
          <a:ln/>
        </p:spPr>
        <p:txBody>
          <a:bodyPr wrap="square" rtlCol="0" anchor="ctr"/>
          <a:lstStyle/>
          <a:p>
            <a:pPr marL="0" indent="0">
              <a:buNone/>
            </a:pPr>
            <a:r>
              <a:rPr lang="en-US" sz="3300" b="1" dirty="0">
                <a:solidFill>
                  <a:srgbClr val="02C39A"/>
                </a:solidFill>
                <a:latin typeface="Calibri" pitchFamily="34" charset="0"/>
                <a:ea typeface="Calibri" pitchFamily="34" charset="-122"/>
                <a:cs typeface="Calibri" pitchFamily="34" charset="-120"/>
              </a:rPr>
              <a:t>&amp; Document Verification</a:t>
            </a:r>
            <a:endParaRPr lang="en-US" sz="3300" dirty="0"/>
          </a:p>
        </p:txBody>
      </p:sp>
      <p:sp>
        <p:nvSpPr>
          <p:cNvPr id="10" name="Shape 8"/>
          <p:cNvSpPr/>
          <p:nvPr/>
        </p:nvSpPr>
        <p:spPr>
          <a:xfrm>
            <a:off x="640080" y="1930998"/>
            <a:ext cx="5486400" cy="41148"/>
          </a:xfrm>
          <a:prstGeom prst="rect">
            <a:avLst/>
          </a:prstGeom>
          <a:solidFill>
            <a:srgbClr val="028090"/>
          </a:solidFill>
          <a:ln w="12700">
            <a:solidFill>
              <a:srgbClr val="028090"/>
            </a:solidFill>
            <a:prstDash val="solid"/>
          </a:ln>
        </p:spPr>
      </p:sp>
      <p:sp>
        <p:nvSpPr>
          <p:cNvPr id="11" name="Text 9"/>
          <p:cNvSpPr/>
          <p:nvPr/>
        </p:nvSpPr>
        <p:spPr>
          <a:xfrm>
            <a:off x="594360" y="2514600"/>
            <a:ext cx="8229600" cy="347472"/>
          </a:xfrm>
          <a:prstGeom prst="rect">
            <a:avLst/>
          </a:prstGeom>
          <a:noFill/>
          <a:ln/>
        </p:spPr>
        <p:txBody>
          <a:bodyPr wrap="square" rtlCol="0" anchor="ctr"/>
          <a:lstStyle/>
          <a:p>
            <a:pPr marL="0" indent="0">
              <a:buNone/>
            </a:pPr>
            <a:endParaRPr lang="en-US" sz="1300" dirty="0"/>
          </a:p>
        </p:txBody>
      </p:sp>
      <p:sp>
        <p:nvSpPr>
          <p:cNvPr id="12" name="Shape 10"/>
          <p:cNvSpPr/>
          <p:nvPr/>
        </p:nvSpPr>
        <p:spPr>
          <a:xfrm>
            <a:off x="640080" y="2478024"/>
            <a:ext cx="5486400" cy="2244852"/>
          </a:xfrm>
          <a:prstGeom prst="rect">
            <a:avLst/>
          </a:prstGeom>
          <a:solidFill>
            <a:srgbClr val="1A3A6B"/>
          </a:solidFill>
          <a:ln w="12700">
            <a:solidFill>
              <a:srgbClr val="028090"/>
            </a:solidFill>
            <a:prstDash val="solid"/>
          </a:ln>
        </p:spPr>
        <p:txBody>
          <a:bodyPr/>
          <a:lstStyle/>
          <a:p>
            <a:r>
              <a:rPr lang="en-US" b="1" dirty="0">
                <a:solidFill>
                  <a:srgbClr val="02C39A"/>
                </a:solidFill>
                <a:latin typeface="Calibri" pitchFamily="34" charset="0"/>
                <a:ea typeface="Calibri" pitchFamily="34" charset="-122"/>
                <a:cs typeface="Calibri" pitchFamily="34" charset="-120"/>
              </a:rPr>
              <a:t>Team Members</a:t>
            </a:r>
          </a:p>
          <a:p>
            <a:endParaRPr lang="en-US" sz="1400" dirty="0"/>
          </a:p>
          <a:p>
            <a:r>
              <a:rPr lang="en-US" b="1" dirty="0">
                <a:solidFill>
                  <a:srgbClr val="FFFFFF"/>
                </a:solidFill>
                <a:latin typeface="Calibri" pitchFamily="34" charset="0"/>
                <a:ea typeface="Calibri" pitchFamily="34" charset="-122"/>
                <a:cs typeface="Calibri" pitchFamily="34" charset="-120"/>
              </a:rPr>
              <a:t>Chaitanya Sri            Y22ACM408</a:t>
            </a:r>
            <a:endParaRPr lang="en-US" dirty="0"/>
          </a:p>
          <a:p>
            <a:r>
              <a:rPr lang="en-US" b="1" dirty="0">
                <a:solidFill>
                  <a:srgbClr val="FFFFFF"/>
                </a:solidFill>
                <a:latin typeface="Calibri" pitchFamily="34" charset="0"/>
                <a:ea typeface="Calibri" pitchFamily="34" charset="-122"/>
                <a:cs typeface="Calibri" pitchFamily="34" charset="-120"/>
              </a:rPr>
              <a:t>Naga Lakshmi           Y22ACM427</a:t>
            </a:r>
            <a:endParaRPr lang="en-US" dirty="0"/>
          </a:p>
          <a:p>
            <a:r>
              <a:rPr lang="en-US" b="1" dirty="0">
                <a:solidFill>
                  <a:srgbClr val="FFFFFF"/>
                </a:solidFill>
                <a:latin typeface="Calibri" pitchFamily="34" charset="0"/>
                <a:ea typeface="Calibri" pitchFamily="34" charset="-122"/>
                <a:cs typeface="Calibri" pitchFamily="34" charset="-120"/>
              </a:rPr>
              <a:t>Ravindra                    Y22ACM410</a:t>
            </a:r>
            <a:endParaRPr lang="en-US" dirty="0"/>
          </a:p>
          <a:p>
            <a:r>
              <a:rPr lang="en-US" b="1" dirty="0" err="1">
                <a:solidFill>
                  <a:srgbClr val="FFFFFF"/>
                </a:solidFill>
                <a:latin typeface="Calibri" pitchFamily="34" charset="0"/>
                <a:ea typeface="Calibri" pitchFamily="34" charset="-122"/>
                <a:cs typeface="Calibri" pitchFamily="34" charset="-120"/>
              </a:rPr>
              <a:t>Peeraiah</a:t>
            </a:r>
            <a:r>
              <a:rPr lang="en-US" b="1" dirty="0">
                <a:solidFill>
                  <a:srgbClr val="FFFFFF"/>
                </a:solidFill>
                <a:latin typeface="Calibri" pitchFamily="34" charset="0"/>
                <a:ea typeface="Calibri" pitchFamily="34" charset="-122"/>
                <a:cs typeface="Calibri" pitchFamily="34" charset="-120"/>
              </a:rPr>
              <a:t>                    Y22ACM436</a:t>
            </a:r>
          </a:p>
          <a:p>
            <a:endParaRPr lang="en-US" dirty="0"/>
          </a:p>
          <a:p>
            <a:r>
              <a:rPr lang="en-US" i="1" dirty="0">
                <a:solidFill>
                  <a:srgbClr val="A8BBCC"/>
                </a:solidFill>
                <a:latin typeface="Calibri" pitchFamily="34" charset="0"/>
                <a:ea typeface="Calibri" pitchFamily="34" charset="-122"/>
                <a:cs typeface="Calibri" pitchFamily="34" charset="-120"/>
              </a:rPr>
              <a:t>Under the Guidance of  Mrs. Dwija </a:t>
            </a:r>
            <a:r>
              <a:rPr lang="en-US" i="1" dirty="0" err="1">
                <a:solidFill>
                  <a:srgbClr val="A8BBCC"/>
                </a:solidFill>
                <a:latin typeface="Calibri" pitchFamily="34" charset="0"/>
                <a:ea typeface="Calibri" pitchFamily="34" charset="-122"/>
                <a:cs typeface="Calibri" pitchFamily="34" charset="-120"/>
              </a:rPr>
              <a:t>DesiReddy</a:t>
            </a:r>
            <a:endParaRPr lang="en-US" dirty="0"/>
          </a:p>
          <a:p>
            <a:endParaRPr lang="en-IN" dirty="0"/>
          </a:p>
        </p:txBody>
      </p:sp>
      <p:sp>
        <p:nvSpPr>
          <p:cNvPr id="13" name="Text 11"/>
          <p:cNvSpPr/>
          <p:nvPr/>
        </p:nvSpPr>
        <p:spPr>
          <a:xfrm>
            <a:off x="2411596" y="2616126"/>
            <a:ext cx="5669280" cy="1471242"/>
          </a:xfrm>
          <a:prstGeom prst="rect">
            <a:avLst/>
          </a:prstGeom>
          <a:noFill/>
          <a:ln/>
        </p:spPr>
        <p:txBody>
          <a:bodyPr wrap="square" rtlCol="0" anchor="ctr"/>
          <a:lstStyle/>
          <a:p>
            <a:pPr marL="0" indent="0">
              <a:buNone/>
            </a:pPr>
            <a:endParaRPr lang="en-US" sz="1000" dirty="0"/>
          </a:p>
        </p:txBody>
      </p:sp>
      <p:sp>
        <p:nvSpPr>
          <p:cNvPr id="15" name="Text 13"/>
          <p:cNvSpPr/>
          <p:nvPr/>
        </p:nvSpPr>
        <p:spPr>
          <a:xfrm>
            <a:off x="2404872" y="3410712"/>
            <a:ext cx="1188720" cy="237744"/>
          </a:xfrm>
          <a:prstGeom prst="rect">
            <a:avLst/>
          </a:prstGeom>
          <a:noFill/>
          <a:ln/>
        </p:spPr>
        <p:txBody>
          <a:bodyPr wrap="square" rtlCol="0" anchor="ctr"/>
          <a:lstStyle/>
          <a:p>
            <a:pPr marL="0" indent="0">
              <a:buNone/>
            </a:pPr>
            <a:endParaRPr lang="en-US" sz="950" dirty="0"/>
          </a:p>
        </p:txBody>
      </p:sp>
      <p:sp>
        <p:nvSpPr>
          <p:cNvPr id="17" name="Text 15"/>
          <p:cNvSpPr/>
          <p:nvPr/>
        </p:nvSpPr>
        <p:spPr>
          <a:xfrm>
            <a:off x="5330952" y="3410712"/>
            <a:ext cx="1188720" cy="237744"/>
          </a:xfrm>
          <a:prstGeom prst="rect">
            <a:avLst/>
          </a:prstGeom>
          <a:noFill/>
          <a:ln/>
        </p:spPr>
        <p:txBody>
          <a:bodyPr wrap="square" rtlCol="0" anchor="ctr"/>
          <a:lstStyle/>
          <a:p>
            <a:pPr marL="0" indent="0">
              <a:buNone/>
            </a:pPr>
            <a:endParaRPr lang="en-US" sz="950" dirty="0"/>
          </a:p>
        </p:txBody>
      </p:sp>
      <p:sp>
        <p:nvSpPr>
          <p:cNvPr id="19" name="Text 17"/>
          <p:cNvSpPr/>
          <p:nvPr/>
        </p:nvSpPr>
        <p:spPr>
          <a:xfrm>
            <a:off x="2404872" y="3849624"/>
            <a:ext cx="1188720" cy="237744"/>
          </a:xfrm>
          <a:prstGeom prst="rect">
            <a:avLst/>
          </a:prstGeom>
          <a:noFill/>
          <a:ln/>
        </p:spPr>
        <p:txBody>
          <a:bodyPr wrap="square" rtlCol="0" anchor="ctr"/>
          <a:lstStyle/>
          <a:p>
            <a:pPr marL="0" indent="0">
              <a:buNone/>
            </a:pPr>
            <a:endParaRPr lang="en-US" sz="950" dirty="0"/>
          </a:p>
        </p:txBody>
      </p:sp>
      <p:sp>
        <p:nvSpPr>
          <p:cNvPr id="21" name="Text 19"/>
          <p:cNvSpPr/>
          <p:nvPr/>
        </p:nvSpPr>
        <p:spPr>
          <a:xfrm>
            <a:off x="5330952" y="3849624"/>
            <a:ext cx="1188720" cy="237744"/>
          </a:xfrm>
          <a:prstGeom prst="rect">
            <a:avLst/>
          </a:prstGeom>
          <a:noFill/>
          <a:ln/>
        </p:spPr>
        <p:txBody>
          <a:bodyPr wrap="square" rtlCol="0" anchor="ctr"/>
          <a:lstStyle/>
          <a:p>
            <a:pPr marL="0" indent="0">
              <a:buNone/>
            </a:pP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w="12700">
            <a:solidFill>
              <a:srgbClr val="0A1628"/>
            </a:solidFill>
            <a:prstDash val="solid"/>
          </a:ln>
        </p:spPr>
      </p:sp>
      <p:sp>
        <p:nvSpPr>
          <p:cNvPr id="3" name="Text 1"/>
          <p:cNvSpPr/>
          <p:nvPr/>
        </p:nvSpPr>
        <p:spPr>
          <a:xfrm>
            <a:off x="365760" y="0"/>
            <a:ext cx="7772400" cy="8686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Abstract</a:t>
            </a:r>
            <a:endParaRPr lang="en-US" sz="2600" dirty="0"/>
          </a:p>
        </p:txBody>
      </p:sp>
      <p:sp>
        <p:nvSpPr>
          <p:cNvPr id="4" name="Shape 2"/>
          <p:cNvSpPr/>
          <p:nvPr/>
        </p:nvSpPr>
        <p:spPr>
          <a:xfrm>
            <a:off x="365760" y="1024128"/>
            <a:ext cx="8412480" cy="3310128"/>
          </a:xfrm>
          <a:prstGeom prst="rect">
            <a:avLst/>
          </a:prstGeom>
          <a:solidFill>
            <a:srgbClr val="FFFFFF"/>
          </a:solidFill>
          <a:ln w="12700">
            <a:solidFill>
              <a:srgbClr val="D0DAEA"/>
            </a:solidFill>
            <a:prstDash val="solid"/>
          </a:ln>
          <a:effectLst>
            <a:outerShdw blurRad="101600" dist="38100" dir="8100000" algn="bl" rotWithShape="0">
              <a:srgbClr val="000000">
                <a:alpha val="10000"/>
              </a:srgbClr>
            </a:outerShdw>
          </a:effectLst>
        </p:spPr>
      </p:sp>
      <p:sp>
        <p:nvSpPr>
          <p:cNvPr id="5" name="Shape 3"/>
          <p:cNvSpPr/>
          <p:nvPr/>
        </p:nvSpPr>
        <p:spPr>
          <a:xfrm>
            <a:off x="365760" y="1024128"/>
            <a:ext cx="64008" cy="3310128"/>
          </a:xfrm>
          <a:prstGeom prst="rect">
            <a:avLst/>
          </a:prstGeom>
          <a:solidFill>
            <a:srgbClr val="028090"/>
          </a:solidFill>
          <a:ln w="12700">
            <a:solidFill>
              <a:srgbClr val="028090"/>
            </a:solidFill>
            <a:prstDash val="solid"/>
          </a:ln>
        </p:spPr>
      </p:sp>
      <p:sp>
        <p:nvSpPr>
          <p:cNvPr id="6" name="Text 4"/>
          <p:cNvSpPr/>
          <p:nvPr/>
        </p:nvSpPr>
        <p:spPr>
          <a:xfrm>
            <a:off x="594360" y="1188720"/>
            <a:ext cx="8046720" cy="2377440"/>
          </a:xfrm>
          <a:prstGeom prst="rect">
            <a:avLst/>
          </a:prstGeom>
          <a:noFill/>
          <a:ln/>
        </p:spPr>
        <p:txBody>
          <a:bodyPr wrap="square" rtlCol="0" anchor="ctr"/>
          <a:lstStyle/>
          <a:p>
            <a:pPr marL="0" indent="0" algn="just">
              <a:buNone/>
            </a:pPr>
            <a:r>
              <a:rPr lang="en-US" sz="1500" dirty="0">
                <a:solidFill>
                  <a:srgbClr val="1E293B"/>
                </a:solidFill>
                <a:latin typeface="Calibri" pitchFamily="34" charset="0"/>
                <a:ea typeface="Calibri" pitchFamily="34" charset="-122"/>
                <a:cs typeface="Calibri" pitchFamily="34" charset="-120"/>
              </a:rPr>
              <a:t>This project develops an AI-powered system for Loan Eligibility Prediction and Document Verification. It uses LlamaParse to automatically extract and validate data from financial documents such as income statements, bank records, and identity proofs. The verified data is then analysed by the Qwen large language model (LLM) to predict whether a loan should be approved or rejected. Unlike traditional systems, our solution also generates a clear, human-readable reasoning for every decision — improving transparency and trust in the loan approval process.</a:t>
            </a:r>
            <a:endParaRPr lang="en-US" sz="1500" dirty="0"/>
          </a:p>
        </p:txBody>
      </p:sp>
      <p:sp>
        <p:nvSpPr>
          <p:cNvPr id="7" name="Text 5"/>
          <p:cNvSpPr/>
          <p:nvPr/>
        </p:nvSpPr>
        <p:spPr>
          <a:xfrm>
            <a:off x="594360" y="4462272"/>
            <a:ext cx="1005840" cy="274320"/>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Keywords:</a:t>
            </a:r>
            <a:endParaRPr lang="en-US" sz="1100" dirty="0"/>
          </a:p>
        </p:txBody>
      </p:sp>
      <p:sp>
        <p:nvSpPr>
          <p:cNvPr id="8" name="Shape 6"/>
          <p:cNvSpPr/>
          <p:nvPr/>
        </p:nvSpPr>
        <p:spPr>
          <a:xfrm>
            <a:off x="1627632" y="4480560"/>
            <a:ext cx="1602029" cy="256032"/>
          </a:xfrm>
          <a:prstGeom prst="rect">
            <a:avLst/>
          </a:prstGeom>
          <a:solidFill>
            <a:srgbClr val="028090"/>
          </a:solidFill>
          <a:ln w="12700">
            <a:solidFill>
              <a:srgbClr val="028090"/>
            </a:solidFill>
            <a:prstDash val="solid"/>
          </a:ln>
        </p:spPr>
      </p:sp>
      <p:sp>
        <p:nvSpPr>
          <p:cNvPr id="9" name="Text 7"/>
          <p:cNvSpPr/>
          <p:nvPr/>
        </p:nvSpPr>
        <p:spPr>
          <a:xfrm>
            <a:off x="1627632" y="4480560"/>
            <a:ext cx="1602029"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Loan Eligibility</a:t>
            </a:r>
            <a:endParaRPr lang="en-US" sz="950" dirty="0"/>
          </a:p>
        </p:txBody>
      </p:sp>
      <p:sp>
        <p:nvSpPr>
          <p:cNvPr id="10" name="Shape 8"/>
          <p:cNvSpPr/>
          <p:nvPr/>
        </p:nvSpPr>
        <p:spPr>
          <a:xfrm>
            <a:off x="3366821" y="4480560"/>
            <a:ext cx="929030" cy="256032"/>
          </a:xfrm>
          <a:prstGeom prst="rect">
            <a:avLst/>
          </a:prstGeom>
          <a:solidFill>
            <a:srgbClr val="028090"/>
          </a:solidFill>
          <a:ln w="12700">
            <a:solidFill>
              <a:srgbClr val="028090"/>
            </a:solidFill>
            <a:prstDash val="solid"/>
          </a:ln>
        </p:spPr>
      </p:sp>
      <p:sp>
        <p:nvSpPr>
          <p:cNvPr id="11" name="Text 9"/>
          <p:cNvSpPr/>
          <p:nvPr/>
        </p:nvSpPr>
        <p:spPr>
          <a:xfrm>
            <a:off x="3366821" y="4480560"/>
            <a:ext cx="92903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Qwen LLM</a:t>
            </a:r>
            <a:endParaRPr lang="en-US" sz="950" dirty="0"/>
          </a:p>
        </p:txBody>
      </p:sp>
      <p:sp>
        <p:nvSpPr>
          <p:cNvPr id="12" name="Shape 10"/>
          <p:cNvSpPr/>
          <p:nvPr/>
        </p:nvSpPr>
        <p:spPr>
          <a:xfrm>
            <a:off x="4433011" y="4480560"/>
            <a:ext cx="1097280" cy="256032"/>
          </a:xfrm>
          <a:prstGeom prst="rect">
            <a:avLst/>
          </a:prstGeom>
          <a:solidFill>
            <a:srgbClr val="028090"/>
          </a:solidFill>
          <a:ln w="12700">
            <a:solidFill>
              <a:srgbClr val="028090"/>
            </a:solidFill>
            <a:prstDash val="solid"/>
          </a:ln>
        </p:spPr>
      </p:sp>
      <p:sp>
        <p:nvSpPr>
          <p:cNvPr id="13" name="Text 11"/>
          <p:cNvSpPr/>
          <p:nvPr/>
        </p:nvSpPr>
        <p:spPr>
          <a:xfrm>
            <a:off x="4433011" y="4480560"/>
            <a:ext cx="109728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LlamaParse</a:t>
            </a:r>
            <a:endParaRPr lang="en-US" sz="950" dirty="0"/>
          </a:p>
        </p:txBody>
      </p:sp>
      <p:sp>
        <p:nvSpPr>
          <p:cNvPr id="14" name="Shape 12"/>
          <p:cNvSpPr/>
          <p:nvPr/>
        </p:nvSpPr>
        <p:spPr>
          <a:xfrm>
            <a:off x="5667451" y="4480560"/>
            <a:ext cx="2022653" cy="256032"/>
          </a:xfrm>
          <a:prstGeom prst="rect">
            <a:avLst/>
          </a:prstGeom>
          <a:solidFill>
            <a:srgbClr val="028090"/>
          </a:solidFill>
          <a:ln w="12700">
            <a:solidFill>
              <a:srgbClr val="028090"/>
            </a:solidFill>
            <a:prstDash val="solid"/>
          </a:ln>
        </p:spPr>
      </p:sp>
      <p:sp>
        <p:nvSpPr>
          <p:cNvPr id="15" name="Text 13"/>
          <p:cNvSpPr/>
          <p:nvPr/>
        </p:nvSpPr>
        <p:spPr>
          <a:xfrm>
            <a:off x="5667451" y="4480560"/>
            <a:ext cx="2022653"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Document Verification</a:t>
            </a:r>
            <a:endParaRPr lang="en-US" sz="950" dirty="0"/>
          </a:p>
        </p:txBody>
      </p:sp>
      <p:sp>
        <p:nvSpPr>
          <p:cNvPr id="16" name="Shape 14"/>
          <p:cNvSpPr/>
          <p:nvPr/>
        </p:nvSpPr>
        <p:spPr>
          <a:xfrm>
            <a:off x="7827264" y="4480560"/>
            <a:ext cx="1433779" cy="256032"/>
          </a:xfrm>
          <a:prstGeom prst="rect">
            <a:avLst/>
          </a:prstGeom>
          <a:solidFill>
            <a:srgbClr val="028090"/>
          </a:solidFill>
          <a:ln w="12700">
            <a:solidFill>
              <a:srgbClr val="028090"/>
            </a:solidFill>
            <a:prstDash val="solid"/>
          </a:ln>
        </p:spPr>
      </p:sp>
      <p:sp>
        <p:nvSpPr>
          <p:cNvPr id="17" name="Text 15"/>
          <p:cNvSpPr/>
          <p:nvPr/>
        </p:nvSpPr>
        <p:spPr>
          <a:xfrm>
            <a:off x="7827264" y="4480560"/>
            <a:ext cx="1433779"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Explainable AI</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w="12700">
            <a:solidFill>
              <a:srgbClr val="0A1628"/>
            </a:solidFill>
            <a:prstDash val="solid"/>
          </a:ln>
        </p:spPr>
      </p:sp>
      <p:sp>
        <p:nvSpPr>
          <p:cNvPr id="3" name="Text 1"/>
          <p:cNvSpPr/>
          <p:nvPr/>
        </p:nvSpPr>
        <p:spPr>
          <a:xfrm>
            <a:off x="365760" y="0"/>
            <a:ext cx="7772400" cy="8686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Problem Statement &amp; Objectives</a:t>
            </a:r>
            <a:endParaRPr lang="en-US" sz="2200" dirty="0"/>
          </a:p>
        </p:txBody>
      </p:sp>
      <p:sp>
        <p:nvSpPr>
          <p:cNvPr id="4" name="Text 2"/>
          <p:cNvSpPr/>
          <p:nvPr/>
        </p:nvSpPr>
        <p:spPr>
          <a:xfrm>
            <a:off x="365760" y="0"/>
            <a:ext cx="8503920" cy="868680"/>
          </a:xfrm>
          <a:prstGeom prst="rect">
            <a:avLst/>
          </a:prstGeom>
          <a:noFill/>
          <a:ln/>
        </p:spPr>
        <p:txBody>
          <a:bodyPr wrap="square" rtlCol="0" anchor="ctr"/>
          <a:lstStyle/>
          <a:p>
            <a:pPr marL="0" indent="0" algn="r">
              <a:buNone/>
            </a:pPr>
            <a:endParaRPr lang="en-US" sz="1000" dirty="0"/>
          </a:p>
        </p:txBody>
      </p:sp>
      <p:sp>
        <p:nvSpPr>
          <p:cNvPr id="5" name="Shape 3"/>
          <p:cNvSpPr/>
          <p:nvPr/>
        </p:nvSpPr>
        <p:spPr>
          <a:xfrm>
            <a:off x="274320" y="1005840"/>
            <a:ext cx="3977640" cy="3749040"/>
          </a:xfrm>
          <a:prstGeom prst="rect">
            <a:avLst/>
          </a:prstGeom>
          <a:solidFill>
            <a:srgbClr val="FFFFFF"/>
          </a:solidFill>
          <a:ln w="12700">
            <a:solidFill>
              <a:srgbClr val="D0DAEA"/>
            </a:solidFill>
            <a:prstDash val="solid"/>
          </a:ln>
          <a:effectLst>
            <a:outerShdw blurRad="101600" dist="38100" dir="8100000" algn="bl" rotWithShape="0">
              <a:srgbClr val="000000">
                <a:alpha val="10000"/>
              </a:srgbClr>
            </a:outerShdw>
          </a:effectLst>
        </p:spPr>
      </p:sp>
      <p:sp>
        <p:nvSpPr>
          <p:cNvPr id="6" name="Shape 4"/>
          <p:cNvSpPr/>
          <p:nvPr/>
        </p:nvSpPr>
        <p:spPr>
          <a:xfrm>
            <a:off x="274320" y="1005840"/>
            <a:ext cx="3977640" cy="402336"/>
          </a:xfrm>
          <a:prstGeom prst="rect">
            <a:avLst/>
          </a:prstGeom>
          <a:solidFill>
            <a:srgbClr val="028090"/>
          </a:solidFill>
          <a:ln w="12700">
            <a:solidFill>
              <a:srgbClr val="028090"/>
            </a:solidFill>
            <a:prstDash val="solid"/>
          </a:ln>
        </p:spPr>
      </p:sp>
      <p:sp>
        <p:nvSpPr>
          <p:cNvPr id="7" name="Text 5"/>
          <p:cNvSpPr/>
          <p:nvPr/>
        </p:nvSpPr>
        <p:spPr>
          <a:xfrm>
            <a:off x="274320" y="1005840"/>
            <a:ext cx="3977640" cy="402336"/>
          </a:xfrm>
          <a:prstGeom prst="rect">
            <a:avLst/>
          </a:prstGeom>
          <a:noFill/>
          <a:ln/>
        </p:spPr>
        <p:txBody>
          <a:bodyPr wrap="square" lIns="0" tIns="0" rIns="0" bIns="0" rtlCol="0" anchor="ctr"/>
          <a:lstStyle/>
          <a:p>
            <a:pPr marL="0" indent="0" algn="ctr">
              <a:buNone/>
            </a:pPr>
            <a:r>
              <a:rPr lang="en-US" sz="1100" b="1" kern="0" spc="100" dirty="0">
                <a:solidFill>
                  <a:srgbClr val="FFFFFF"/>
                </a:solidFill>
              </a:rPr>
              <a:t>THE PROBLEM</a:t>
            </a:r>
            <a:endParaRPr lang="en-US" sz="1100" dirty="0"/>
          </a:p>
        </p:txBody>
      </p:sp>
      <p:sp>
        <p:nvSpPr>
          <p:cNvPr id="8" name="Text 6"/>
          <p:cNvSpPr/>
          <p:nvPr/>
        </p:nvSpPr>
        <p:spPr>
          <a:xfrm>
            <a:off x="411480" y="1481328"/>
            <a:ext cx="3703320" cy="68580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Traditional loan assessment is manual, slow, and inconsistent. Banks rely on human reviewers for document checks, leading to:</a:t>
            </a:r>
            <a:endParaRPr lang="en-US" sz="1150" dirty="0"/>
          </a:p>
        </p:txBody>
      </p:sp>
      <p:sp>
        <p:nvSpPr>
          <p:cNvPr id="9" name="Text 7"/>
          <p:cNvSpPr/>
          <p:nvPr/>
        </p:nvSpPr>
        <p:spPr>
          <a:xfrm>
            <a:off x="411480" y="2212848"/>
            <a:ext cx="3703320" cy="2377440"/>
          </a:xfrm>
          <a:prstGeom prst="rect">
            <a:avLst/>
          </a:prstGeom>
          <a:noFill/>
          <a:ln/>
        </p:spPr>
        <p:txBody>
          <a:bodyPr wrap="square" rtlCol="0" anchor="ctr"/>
          <a:lstStyle/>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Lengthy processing times (days to weeks)</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Human errors in document verification</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Opaque, unexplained rejection decisions</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Inconsistent criteria across reviewers</a:t>
            </a:r>
            <a:endParaRPr lang="en-US" sz="1150" dirty="0"/>
          </a:p>
        </p:txBody>
      </p:sp>
      <p:sp>
        <p:nvSpPr>
          <p:cNvPr id="10" name="Shape 8"/>
          <p:cNvSpPr/>
          <p:nvPr/>
        </p:nvSpPr>
        <p:spPr>
          <a:xfrm>
            <a:off x="4480560" y="1005840"/>
            <a:ext cx="4389120" cy="3749040"/>
          </a:xfrm>
          <a:prstGeom prst="rect">
            <a:avLst/>
          </a:prstGeom>
          <a:solidFill>
            <a:srgbClr val="FFFFFF"/>
          </a:solidFill>
          <a:ln w="12700">
            <a:solidFill>
              <a:srgbClr val="D0DAEA"/>
            </a:solidFill>
            <a:prstDash val="solid"/>
          </a:ln>
          <a:effectLst>
            <a:outerShdw blurRad="101600" dist="38100" dir="8100000" algn="bl" rotWithShape="0">
              <a:srgbClr val="000000">
                <a:alpha val="10000"/>
              </a:srgbClr>
            </a:outerShdw>
          </a:effectLst>
        </p:spPr>
      </p:sp>
      <p:sp>
        <p:nvSpPr>
          <p:cNvPr id="11" name="Shape 9"/>
          <p:cNvSpPr/>
          <p:nvPr/>
        </p:nvSpPr>
        <p:spPr>
          <a:xfrm>
            <a:off x="4480560" y="1005840"/>
            <a:ext cx="4389120" cy="402336"/>
          </a:xfrm>
          <a:prstGeom prst="rect">
            <a:avLst/>
          </a:prstGeom>
          <a:solidFill>
            <a:srgbClr val="0A1628"/>
          </a:solidFill>
          <a:ln w="12700">
            <a:solidFill>
              <a:srgbClr val="0A1628"/>
            </a:solidFill>
            <a:prstDash val="solid"/>
          </a:ln>
        </p:spPr>
      </p:sp>
      <p:sp>
        <p:nvSpPr>
          <p:cNvPr id="12" name="Text 10"/>
          <p:cNvSpPr/>
          <p:nvPr/>
        </p:nvSpPr>
        <p:spPr>
          <a:xfrm>
            <a:off x="4480560" y="1005840"/>
            <a:ext cx="4389120" cy="402336"/>
          </a:xfrm>
          <a:prstGeom prst="rect">
            <a:avLst/>
          </a:prstGeom>
          <a:noFill/>
          <a:ln/>
        </p:spPr>
        <p:txBody>
          <a:bodyPr wrap="square" lIns="0" tIns="0" rIns="0" bIns="0" rtlCol="0" anchor="ctr"/>
          <a:lstStyle/>
          <a:p>
            <a:pPr marL="0" indent="0" algn="ctr">
              <a:buNone/>
            </a:pPr>
            <a:r>
              <a:rPr lang="en-US" sz="1100" b="1" kern="0" spc="100" dirty="0">
                <a:solidFill>
                  <a:srgbClr val="FFFFFF"/>
                </a:solidFill>
              </a:rPr>
              <a:t>OBJECTIVES</a:t>
            </a:r>
            <a:endParaRPr lang="en-US" sz="1100" dirty="0"/>
          </a:p>
        </p:txBody>
      </p:sp>
      <p:sp>
        <p:nvSpPr>
          <p:cNvPr id="13" name="Shape 11"/>
          <p:cNvSpPr/>
          <p:nvPr/>
        </p:nvSpPr>
        <p:spPr>
          <a:xfrm>
            <a:off x="4617720" y="1517904"/>
            <a:ext cx="347472" cy="347472"/>
          </a:xfrm>
          <a:prstGeom prst="ellipse">
            <a:avLst/>
          </a:prstGeom>
          <a:solidFill>
            <a:srgbClr val="028090"/>
          </a:solidFill>
          <a:ln w="12700">
            <a:solidFill>
              <a:srgbClr val="028090"/>
            </a:solidFill>
            <a:prstDash val="solid"/>
          </a:ln>
        </p:spPr>
      </p:sp>
      <p:sp>
        <p:nvSpPr>
          <p:cNvPr id="14" name="Text 12"/>
          <p:cNvSpPr/>
          <p:nvPr/>
        </p:nvSpPr>
        <p:spPr>
          <a:xfrm>
            <a:off x="4617720" y="1517904"/>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rPr>
              <a:t>01</a:t>
            </a:r>
            <a:endParaRPr lang="en-US" sz="1000" dirty="0"/>
          </a:p>
        </p:txBody>
      </p:sp>
      <p:sp>
        <p:nvSpPr>
          <p:cNvPr id="15" name="Text 13"/>
          <p:cNvSpPr/>
          <p:nvPr/>
        </p:nvSpPr>
        <p:spPr>
          <a:xfrm>
            <a:off x="5074920" y="1536192"/>
            <a:ext cx="3657600" cy="329184"/>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Automate loan eligibility prediction using Qwen LLM</a:t>
            </a:r>
            <a:endParaRPr lang="en-US" sz="1150" dirty="0"/>
          </a:p>
        </p:txBody>
      </p:sp>
      <p:sp>
        <p:nvSpPr>
          <p:cNvPr id="16" name="Shape 14"/>
          <p:cNvSpPr/>
          <p:nvPr/>
        </p:nvSpPr>
        <p:spPr>
          <a:xfrm>
            <a:off x="4617720" y="2304288"/>
            <a:ext cx="347472" cy="347472"/>
          </a:xfrm>
          <a:prstGeom prst="ellipse">
            <a:avLst/>
          </a:prstGeom>
          <a:solidFill>
            <a:srgbClr val="028090"/>
          </a:solidFill>
          <a:ln w="12700">
            <a:solidFill>
              <a:srgbClr val="028090"/>
            </a:solidFill>
            <a:prstDash val="solid"/>
          </a:ln>
        </p:spPr>
      </p:sp>
      <p:sp>
        <p:nvSpPr>
          <p:cNvPr id="17" name="Text 15"/>
          <p:cNvSpPr/>
          <p:nvPr/>
        </p:nvSpPr>
        <p:spPr>
          <a:xfrm>
            <a:off x="4617720" y="2304288"/>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rPr>
              <a:t>02</a:t>
            </a:r>
            <a:endParaRPr lang="en-US" sz="1000" dirty="0"/>
          </a:p>
        </p:txBody>
      </p:sp>
      <p:sp>
        <p:nvSpPr>
          <p:cNvPr id="18" name="Text 16"/>
          <p:cNvSpPr/>
          <p:nvPr/>
        </p:nvSpPr>
        <p:spPr>
          <a:xfrm>
            <a:off x="5074920" y="2322576"/>
            <a:ext cx="3657600" cy="329184"/>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Verify financial documents intelligently via LlamaParse</a:t>
            </a:r>
            <a:endParaRPr lang="en-US" sz="1150" dirty="0"/>
          </a:p>
        </p:txBody>
      </p:sp>
      <p:sp>
        <p:nvSpPr>
          <p:cNvPr id="19" name="Shape 17"/>
          <p:cNvSpPr/>
          <p:nvPr/>
        </p:nvSpPr>
        <p:spPr>
          <a:xfrm>
            <a:off x="4617720" y="3090672"/>
            <a:ext cx="347472" cy="347472"/>
          </a:xfrm>
          <a:prstGeom prst="ellipse">
            <a:avLst/>
          </a:prstGeom>
          <a:solidFill>
            <a:srgbClr val="028090"/>
          </a:solidFill>
          <a:ln w="12700">
            <a:solidFill>
              <a:srgbClr val="028090"/>
            </a:solidFill>
            <a:prstDash val="solid"/>
          </a:ln>
        </p:spPr>
      </p:sp>
      <p:sp>
        <p:nvSpPr>
          <p:cNvPr id="20" name="Text 18"/>
          <p:cNvSpPr/>
          <p:nvPr/>
        </p:nvSpPr>
        <p:spPr>
          <a:xfrm>
            <a:off x="4617720" y="3090672"/>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rPr>
              <a:t>03</a:t>
            </a:r>
            <a:endParaRPr lang="en-US" sz="1000" dirty="0"/>
          </a:p>
        </p:txBody>
      </p:sp>
      <p:sp>
        <p:nvSpPr>
          <p:cNvPr id="21" name="Text 19"/>
          <p:cNvSpPr/>
          <p:nvPr/>
        </p:nvSpPr>
        <p:spPr>
          <a:xfrm>
            <a:off x="5074920" y="3108960"/>
            <a:ext cx="3657600" cy="329184"/>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Deliver explainable AI decisions — reasoning, not just outcomes</a:t>
            </a:r>
            <a:endParaRPr lang="en-US" sz="1150" dirty="0"/>
          </a:p>
        </p:txBody>
      </p:sp>
      <p:sp>
        <p:nvSpPr>
          <p:cNvPr id="22" name="Shape 20"/>
          <p:cNvSpPr/>
          <p:nvPr/>
        </p:nvSpPr>
        <p:spPr>
          <a:xfrm>
            <a:off x="4617720" y="3877056"/>
            <a:ext cx="347472" cy="347472"/>
          </a:xfrm>
          <a:prstGeom prst="ellipse">
            <a:avLst/>
          </a:prstGeom>
          <a:solidFill>
            <a:srgbClr val="028090"/>
          </a:solidFill>
          <a:ln w="12700">
            <a:solidFill>
              <a:srgbClr val="028090"/>
            </a:solidFill>
            <a:prstDash val="solid"/>
          </a:ln>
        </p:spPr>
      </p:sp>
      <p:sp>
        <p:nvSpPr>
          <p:cNvPr id="23" name="Text 21"/>
          <p:cNvSpPr/>
          <p:nvPr/>
        </p:nvSpPr>
        <p:spPr>
          <a:xfrm>
            <a:off x="4617720" y="3877056"/>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rPr>
              <a:t>04</a:t>
            </a:r>
            <a:endParaRPr lang="en-US" sz="1000" dirty="0"/>
          </a:p>
        </p:txBody>
      </p:sp>
      <p:sp>
        <p:nvSpPr>
          <p:cNvPr id="24" name="Text 22"/>
          <p:cNvSpPr/>
          <p:nvPr/>
        </p:nvSpPr>
        <p:spPr>
          <a:xfrm>
            <a:off x="5074920" y="3895344"/>
            <a:ext cx="3657600" cy="329184"/>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Reduce processing time and eliminate human error</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w="12700">
            <a:solidFill>
              <a:srgbClr val="0A1628"/>
            </a:solidFill>
            <a:prstDash val="solid"/>
          </a:ln>
        </p:spPr>
      </p:sp>
      <p:sp>
        <p:nvSpPr>
          <p:cNvPr id="3" name="Text 1"/>
          <p:cNvSpPr/>
          <p:nvPr/>
        </p:nvSpPr>
        <p:spPr>
          <a:xfrm>
            <a:off x="365760" y="0"/>
            <a:ext cx="7772400" cy="8686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Engineering Knowledge</a:t>
            </a:r>
            <a:endParaRPr lang="en-US" sz="2200" dirty="0"/>
          </a:p>
        </p:txBody>
      </p:sp>
      <p:sp>
        <p:nvSpPr>
          <p:cNvPr id="4" name="Text 2"/>
          <p:cNvSpPr/>
          <p:nvPr/>
        </p:nvSpPr>
        <p:spPr>
          <a:xfrm>
            <a:off x="365760" y="0"/>
            <a:ext cx="8503920" cy="868680"/>
          </a:xfrm>
          <a:prstGeom prst="rect">
            <a:avLst/>
          </a:prstGeom>
          <a:noFill/>
          <a:ln/>
        </p:spPr>
        <p:txBody>
          <a:bodyPr wrap="square" rtlCol="0" anchor="ctr"/>
          <a:lstStyle/>
          <a:p>
            <a:pPr marL="0" indent="0" algn="r">
              <a:buNone/>
            </a:pPr>
            <a:endParaRPr lang="en-US" sz="1000" dirty="0"/>
          </a:p>
        </p:txBody>
      </p:sp>
      <p:sp>
        <p:nvSpPr>
          <p:cNvPr id="5" name="Shape 3"/>
          <p:cNvSpPr/>
          <p:nvPr/>
        </p:nvSpPr>
        <p:spPr>
          <a:xfrm>
            <a:off x="274320" y="1005840"/>
            <a:ext cx="2743200" cy="3749040"/>
          </a:xfrm>
          <a:prstGeom prst="rect">
            <a:avLst/>
          </a:prstGeom>
          <a:solidFill>
            <a:srgbClr val="FFFFFF"/>
          </a:solidFill>
          <a:ln w="12700">
            <a:solidFill>
              <a:srgbClr val="D0DAEA"/>
            </a:solidFill>
            <a:prstDash val="solid"/>
          </a:ln>
          <a:effectLst>
            <a:outerShdw blurRad="101600" dist="38100" dir="8100000" algn="bl" rotWithShape="0">
              <a:srgbClr val="000000">
                <a:alpha val="10000"/>
              </a:srgbClr>
            </a:outerShdw>
          </a:effectLst>
        </p:spPr>
      </p:sp>
      <p:sp>
        <p:nvSpPr>
          <p:cNvPr id="6" name="Shape 4"/>
          <p:cNvSpPr/>
          <p:nvPr/>
        </p:nvSpPr>
        <p:spPr>
          <a:xfrm>
            <a:off x="274320" y="1005840"/>
            <a:ext cx="2743200" cy="502920"/>
          </a:xfrm>
          <a:prstGeom prst="rect">
            <a:avLst/>
          </a:prstGeom>
          <a:solidFill>
            <a:srgbClr val="028090"/>
          </a:solidFill>
          <a:ln w="12700">
            <a:solidFill>
              <a:srgbClr val="028090"/>
            </a:solidFill>
            <a:prstDash val="solid"/>
          </a:ln>
        </p:spPr>
      </p:sp>
      <p:sp>
        <p:nvSpPr>
          <p:cNvPr id="7" name="Text 5"/>
          <p:cNvSpPr/>
          <p:nvPr/>
        </p:nvSpPr>
        <p:spPr>
          <a:xfrm>
            <a:off x="274320" y="1005840"/>
            <a:ext cx="274320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Qwen LLM</a:t>
            </a:r>
            <a:endParaRPr lang="en-US" sz="1500" dirty="0"/>
          </a:p>
        </p:txBody>
      </p:sp>
      <p:sp>
        <p:nvSpPr>
          <p:cNvPr id="8" name="Text 6"/>
          <p:cNvSpPr/>
          <p:nvPr/>
        </p:nvSpPr>
        <p:spPr>
          <a:xfrm>
            <a:off x="384048" y="1591056"/>
            <a:ext cx="2523744" cy="3072384"/>
          </a:xfrm>
          <a:prstGeom prst="rect">
            <a:avLst/>
          </a:prstGeom>
          <a:noFill/>
          <a:ln/>
        </p:spPr>
        <p:txBody>
          <a:bodyPr wrap="square" rtlCol="0" anchor="ctr"/>
          <a:lstStyle/>
          <a:p>
            <a:pPr marL="342900" indent="-342900">
              <a:spcAft>
                <a:spcPts val="800"/>
              </a:spcAft>
              <a:buSzPct val="100000"/>
              <a:buChar char="•"/>
            </a:pPr>
            <a:r>
              <a:rPr lang="en-US" sz="1150" dirty="0">
                <a:solidFill>
                  <a:srgbClr val="1E293B"/>
                </a:solidFill>
                <a:latin typeface="Calibri" pitchFamily="34" charset="0"/>
                <a:ea typeface="Calibri" pitchFamily="34" charset="-122"/>
                <a:cs typeface="Calibri" pitchFamily="34" charset="-120"/>
              </a:rPr>
              <a:t>Large language model by Alibaba Cloud fine-tuned for reasoning tasks</a:t>
            </a:r>
            <a:endParaRPr lang="en-US" sz="1150" dirty="0"/>
          </a:p>
          <a:p>
            <a:pPr marL="342900" indent="-342900">
              <a:spcAft>
                <a:spcPts val="800"/>
              </a:spcAft>
              <a:buSzPct val="100000"/>
              <a:buChar char="•"/>
            </a:pPr>
            <a:r>
              <a:rPr lang="en-US" sz="1150" dirty="0">
                <a:solidFill>
                  <a:srgbClr val="1E293B"/>
                </a:solidFill>
                <a:latin typeface="Calibri" pitchFamily="34" charset="0"/>
                <a:ea typeface="Calibri" pitchFamily="34" charset="-122"/>
                <a:cs typeface="Calibri" pitchFamily="34" charset="-120"/>
              </a:rPr>
              <a:t>Processes structured applicant data to assess creditworthiness</a:t>
            </a:r>
            <a:endParaRPr lang="en-US" sz="1150" dirty="0"/>
          </a:p>
          <a:p>
            <a:pPr marL="342900" indent="-342900">
              <a:spcAft>
                <a:spcPts val="800"/>
              </a:spcAft>
              <a:buSzPct val="100000"/>
              <a:buChar char="•"/>
            </a:pPr>
            <a:r>
              <a:rPr lang="en-US" sz="1150" dirty="0">
                <a:solidFill>
                  <a:srgbClr val="1E293B"/>
                </a:solidFill>
                <a:latin typeface="Calibri" pitchFamily="34" charset="0"/>
                <a:ea typeface="Calibri" pitchFamily="34" charset="-122"/>
                <a:cs typeface="Calibri" pitchFamily="34" charset="-120"/>
              </a:rPr>
              <a:t>Generates natural-language rationale for each loan decision</a:t>
            </a:r>
            <a:endParaRPr lang="en-US" sz="1150" dirty="0"/>
          </a:p>
        </p:txBody>
      </p:sp>
      <p:sp>
        <p:nvSpPr>
          <p:cNvPr id="9" name="Shape 7"/>
          <p:cNvSpPr/>
          <p:nvPr/>
        </p:nvSpPr>
        <p:spPr>
          <a:xfrm>
            <a:off x="3154680" y="1005840"/>
            <a:ext cx="2743200" cy="3749040"/>
          </a:xfrm>
          <a:prstGeom prst="rect">
            <a:avLst/>
          </a:prstGeom>
          <a:solidFill>
            <a:srgbClr val="FFFFFF"/>
          </a:solidFill>
          <a:ln w="12700">
            <a:solidFill>
              <a:srgbClr val="D0DAEA"/>
            </a:solidFill>
            <a:prstDash val="solid"/>
          </a:ln>
          <a:effectLst>
            <a:outerShdw blurRad="101600" dist="38100" dir="8100000" algn="bl" rotWithShape="0">
              <a:srgbClr val="000000">
                <a:alpha val="10000"/>
              </a:srgbClr>
            </a:outerShdw>
          </a:effectLst>
        </p:spPr>
      </p:sp>
      <p:sp>
        <p:nvSpPr>
          <p:cNvPr id="10" name="Shape 8"/>
          <p:cNvSpPr/>
          <p:nvPr/>
        </p:nvSpPr>
        <p:spPr>
          <a:xfrm>
            <a:off x="3154680" y="1005840"/>
            <a:ext cx="2743200" cy="502920"/>
          </a:xfrm>
          <a:prstGeom prst="rect">
            <a:avLst/>
          </a:prstGeom>
          <a:solidFill>
            <a:srgbClr val="0A1628"/>
          </a:solidFill>
          <a:ln w="12700">
            <a:solidFill>
              <a:srgbClr val="0A1628"/>
            </a:solidFill>
            <a:prstDash val="solid"/>
          </a:ln>
        </p:spPr>
      </p:sp>
      <p:sp>
        <p:nvSpPr>
          <p:cNvPr id="11" name="Text 9"/>
          <p:cNvSpPr/>
          <p:nvPr/>
        </p:nvSpPr>
        <p:spPr>
          <a:xfrm>
            <a:off x="3154680" y="1005840"/>
            <a:ext cx="274320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LlamaParse</a:t>
            </a:r>
            <a:endParaRPr lang="en-US" sz="1500" dirty="0"/>
          </a:p>
        </p:txBody>
      </p:sp>
      <p:sp>
        <p:nvSpPr>
          <p:cNvPr id="12" name="Text 10"/>
          <p:cNvSpPr/>
          <p:nvPr/>
        </p:nvSpPr>
        <p:spPr>
          <a:xfrm>
            <a:off x="3264408" y="1591056"/>
            <a:ext cx="2523744" cy="3072384"/>
          </a:xfrm>
          <a:prstGeom prst="rect">
            <a:avLst/>
          </a:prstGeom>
          <a:noFill/>
          <a:ln/>
        </p:spPr>
        <p:txBody>
          <a:bodyPr wrap="square" rtlCol="0" anchor="ctr"/>
          <a:lstStyle/>
          <a:p>
            <a:pPr marL="342900" indent="-342900">
              <a:spcAft>
                <a:spcPts val="800"/>
              </a:spcAft>
              <a:buSzPct val="100000"/>
              <a:buChar char="•"/>
            </a:pPr>
            <a:r>
              <a:rPr lang="en-US" sz="1150" dirty="0">
                <a:solidFill>
                  <a:srgbClr val="1E293B"/>
                </a:solidFill>
                <a:latin typeface="Calibri" pitchFamily="34" charset="0"/>
                <a:ea typeface="Calibri" pitchFamily="34" charset="-122"/>
                <a:cs typeface="Calibri" pitchFamily="34" charset="-120"/>
              </a:rPr>
              <a:t>Advanced document parsing engine for PDFs, images &amp; scanned forms</a:t>
            </a:r>
            <a:endParaRPr lang="en-US" sz="1150" dirty="0"/>
          </a:p>
          <a:p>
            <a:pPr marL="342900" indent="-342900">
              <a:spcAft>
                <a:spcPts val="800"/>
              </a:spcAft>
              <a:buSzPct val="100000"/>
              <a:buChar char="•"/>
            </a:pPr>
            <a:r>
              <a:rPr lang="en-US" sz="1150" dirty="0">
                <a:solidFill>
                  <a:srgbClr val="1E293B"/>
                </a:solidFill>
                <a:latin typeface="Calibri" pitchFamily="34" charset="0"/>
                <a:ea typeface="Calibri" pitchFamily="34" charset="-122"/>
                <a:cs typeface="Calibri" pitchFamily="34" charset="-120"/>
              </a:rPr>
              <a:t>Extracts structured fields: income, ID, bank statements</a:t>
            </a:r>
            <a:endParaRPr lang="en-US" sz="1150" dirty="0"/>
          </a:p>
          <a:p>
            <a:pPr marL="342900" indent="-342900">
              <a:spcAft>
                <a:spcPts val="800"/>
              </a:spcAft>
              <a:buSzPct val="100000"/>
              <a:buChar char="•"/>
            </a:pPr>
            <a:r>
              <a:rPr lang="en-US" sz="1150" dirty="0">
                <a:solidFill>
                  <a:srgbClr val="1E293B"/>
                </a:solidFill>
                <a:latin typeface="Calibri" pitchFamily="34" charset="0"/>
                <a:ea typeface="Calibri" pitchFamily="34" charset="-122"/>
                <a:cs typeface="Calibri" pitchFamily="34" charset="-120"/>
              </a:rPr>
              <a:t>Validates document authenticity and cross-checks data consistency</a:t>
            </a:r>
            <a:endParaRPr lang="en-US" sz="1150" dirty="0"/>
          </a:p>
        </p:txBody>
      </p:sp>
      <p:sp>
        <p:nvSpPr>
          <p:cNvPr id="13" name="Shape 11"/>
          <p:cNvSpPr/>
          <p:nvPr/>
        </p:nvSpPr>
        <p:spPr>
          <a:xfrm>
            <a:off x="6035040" y="1005840"/>
            <a:ext cx="2743200" cy="3749040"/>
          </a:xfrm>
          <a:prstGeom prst="rect">
            <a:avLst/>
          </a:prstGeom>
          <a:solidFill>
            <a:srgbClr val="FFFFFF"/>
          </a:solidFill>
          <a:ln w="12700">
            <a:solidFill>
              <a:srgbClr val="D0DAEA"/>
            </a:solidFill>
            <a:prstDash val="solid"/>
          </a:ln>
          <a:effectLst>
            <a:outerShdw blurRad="101600" dist="38100" dir="8100000" algn="bl" rotWithShape="0">
              <a:srgbClr val="000000">
                <a:alpha val="10000"/>
              </a:srgbClr>
            </a:outerShdw>
          </a:effectLst>
        </p:spPr>
      </p:sp>
      <p:sp>
        <p:nvSpPr>
          <p:cNvPr id="14" name="Shape 12"/>
          <p:cNvSpPr/>
          <p:nvPr/>
        </p:nvSpPr>
        <p:spPr>
          <a:xfrm>
            <a:off x="6035040" y="1005840"/>
            <a:ext cx="2743200" cy="502920"/>
          </a:xfrm>
          <a:prstGeom prst="rect">
            <a:avLst/>
          </a:prstGeom>
          <a:solidFill>
            <a:srgbClr val="6D28D9"/>
          </a:solidFill>
          <a:ln w="12700">
            <a:solidFill>
              <a:srgbClr val="6D28D9"/>
            </a:solidFill>
            <a:prstDash val="solid"/>
          </a:ln>
        </p:spPr>
      </p:sp>
      <p:sp>
        <p:nvSpPr>
          <p:cNvPr id="15" name="Text 13"/>
          <p:cNvSpPr/>
          <p:nvPr/>
        </p:nvSpPr>
        <p:spPr>
          <a:xfrm>
            <a:off x="6035040" y="1005840"/>
            <a:ext cx="274320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Explainable AI</a:t>
            </a:r>
            <a:endParaRPr lang="en-US" sz="1500" dirty="0"/>
          </a:p>
        </p:txBody>
      </p:sp>
      <p:sp>
        <p:nvSpPr>
          <p:cNvPr id="16" name="Text 14"/>
          <p:cNvSpPr/>
          <p:nvPr/>
        </p:nvSpPr>
        <p:spPr>
          <a:xfrm>
            <a:off x="6144768" y="1591056"/>
            <a:ext cx="2523744" cy="3072384"/>
          </a:xfrm>
          <a:prstGeom prst="rect">
            <a:avLst/>
          </a:prstGeom>
          <a:noFill/>
          <a:ln/>
        </p:spPr>
        <p:txBody>
          <a:bodyPr wrap="square" rtlCol="0" anchor="ctr"/>
          <a:lstStyle/>
          <a:p>
            <a:pPr marL="342900" indent="-342900">
              <a:spcAft>
                <a:spcPts val="800"/>
              </a:spcAft>
              <a:buSzPct val="100000"/>
              <a:buChar char="•"/>
            </a:pPr>
            <a:r>
              <a:rPr lang="en-US" sz="1150" dirty="0">
                <a:solidFill>
                  <a:srgbClr val="1E293B"/>
                </a:solidFill>
                <a:latin typeface="Calibri" pitchFamily="34" charset="0"/>
                <a:ea typeface="Calibri" pitchFamily="34" charset="-122"/>
                <a:cs typeface="Calibri" pitchFamily="34" charset="-120"/>
              </a:rPr>
              <a:t>Provides detailed reasoning alongside every prediction</a:t>
            </a:r>
            <a:endParaRPr lang="en-US" sz="1150" dirty="0"/>
          </a:p>
          <a:p>
            <a:pPr marL="342900" indent="-342900">
              <a:spcAft>
                <a:spcPts val="800"/>
              </a:spcAft>
              <a:buSzPct val="100000"/>
              <a:buChar char="•"/>
            </a:pPr>
            <a:r>
              <a:rPr lang="en-US" sz="1150" dirty="0">
                <a:solidFill>
                  <a:srgbClr val="1E293B"/>
                </a:solidFill>
                <a:latin typeface="Calibri" pitchFamily="34" charset="0"/>
                <a:ea typeface="Calibri" pitchFamily="34" charset="-122"/>
                <a:cs typeface="Calibri" pitchFamily="34" charset="-120"/>
              </a:rPr>
              <a:t>Highlights key factors: income</a:t>
            </a:r>
            <a:r>
              <a:rPr lang="en-US" sz="1150">
                <a:solidFill>
                  <a:srgbClr val="1E293B"/>
                </a:solidFill>
                <a:latin typeface="Calibri" pitchFamily="34" charset="0"/>
                <a:ea typeface="Calibri" pitchFamily="34" charset="-122"/>
                <a:cs typeface="Calibri" pitchFamily="34" charset="-120"/>
              </a:rPr>
              <a:t>, dependents, </a:t>
            </a:r>
            <a:r>
              <a:rPr lang="en-US" sz="1150" dirty="0">
                <a:solidFill>
                  <a:srgbClr val="1E293B"/>
                </a:solidFill>
                <a:latin typeface="Calibri" pitchFamily="34" charset="0"/>
                <a:ea typeface="Calibri" pitchFamily="34" charset="-122"/>
                <a:cs typeface="Calibri" pitchFamily="34" charset="-120"/>
              </a:rPr>
              <a:t>credit history</a:t>
            </a:r>
            <a:endParaRPr lang="en-US" sz="1150" dirty="0"/>
          </a:p>
          <a:p>
            <a:pPr marL="342900" indent="-342900">
              <a:spcAft>
                <a:spcPts val="800"/>
              </a:spcAft>
              <a:buSzPct val="100000"/>
              <a:buChar char="•"/>
            </a:pPr>
            <a:r>
              <a:rPr lang="en-US" sz="1150" dirty="0">
                <a:solidFill>
                  <a:srgbClr val="1E293B"/>
                </a:solidFill>
                <a:latin typeface="Calibri" pitchFamily="34" charset="0"/>
                <a:ea typeface="Calibri" pitchFamily="34" charset="-122"/>
                <a:cs typeface="Calibri" pitchFamily="34" charset="-120"/>
              </a:rPr>
              <a:t>Builds trust and supports regulatory compliance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w="12700">
            <a:solidFill>
              <a:srgbClr val="0A1628"/>
            </a:solidFill>
            <a:prstDash val="solid"/>
          </a:ln>
        </p:spPr>
      </p:sp>
      <p:sp>
        <p:nvSpPr>
          <p:cNvPr id="3" name="Text 1"/>
          <p:cNvSpPr/>
          <p:nvPr/>
        </p:nvSpPr>
        <p:spPr>
          <a:xfrm>
            <a:off x="365760" y="0"/>
            <a:ext cx="7772400" cy="8686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Analysis: Literature Review &amp; Problem Formulation</a:t>
            </a:r>
            <a:endParaRPr lang="en-US" sz="2000" dirty="0"/>
          </a:p>
        </p:txBody>
      </p:sp>
      <p:sp>
        <p:nvSpPr>
          <p:cNvPr id="4" name="Text 2"/>
          <p:cNvSpPr/>
          <p:nvPr/>
        </p:nvSpPr>
        <p:spPr>
          <a:xfrm>
            <a:off x="365760" y="0"/>
            <a:ext cx="8503920" cy="868680"/>
          </a:xfrm>
          <a:prstGeom prst="rect">
            <a:avLst/>
          </a:prstGeom>
          <a:noFill/>
          <a:ln/>
        </p:spPr>
        <p:txBody>
          <a:bodyPr wrap="square" rtlCol="0" anchor="ctr"/>
          <a:lstStyle/>
          <a:p>
            <a:pPr marL="0" indent="0" algn="r">
              <a:buNone/>
            </a:pPr>
            <a:endParaRPr lang="en-US" sz="1000" dirty="0"/>
          </a:p>
        </p:txBody>
      </p:sp>
      <p:sp>
        <p:nvSpPr>
          <p:cNvPr id="5" name="Shape 3"/>
          <p:cNvSpPr/>
          <p:nvPr/>
        </p:nvSpPr>
        <p:spPr>
          <a:xfrm>
            <a:off x="274320" y="1005840"/>
            <a:ext cx="4023360" cy="3749040"/>
          </a:xfrm>
          <a:prstGeom prst="rect">
            <a:avLst/>
          </a:prstGeom>
          <a:solidFill>
            <a:srgbClr val="FFFFFF"/>
          </a:solidFill>
          <a:ln w="12700">
            <a:solidFill>
              <a:srgbClr val="D0DAEA"/>
            </a:solidFill>
            <a:prstDash val="solid"/>
          </a:ln>
          <a:effectLst>
            <a:outerShdw blurRad="101600" dist="38100" dir="8100000" algn="bl" rotWithShape="0">
              <a:srgbClr val="000000">
                <a:alpha val="10000"/>
              </a:srgbClr>
            </a:outerShdw>
          </a:effectLst>
        </p:spPr>
      </p:sp>
      <p:sp>
        <p:nvSpPr>
          <p:cNvPr id="6" name="Shape 4"/>
          <p:cNvSpPr/>
          <p:nvPr/>
        </p:nvSpPr>
        <p:spPr>
          <a:xfrm>
            <a:off x="274320" y="1005840"/>
            <a:ext cx="4023360" cy="402336"/>
          </a:xfrm>
          <a:prstGeom prst="rect">
            <a:avLst/>
          </a:prstGeom>
          <a:solidFill>
            <a:srgbClr val="028090"/>
          </a:solidFill>
          <a:ln w="12700">
            <a:solidFill>
              <a:srgbClr val="028090"/>
            </a:solidFill>
            <a:prstDash val="solid"/>
          </a:ln>
        </p:spPr>
      </p:sp>
      <p:sp>
        <p:nvSpPr>
          <p:cNvPr id="7" name="Text 5"/>
          <p:cNvSpPr/>
          <p:nvPr/>
        </p:nvSpPr>
        <p:spPr>
          <a:xfrm>
            <a:off x="274320" y="1005840"/>
            <a:ext cx="4023360" cy="402336"/>
          </a:xfrm>
          <a:prstGeom prst="rect">
            <a:avLst/>
          </a:prstGeom>
          <a:noFill/>
          <a:ln/>
        </p:spPr>
        <p:txBody>
          <a:bodyPr wrap="square" lIns="0" tIns="0" rIns="0" bIns="0" rtlCol="0" anchor="ctr"/>
          <a:lstStyle/>
          <a:p>
            <a:pPr marL="0" indent="0" algn="ctr">
              <a:buNone/>
            </a:pPr>
            <a:r>
              <a:rPr lang="en-US" sz="1000" b="1" kern="0" spc="100" dirty="0">
                <a:solidFill>
                  <a:srgbClr val="FFFFFF"/>
                </a:solidFill>
              </a:rPr>
              <a:t>EXISTING METHODOLOGIES</a:t>
            </a:r>
            <a:endParaRPr lang="en-US" sz="1000" dirty="0"/>
          </a:p>
        </p:txBody>
      </p:sp>
      <p:sp>
        <p:nvSpPr>
          <p:cNvPr id="8" name="Shape 6"/>
          <p:cNvSpPr/>
          <p:nvPr/>
        </p:nvSpPr>
        <p:spPr>
          <a:xfrm>
            <a:off x="365760" y="1563624"/>
            <a:ext cx="64008" cy="457200"/>
          </a:xfrm>
          <a:prstGeom prst="rect">
            <a:avLst/>
          </a:prstGeom>
          <a:solidFill>
            <a:srgbClr val="F0A500"/>
          </a:solidFill>
          <a:ln w="12700">
            <a:solidFill>
              <a:srgbClr val="F0A500"/>
            </a:solidFill>
            <a:prstDash val="solid"/>
          </a:ln>
        </p:spPr>
      </p:sp>
      <p:sp>
        <p:nvSpPr>
          <p:cNvPr id="9" name="Text 7"/>
          <p:cNvSpPr/>
          <p:nvPr/>
        </p:nvSpPr>
        <p:spPr>
          <a:xfrm>
            <a:off x="548640" y="1517904"/>
            <a:ext cx="3639312" cy="256032"/>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Rule-Based Systems</a:t>
            </a:r>
            <a:endParaRPr lang="en-US" sz="1200" dirty="0"/>
          </a:p>
        </p:txBody>
      </p:sp>
      <p:sp>
        <p:nvSpPr>
          <p:cNvPr id="10" name="Text 8"/>
          <p:cNvSpPr/>
          <p:nvPr/>
        </p:nvSpPr>
        <p:spPr>
          <a:xfrm>
            <a:off x="548640" y="1764792"/>
            <a:ext cx="3639312" cy="256032"/>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Rigid credit scoring; no contextual reasoning or adaptation</a:t>
            </a:r>
            <a:endParaRPr lang="en-US" sz="1050" dirty="0"/>
          </a:p>
        </p:txBody>
      </p:sp>
      <p:sp>
        <p:nvSpPr>
          <p:cNvPr id="11" name="Shape 9"/>
          <p:cNvSpPr/>
          <p:nvPr/>
        </p:nvSpPr>
        <p:spPr>
          <a:xfrm>
            <a:off x="365760" y="2340864"/>
            <a:ext cx="64008" cy="457200"/>
          </a:xfrm>
          <a:prstGeom prst="rect">
            <a:avLst/>
          </a:prstGeom>
          <a:solidFill>
            <a:srgbClr val="F0A500"/>
          </a:solidFill>
          <a:ln w="12700">
            <a:solidFill>
              <a:srgbClr val="F0A500"/>
            </a:solidFill>
            <a:prstDash val="solid"/>
          </a:ln>
        </p:spPr>
      </p:sp>
      <p:sp>
        <p:nvSpPr>
          <p:cNvPr id="12" name="Text 10"/>
          <p:cNvSpPr/>
          <p:nvPr/>
        </p:nvSpPr>
        <p:spPr>
          <a:xfrm>
            <a:off x="548640" y="2295144"/>
            <a:ext cx="3639312" cy="256032"/>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ML Models </a:t>
            </a:r>
            <a:endParaRPr lang="en-US" sz="1200" dirty="0"/>
          </a:p>
        </p:txBody>
      </p:sp>
      <p:sp>
        <p:nvSpPr>
          <p:cNvPr id="13" name="Text 11"/>
          <p:cNvSpPr/>
          <p:nvPr/>
        </p:nvSpPr>
        <p:spPr>
          <a:xfrm>
            <a:off x="548640" y="2542032"/>
            <a:ext cx="3639312" cy="256032"/>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High accuracy but black-box; decisions cannot be explained</a:t>
            </a:r>
            <a:endParaRPr lang="en-US" sz="1050" dirty="0"/>
          </a:p>
        </p:txBody>
      </p:sp>
      <p:sp>
        <p:nvSpPr>
          <p:cNvPr id="14" name="Shape 12"/>
          <p:cNvSpPr/>
          <p:nvPr/>
        </p:nvSpPr>
        <p:spPr>
          <a:xfrm>
            <a:off x="365760" y="3118104"/>
            <a:ext cx="64008" cy="457200"/>
          </a:xfrm>
          <a:prstGeom prst="rect">
            <a:avLst/>
          </a:prstGeom>
          <a:solidFill>
            <a:srgbClr val="F0A500"/>
          </a:solidFill>
          <a:ln w="12700">
            <a:solidFill>
              <a:srgbClr val="F0A500"/>
            </a:solidFill>
            <a:prstDash val="solid"/>
          </a:ln>
        </p:spPr>
      </p:sp>
      <p:sp>
        <p:nvSpPr>
          <p:cNvPr id="15" name="Text 13"/>
          <p:cNvSpPr/>
          <p:nvPr/>
        </p:nvSpPr>
        <p:spPr>
          <a:xfrm>
            <a:off x="548640" y="3072384"/>
            <a:ext cx="3639312" cy="256032"/>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Manual Review</a:t>
            </a:r>
            <a:endParaRPr lang="en-US" sz="1200" dirty="0"/>
          </a:p>
        </p:txBody>
      </p:sp>
      <p:sp>
        <p:nvSpPr>
          <p:cNvPr id="16" name="Text 14"/>
          <p:cNvSpPr/>
          <p:nvPr/>
        </p:nvSpPr>
        <p:spPr>
          <a:xfrm>
            <a:off x="548640" y="3319272"/>
            <a:ext cx="3639312" cy="256032"/>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Slow, error-prone, inconsistent and open to human bias</a:t>
            </a:r>
            <a:endParaRPr lang="en-US" sz="1050" dirty="0"/>
          </a:p>
        </p:txBody>
      </p:sp>
      <p:sp>
        <p:nvSpPr>
          <p:cNvPr id="17" name="Shape 15"/>
          <p:cNvSpPr/>
          <p:nvPr/>
        </p:nvSpPr>
        <p:spPr>
          <a:xfrm>
            <a:off x="365760" y="3895344"/>
            <a:ext cx="64008" cy="457200"/>
          </a:xfrm>
          <a:prstGeom prst="rect">
            <a:avLst/>
          </a:prstGeom>
          <a:solidFill>
            <a:srgbClr val="F0A500"/>
          </a:solidFill>
          <a:ln w="12700">
            <a:solidFill>
              <a:srgbClr val="F0A500"/>
            </a:solidFill>
            <a:prstDash val="solid"/>
          </a:ln>
        </p:spPr>
      </p:sp>
      <p:sp>
        <p:nvSpPr>
          <p:cNvPr id="18" name="Text 16"/>
          <p:cNvSpPr/>
          <p:nvPr/>
        </p:nvSpPr>
        <p:spPr>
          <a:xfrm>
            <a:off x="548640" y="3849624"/>
            <a:ext cx="3639312" cy="256032"/>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Basic NLP Parsers</a:t>
            </a:r>
            <a:endParaRPr lang="en-US" sz="1200" dirty="0"/>
          </a:p>
        </p:txBody>
      </p:sp>
      <p:sp>
        <p:nvSpPr>
          <p:cNvPr id="19" name="Text 17"/>
          <p:cNvSpPr/>
          <p:nvPr/>
        </p:nvSpPr>
        <p:spPr>
          <a:xfrm>
            <a:off x="548640" y="4096512"/>
            <a:ext cx="3639312" cy="256032"/>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Limited to fixed formats; poor generalization to new docs</a:t>
            </a:r>
            <a:endParaRPr lang="en-US" sz="1050" dirty="0"/>
          </a:p>
        </p:txBody>
      </p:sp>
      <p:sp>
        <p:nvSpPr>
          <p:cNvPr id="20" name="Shape 18"/>
          <p:cNvSpPr/>
          <p:nvPr/>
        </p:nvSpPr>
        <p:spPr>
          <a:xfrm>
            <a:off x="4526280" y="1005840"/>
            <a:ext cx="4343400" cy="3749040"/>
          </a:xfrm>
          <a:prstGeom prst="rect">
            <a:avLst/>
          </a:prstGeom>
          <a:solidFill>
            <a:srgbClr val="FFFFFF"/>
          </a:solidFill>
          <a:ln w="12700">
            <a:solidFill>
              <a:srgbClr val="D0DAEA"/>
            </a:solidFill>
            <a:prstDash val="solid"/>
          </a:ln>
          <a:effectLst>
            <a:outerShdw blurRad="101600" dist="38100" dir="8100000" algn="bl" rotWithShape="0">
              <a:srgbClr val="000000">
                <a:alpha val="10000"/>
              </a:srgbClr>
            </a:outerShdw>
          </a:effectLst>
        </p:spPr>
      </p:sp>
      <p:sp>
        <p:nvSpPr>
          <p:cNvPr id="21" name="Shape 19"/>
          <p:cNvSpPr/>
          <p:nvPr/>
        </p:nvSpPr>
        <p:spPr>
          <a:xfrm>
            <a:off x="4526280" y="1005840"/>
            <a:ext cx="4343400" cy="402336"/>
          </a:xfrm>
          <a:prstGeom prst="rect">
            <a:avLst/>
          </a:prstGeom>
          <a:solidFill>
            <a:srgbClr val="0A1628"/>
          </a:solidFill>
          <a:ln w="12700">
            <a:solidFill>
              <a:srgbClr val="0A1628"/>
            </a:solidFill>
            <a:prstDash val="solid"/>
          </a:ln>
        </p:spPr>
      </p:sp>
      <p:sp>
        <p:nvSpPr>
          <p:cNvPr id="22" name="Text 20"/>
          <p:cNvSpPr/>
          <p:nvPr/>
        </p:nvSpPr>
        <p:spPr>
          <a:xfrm>
            <a:off x="4526280" y="1005840"/>
            <a:ext cx="4343400" cy="402336"/>
          </a:xfrm>
          <a:prstGeom prst="rect">
            <a:avLst/>
          </a:prstGeom>
          <a:noFill/>
          <a:ln/>
        </p:spPr>
        <p:txBody>
          <a:bodyPr wrap="square" lIns="0" tIns="0" rIns="0" bIns="0" rtlCol="0" anchor="ctr"/>
          <a:lstStyle/>
          <a:p>
            <a:pPr marL="0" indent="0" algn="ctr">
              <a:buNone/>
            </a:pPr>
            <a:r>
              <a:rPr lang="en-US" sz="1000" b="1" kern="0" spc="100" dirty="0">
                <a:solidFill>
                  <a:srgbClr val="FFFFFF"/>
                </a:solidFill>
              </a:rPr>
              <a:t>RESEARCH GAP &amp; OUR SOLUTION</a:t>
            </a:r>
            <a:endParaRPr lang="en-US" sz="1000" dirty="0"/>
          </a:p>
        </p:txBody>
      </p:sp>
      <p:sp>
        <p:nvSpPr>
          <p:cNvPr id="23" name="Text 21"/>
          <p:cNvSpPr/>
          <p:nvPr/>
        </p:nvSpPr>
        <p:spPr>
          <a:xfrm>
            <a:off x="4663440" y="1499616"/>
            <a:ext cx="4023360" cy="274320"/>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Gap Identified:</a:t>
            </a:r>
            <a:endParaRPr lang="en-US" sz="1200" dirty="0"/>
          </a:p>
        </p:txBody>
      </p:sp>
      <p:sp>
        <p:nvSpPr>
          <p:cNvPr id="24" name="Text 22"/>
          <p:cNvSpPr/>
          <p:nvPr/>
        </p:nvSpPr>
        <p:spPr>
          <a:xfrm>
            <a:off x="4663440" y="1773936"/>
            <a:ext cx="4023360" cy="59436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No existing system unifies intelligent document parsing with LLM-based explainable loan prediction in a single pipeline.</a:t>
            </a:r>
            <a:endParaRPr lang="en-US" sz="1150" dirty="0"/>
          </a:p>
        </p:txBody>
      </p:sp>
      <p:sp>
        <p:nvSpPr>
          <p:cNvPr id="25" name="Text 23"/>
          <p:cNvSpPr/>
          <p:nvPr/>
        </p:nvSpPr>
        <p:spPr>
          <a:xfrm>
            <a:off x="4663440" y="2468880"/>
            <a:ext cx="4023360" cy="274320"/>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Our Contribution:</a:t>
            </a:r>
            <a:endParaRPr lang="en-US" sz="1200" dirty="0"/>
          </a:p>
        </p:txBody>
      </p:sp>
      <p:sp>
        <p:nvSpPr>
          <p:cNvPr id="26" name="Text 24"/>
          <p:cNvSpPr/>
          <p:nvPr/>
        </p:nvSpPr>
        <p:spPr>
          <a:xfrm>
            <a:off x="4663440" y="2779776"/>
            <a:ext cx="4023360" cy="1828800"/>
          </a:xfrm>
          <a:prstGeom prst="rect">
            <a:avLst/>
          </a:prstGeom>
          <a:noFill/>
          <a:ln/>
        </p:spPr>
        <p:txBody>
          <a:bodyPr wrap="square" rtlCol="0" anchor="ctr"/>
          <a:lstStyle/>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End-to-end pipeline: document → prediction → reasoning</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Qwen LLM for intelligent, context-aware credit assessment</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LlamaParse for robust, format-agnostic document extraction</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Human-readable reasoning output for every prediction outcome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w="12700">
            <a:solidFill>
              <a:srgbClr val="0A1628"/>
            </a:solidFill>
            <a:prstDash val="solid"/>
          </a:ln>
        </p:spPr>
      </p:sp>
      <p:sp>
        <p:nvSpPr>
          <p:cNvPr id="3" name="Text 1"/>
          <p:cNvSpPr/>
          <p:nvPr/>
        </p:nvSpPr>
        <p:spPr>
          <a:xfrm>
            <a:off x="365760" y="0"/>
            <a:ext cx="7772400" cy="8686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Design Methodology</a:t>
            </a:r>
            <a:endParaRPr lang="en-US" sz="2200" dirty="0"/>
          </a:p>
        </p:txBody>
      </p:sp>
      <p:sp>
        <p:nvSpPr>
          <p:cNvPr id="4" name="Text 2"/>
          <p:cNvSpPr/>
          <p:nvPr/>
        </p:nvSpPr>
        <p:spPr>
          <a:xfrm>
            <a:off x="365760" y="0"/>
            <a:ext cx="8503920" cy="868680"/>
          </a:xfrm>
          <a:prstGeom prst="rect">
            <a:avLst/>
          </a:prstGeom>
          <a:noFill/>
          <a:ln/>
        </p:spPr>
        <p:txBody>
          <a:bodyPr wrap="square" rtlCol="0" anchor="ctr"/>
          <a:lstStyle/>
          <a:p>
            <a:pPr marL="0" indent="0" algn="r">
              <a:buNone/>
            </a:pPr>
            <a:endParaRPr lang="en-US" sz="1000" dirty="0"/>
          </a:p>
        </p:txBody>
      </p:sp>
      <p:sp>
        <p:nvSpPr>
          <p:cNvPr id="5" name="Shape 3"/>
          <p:cNvSpPr/>
          <p:nvPr/>
        </p:nvSpPr>
        <p:spPr>
          <a:xfrm>
            <a:off x="786384" y="1005840"/>
            <a:ext cx="438912" cy="438912"/>
          </a:xfrm>
          <a:prstGeom prst="ellipse">
            <a:avLst/>
          </a:prstGeom>
          <a:solidFill>
            <a:srgbClr val="028090"/>
          </a:solidFill>
          <a:ln w="12700">
            <a:solidFill>
              <a:srgbClr val="028090"/>
            </a:solidFill>
            <a:prstDash val="solid"/>
          </a:ln>
        </p:spPr>
      </p:sp>
      <p:sp>
        <p:nvSpPr>
          <p:cNvPr id="6" name="Text 4"/>
          <p:cNvSpPr/>
          <p:nvPr/>
        </p:nvSpPr>
        <p:spPr>
          <a:xfrm>
            <a:off x="786384" y="100584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hape 5"/>
          <p:cNvSpPr/>
          <p:nvPr/>
        </p:nvSpPr>
        <p:spPr>
          <a:xfrm>
            <a:off x="989381" y="1444752"/>
            <a:ext cx="32918" cy="182880"/>
          </a:xfrm>
          <a:prstGeom prst="rect">
            <a:avLst/>
          </a:prstGeom>
          <a:solidFill>
            <a:srgbClr val="028090"/>
          </a:solidFill>
          <a:ln w="12700">
            <a:solidFill>
              <a:srgbClr val="028090"/>
            </a:solidFill>
            <a:prstDash val="solid"/>
          </a:ln>
        </p:spPr>
      </p:sp>
      <p:sp>
        <p:nvSpPr>
          <p:cNvPr id="8" name="Shape 6"/>
          <p:cNvSpPr/>
          <p:nvPr/>
        </p:nvSpPr>
        <p:spPr>
          <a:xfrm>
            <a:off x="237744" y="1627632"/>
            <a:ext cx="1536192" cy="1115568"/>
          </a:xfrm>
          <a:prstGeom prst="rect">
            <a:avLst/>
          </a:prstGeom>
          <a:solidFill>
            <a:srgbClr val="028090"/>
          </a:solidFill>
          <a:ln w="12700">
            <a:solidFill>
              <a:srgbClr val="028090"/>
            </a:solidFill>
            <a:prstDash val="solid"/>
          </a:ln>
          <a:effectLst>
            <a:outerShdw blurRad="101600" dist="38100" dir="8100000" algn="bl" rotWithShape="0">
              <a:srgbClr val="000000">
                <a:alpha val="10000"/>
              </a:srgbClr>
            </a:outerShdw>
          </a:effectLst>
        </p:spPr>
      </p:sp>
      <p:sp>
        <p:nvSpPr>
          <p:cNvPr id="9" name="Text 7"/>
          <p:cNvSpPr/>
          <p:nvPr/>
        </p:nvSpPr>
        <p:spPr>
          <a:xfrm>
            <a:off x="237744" y="1627632"/>
            <a:ext cx="1536192" cy="111556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User Input</a:t>
            </a:r>
            <a:endParaRPr lang="en-US" sz="1250" dirty="0"/>
          </a:p>
        </p:txBody>
      </p:sp>
      <p:sp>
        <p:nvSpPr>
          <p:cNvPr id="10" name="Shape 8"/>
          <p:cNvSpPr/>
          <p:nvPr/>
        </p:nvSpPr>
        <p:spPr>
          <a:xfrm>
            <a:off x="1773936" y="2139696"/>
            <a:ext cx="140818" cy="64008"/>
          </a:xfrm>
          <a:prstGeom prst="rect">
            <a:avLst/>
          </a:prstGeom>
          <a:solidFill>
            <a:srgbClr val="64748B"/>
          </a:solidFill>
          <a:ln w="12700">
            <a:solidFill>
              <a:srgbClr val="64748B"/>
            </a:solidFill>
            <a:prstDash val="solid"/>
          </a:ln>
        </p:spPr>
      </p:sp>
      <p:sp>
        <p:nvSpPr>
          <p:cNvPr id="11" name="Shape 9"/>
          <p:cNvSpPr/>
          <p:nvPr/>
        </p:nvSpPr>
        <p:spPr>
          <a:xfrm>
            <a:off x="1910730" y="2103120"/>
            <a:ext cx="36576" cy="137160"/>
          </a:xfrm>
          <a:prstGeom prst="rect">
            <a:avLst/>
          </a:prstGeom>
          <a:solidFill>
            <a:srgbClr val="64748B"/>
          </a:solidFill>
          <a:ln w="12700">
            <a:solidFill>
              <a:srgbClr val="64748B"/>
            </a:solidFill>
            <a:prstDash val="solid"/>
          </a:ln>
        </p:spPr>
      </p:sp>
      <p:sp>
        <p:nvSpPr>
          <p:cNvPr id="12" name="Shape 10"/>
          <p:cNvSpPr/>
          <p:nvPr/>
        </p:nvSpPr>
        <p:spPr>
          <a:xfrm>
            <a:off x="237744" y="2834640"/>
            <a:ext cx="1536192" cy="310896"/>
          </a:xfrm>
          <a:prstGeom prst="rect">
            <a:avLst/>
          </a:prstGeom>
          <a:solidFill>
            <a:srgbClr val="FFFFFF"/>
          </a:solidFill>
          <a:ln w="25400">
            <a:solidFill>
              <a:srgbClr val="028090"/>
            </a:solidFill>
            <a:prstDash val="solid"/>
          </a:ln>
        </p:spPr>
      </p:sp>
      <p:sp>
        <p:nvSpPr>
          <p:cNvPr id="13" name="Text 11"/>
          <p:cNvSpPr/>
          <p:nvPr/>
        </p:nvSpPr>
        <p:spPr>
          <a:xfrm>
            <a:off x="237744" y="2834640"/>
            <a:ext cx="1536192" cy="310896"/>
          </a:xfrm>
          <a:prstGeom prst="rect">
            <a:avLst/>
          </a:prstGeom>
          <a:noFill/>
          <a:ln/>
        </p:spPr>
        <p:txBody>
          <a:bodyPr wrap="square" lIns="0" tIns="0" rIns="0" bIns="0" rtlCol="0" anchor="ctr"/>
          <a:lstStyle/>
          <a:p>
            <a:pPr marL="0" indent="0" algn="ctr">
              <a:buNone/>
            </a:pPr>
            <a:r>
              <a:rPr lang="en-US" sz="1050" b="1" dirty="0">
                <a:solidFill>
                  <a:srgbClr val="028090"/>
                </a:solidFill>
                <a:latin typeface="Calibri" pitchFamily="34" charset="0"/>
                <a:ea typeface="Calibri" pitchFamily="34" charset="-122"/>
                <a:cs typeface="Calibri" pitchFamily="34" charset="-120"/>
              </a:rPr>
              <a:t>HTML</a:t>
            </a:r>
            <a:endParaRPr lang="en-US" sz="1050" dirty="0"/>
          </a:p>
        </p:txBody>
      </p:sp>
      <p:sp>
        <p:nvSpPr>
          <p:cNvPr id="14" name="Shape 12"/>
          <p:cNvSpPr/>
          <p:nvPr/>
        </p:nvSpPr>
        <p:spPr>
          <a:xfrm>
            <a:off x="237744" y="3246120"/>
            <a:ext cx="1536192" cy="914400"/>
          </a:xfrm>
          <a:prstGeom prst="rect">
            <a:avLst/>
          </a:prstGeom>
          <a:solidFill>
            <a:srgbClr val="E4EFF8"/>
          </a:solidFill>
          <a:ln w="12700">
            <a:solidFill>
              <a:srgbClr val="D0DAEA"/>
            </a:solidFill>
            <a:prstDash val="solid"/>
          </a:ln>
        </p:spPr>
      </p:sp>
      <p:sp>
        <p:nvSpPr>
          <p:cNvPr id="15" name="Text 13"/>
          <p:cNvSpPr/>
          <p:nvPr/>
        </p:nvSpPr>
        <p:spPr>
          <a:xfrm>
            <a:off x="292608" y="3264408"/>
            <a:ext cx="1426464" cy="877824"/>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Applicant fills form &amp; uploads documents</a:t>
            </a:r>
            <a:endParaRPr lang="en-US" sz="1000" dirty="0"/>
          </a:p>
        </p:txBody>
      </p:sp>
      <p:sp>
        <p:nvSpPr>
          <p:cNvPr id="16" name="Shape 14"/>
          <p:cNvSpPr/>
          <p:nvPr/>
        </p:nvSpPr>
        <p:spPr>
          <a:xfrm>
            <a:off x="2523744" y="1005840"/>
            <a:ext cx="438912" cy="438912"/>
          </a:xfrm>
          <a:prstGeom prst="ellipse">
            <a:avLst/>
          </a:prstGeom>
          <a:solidFill>
            <a:srgbClr val="0E7490"/>
          </a:solidFill>
          <a:ln w="12700">
            <a:solidFill>
              <a:srgbClr val="0E7490"/>
            </a:solidFill>
            <a:prstDash val="solid"/>
          </a:ln>
        </p:spPr>
      </p:sp>
      <p:sp>
        <p:nvSpPr>
          <p:cNvPr id="17" name="Text 15"/>
          <p:cNvSpPr/>
          <p:nvPr/>
        </p:nvSpPr>
        <p:spPr>
          <a:xfrm>
            <a:off x="2523744" y="100584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8" name="Shape 16"/>
          <p:cNvSpPr/>
          <p:nvPr/>
        </p:nvSpPr>
        <p:spPr>
          <a:xfrm>
            <a:off x="2726741" y="1444752"/>
            <a:ext cx="32918" cy="182880"/>
          </a:xfrm>
          <a:prstGeom prst="rect">
            <a:avLst/>
          </a:prstGeom>
          <a:solidFill>
            <a:srgbClr val="0E7490"/>
          </a:solidFill>
          <a:ln w="12700">
            <a:solidFill>
              <a:srgbClr val="0E7490"/>
            </a:solidFill>
            <a:prstDash val="solid"/>
          </a:ln>
        </p:spPr>
      </p:sp>
      <p:sp>
        <p:nvSpPr>
          <p:cNvPr id="19" name="Shape 17"/>
          <p:cNvSpPr/>
          <p:nvPr/>
        </p:nvSpPr>
        <p:spPr>
          <a:xfrm>
            <a:off x="1975104" y="1627632"/>
            <a:ext cx="1536192" cy="1115568"/>
          </a:xfrm>
          <a:prstGeom prst="rect">
            <a:avLst/>
          </a:prstGeom>
          <a:solidFill>
            <a:srgbClr val="0E7490"/>
          </a:solidFill>
          <a:ln w="12700">
            <a:solidFill>
              <a:srgbClr val="0E7490"/>
            </a:solidFill>
            <a:prstDash val="solid"/>
          </a:ln>
          <a:effectLst>
            <a:outerShdw blurRad="101600" dist="38100" dir="8100000" algn="bl" rotWithShape="0">
              <a:srgbClr val="000000">
                <a:alpha val="10000"/>
              </a:srgbClr>
            </a:outerShdw>
          </a:effectLst>
        </p:spPr>
      </p:sp>
      <p:sp>
        <p:nvSpPr>
          <p:cNvPr id="20" name="Text 18"/>
          <p:cNvSpPr/>
          <p:nvPr/>
        </p:nvSpPr>
        <p:spPr>
          <a:xfrm>
            <a:off x="1975104" y="1627632"/>
            <a:ext cx="1536192" cy="111556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Document</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Verification</a:t>
            </a:r>
            <a:endParaRPr lang="en-US" sz="1250" dirty="0"/>
          </a:p>
        </p:txBody>
      </p:sp>
      <p:sp>
        <p:nvSpPr>
          <p:cNvPr id="21" name="Shape 19"/>
          <p:cNvSpPr/>
          <p:nvPr/>
        </p:nvSpPr>
        <p:spPr>
          <a:xfrm>
            <a:off x="3511296" y="2139696"/>
            <a:ext cx="140818" cy="64008"/>
          </a:xfrm>
          <a:prstGeom prst="rect">
            <a:avLst/>
          </a:prstGeom>
          <a:solidFill>
            <a:srgbClr val="64748B"/>
          </a:solidFill>
          <a:ln w="12700">
            <a:solidFill>
              <a:srgbClr val="64748B"/>
            </a:solidFill>
            <a:prstDash val="solid"/>
          </a:ln>
        </p:spPr>
      </p:sp>
      <p:sp>
        <p:nvSpPr>
          <p:cNvPr id="22" name="Shape 20"/>
          <p:cNvSpPr/>
          <p:nvPr/>
        </p:nvSpPr>
        <p:spPr>
          <a:xfrm>
            <a:off x="3648090" y="2103120"/>
            <a:ext cx="36576" cy="137160"/>
          </a:xfrm>
          <a:prstGeom prst="rect">
            <a:avLst/>
          </a:prstGeom>
          <a:solidFill>
            <a:srgbClr val="64748B"/>
          </a:solidFill>
          <a:ln w="12700">
            <a:solidFill>
              <a:srgbClr val="64748B"/>
            </a:solidFill>
            <a:prstDash val="solid"/>
          </a:ln>
        </p:spPr>
      </p:sp>
      <p:sp>
        <p:nvSpPr>
          <p:cNvPr id="23" name="Shape 21"/>
          <p:cNvSpPr/>
          <p:nvPr/>
        </p:nvSpPr>
        <p:spPr>
          <a:xfrm>
            <a:off x="1975104" y="2834640"/>
            <a:ext cx="1536192" cy="310896"/>
          </a:xfrm>
          <a:prstGeom prst="rect">
            <a:avLst/>
          </a:prstGeom>
          <a:solidFill>
            <a:srgbClr val="FFFFFF"/>
          </a:solidFill>
          <a:ln w="25400">
            <a:solidFill>
              <a:srgbClr val="0E7490"/>
            </a:solidFill>
            <a:prstDash val="solid"/>
          </a:ln>
        </p:spPr>
      </p:sp>
      <p:sp>
        <p:nvSpPr>
          <p:cNvPr id="24" name="Text 22"/>
          <p:cNvSpPr/>
          <p:nvPr/>
        </p:nvSpPr>
        <p:spPr>
          <a:xfrm>
            <a:off x="1975104" y="2834640"/>
            <a:ext cx="1536192" cy="310896"/>
          </a:xfrm>
          <a:prstGeom prst="rect">
            <a:avLst/>
          </a:prstGeom>
          <a:noFill/>
          <a:ln/>
        </p:spPr>
        <p:txBody>
          <a:bodyPr wrap="square" lIns="0" tIns="0" rIns="0" bIns="0" rtlCol="0" anchor="ctr"/>
          <a:lstStyle/>
          <a:p>
            <a:pPr marL="0" indent="0" algn="ctr">
              <a:buNone/>
            </a:pPr>
            <a:r>
              <a:rPr lang="en-US" sz="1050" b="1" dirty="0">
                <a:solidFill>
                  <a:srgbClr val="0E7490"/>
                </a:solidFill>
                <a:latin typeface="Calibri" pitchFamily="34" charset="0"/>
                <a:ea typeface="Calibri" pitchFamily="34" charset="-122"/>
                <a:cs typeface="Calibri" pitchFamily="34" charset="-120"/>
              </a:rPr>
              <a:t>LlamaParse</a:t>
            </a:r>
            <a:endParaRPr lang="en-US" sz="1050" dirty="0"/>
          </a:p>
        </p:txBody>
      </p:sp>
      <p:sp>
        <p:nvSpPr>
          <p:cNvPr id="25" name="Shape 23"/>
          <p:cNvSpPr/>
          <p:nvPr/>
        </p:nvSpPr>
        <p:spPr>
          <a:xfrm>
            <a:off x="1975104" y="3246120"/>
            <a:ext cx="1536192" cy="914400"/>
          </a:xfrm>
          <a:prstGeom prst="rect">
            <a:avLst/>
          </a:prstGeom>
          <a:solidFill>
            <a:srgbClr val="E4EFF8"/>
          </a:solidFill>
          <a:ln w="12700">
            <a:solidFill>
              <a:srgbClr val="D0DAEA"/>
            </a:solidFill>
            <a:prstDash val="solid"/>
          </a:ln>
        </p:spPr>
      </p:sp>
      <p:sp>
        <p:nvSpPr>
          <p:cNvPr id="26" name="Text 24"/>
          <p:cNvSpPr/>
          <p:nvPr/>
        </p:nvSpPr>
        <p:spPr>
          <a:xfrm>
            <a:off x="2029968" y="3264408"/>
            <a:ext cx="1426464" cy="877824"/>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Extracts &amp; validates income, ID, bank data</a:t>
            </a:r>
            <a:endParaRPr lang="en-US" sz="1000" dirty="0"/>
          </a:p>
        </p:txBody>
      </p:sp>
      <p:sp>
        <p:nvSpPr>
          <p:cNvPr id="27" name="Shape 25"/>
          <p:cNvSpPr/>
          <p:nvPr/>
        </p:nvSpPr>
        <p:spPr>
          <a:xfrm>
            <a:off x="4261104" y="1005840"/>
            <a:ext cx="438912" cy="438912"/>
          </a:xfrm>
          <a:prstGeom prst="ellipse">
            <a:avLst/>
          </a:prstGeom>
          <a:solidFill>
            <a:srgbClr val="1A56DB"/>
          </a:solidFill>
          <a:ln w="12700">
            <a:solidFill>
              <a:srgbClr val="1A56DB"/>
            </a:solidFill>
            <a:prstDash val="solid"/>
          </a:ln>
        </p:spPr>
      </p:sp>
      <p:sp>
        <p:nvSpPr>
          <p:cNvPr id="28" name="Text 26"/>
          <p:cNvSpPr/>
          <p:nvPr/>
        </p:nvSpPr>
        <p:spPr>
          <a:xfrm>
            <a:off x="4261104" y="100584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29" name="Shape 27"/>
          <p:cNvSpPr/>
          <p:nvPr/>
        </p:nvSpPr>
        <p:spPr>
          <a:xfrm>
            <a:off x="4464101" y="1444752"/>
            <a:ext cx="32918" cy="182880"/>
          </a:xfrm>
          <a:prstGeom prst="rect">
            <a:avLst/>
          </a:prstGeom>
          <a:solidFill>
            <a:srgbClr val="1A56DB"/>
          </a:solidFill>
          <a:ln w="12700">
            <a:solidFill>
              <a:srgbClr val="1A56DB"/>
            </a:solidFill>
            <a:prstDash val="solid"/>
          </a:ln>
        </p:spPr>
      </p:sp>
      <p:sp>
        <p:nvSpPr>
          <p:cNvPr id="30" name="Shape 28"/>
          <p:cNvSpPr/>
          <p:nvPr/>
        </p:nvSpPr>
        <p:spPr>
          <a:xfrm>
            <a:off x="3712464" y="1627632"/>
            <a:ext cx="1536192" cy="1115568"/>
          </a:xfrm>
          <a:prstGeom prst="rect">
            <a:avLst/>
          </a:prstGeom>
          <a:solidFill>
            <a:srgbClr val="1A56DB"/>
          </a:solidFill>
          <a:ln w="12700">
            <a:solidFill>
              <a:srgbClr val="1A56DB"/>
            </a:solidFill>
            <a:prstDash val="solid"/>
          </a:ln>
          <a:effectLst>
            <a:outerShdw blurRad="101600" dist="38100" dir="8100000" algn="bl" rotWithShape="0">
              <a:srgbClr val="000000">
                <a:alpha val="10000"/>
              </a:srgbClr>
            </a:outerShdw>
          </a:effectLst>
        </p:spPr>
      </p:sp>
      <p:sp>
        <p:nvSpPr>
          <p:cNvPr id="31" name="Text 29"/>
          <p:cNvSpPr/>
          <p:nvPr/>
        </p:nvSpPr>
        <p:spPr>
          <a:xfrm>
            <a:off x="3712464" y="1627632"/>
            <a:ext cx="1536192" cy="111556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Data</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Processing</a:t>
            </a:r>
            <a:endParaRPr lang="en-US" sz="1250" dirty="0"/>
          </a:p>
        </p:txBody>
      </p:sp>
      <p:sp>
        <p:nvSpPr>
          <p:cNvPr id="32" name="Shape 30"/>
          <p:cNvSpPr/>
          <p:nvPr/>
        </p:nvSpPr>
        <p:spPr>
          <a:xfrm>
            <a:off x="5248656" y="2139696"/>
            <a:ext cx="140818" cy="64008"/>
          </a:xfrm>
          <a:prstGeom prst="rect">
            <a:avLst/>
          </a:prstGeom>
          <a:solidFill>
            <a:srgbClr val="64748B"/>
          </a:solidFill>
          <a:ln w="12700">
            <a:solidFill>
              <a:srgbClr val="64748B"/>
            </a:solidFill>
            <a:prstDash val="solid"/>
          </a:ln>
        </p:spPr>
      </p:sp>
      <p:sp>
        <p:nvSpPr>
          <p:cNvPr id="33" name="Shape 31"/>
          <p:cNvSpPr/>
          <p:nvPr/>
        </p:nvSpPr>
        <p:spPr>
          <a:xfrm>
            <a:off x="5385450" y="2103120"/>
            <a:ext cx="36576" cy="137160"/>
          </a:xfrm>
          <a:prstGeom prst="rect">
            <a:avLst/>
          </a:prstGeom>
          <a:solidFill>
            <a:srgbClr val="64748B"/>
          </a:solidFill>
          <a:ln w="12700">
            <a:solidFill>
              <a:srgbClr val="64748B"/>
            </a:solidFill>
            <a:prstDash val="solid"/>
          </a:ln>
        </p:spPr>
      </p:sp>
      <p:sp>
        <p:nvSpPr>
          <p:cNvPr id="34" name="Shape 32"/>
          <p:cNvSpPr/>
          <p:nvPr/>
        </p:nvSpPr>
        <p:spPr>
          <a:xfrm>
            <a:off x="3712464" y="2834640"/>
            <a:ext cx="1536192" cy="310896"/>
          </a:xfrm>
          <a:prstGeom prst="rect">
            <a:avLst/>
          </a:prstGeom>
          <a:solidFill>
            <a:srgbClr val="FFFFFF"/>
          </a:solidFill>
          <a:ln w="25400">
            <a:solidFill>
              <a:srgbClr val="1A56DB"/>
            </a:solidFill>
            <a:prstDash val="solid"/>
          </a:ln>
        </p:spPr>
      </p:sp>
      <p:sp>
        <p:nvSpPr>
          <p:cNvPr id="35" name="Text 33"/>
          <p:cNvSpPr/>
          <p:nvPr/>
        </p:nvSpPr>
        <p:spPr>
          <a:xfrm>
            <a:off x="3712464" y="2834640"/>
            <a:ext cx="1536192" cy="310896"/>
          </a:xfrm>
          <a:prstGeom prst="rect">
            <a:avLst/>
          </a:prstGeom>
          <a:noFill/>
          <a:ln/>
        </p:spPr>
        <p:txBody>
          <a:bodyPr wrap="square" lIns="0" tIns="0" rIns="0" bIns="0" rtlCol="0" anchor="ctr"/>
          <a:lstStyle/>
          <a:p>
            <a:pPr marL="0" indent="0" algn="ctr">
              <a:buNone/>
            </a:pPr>
            <a:r>
              <a:rPr lang="en-US" sz="1050" b="1" dirty="0">
                <a:solidFill>
                  <a:srgbClr val="1A56DB"/>
                </a:solidFill>
                <a:latin typeface="Calibri" pitchFamily="34" charset="0"/>
                <a:ea typeface="Calibri" pitchFamily="34" charset="-122"/>
                <a:cs typeface="Calibri" pitchFamily="34" charset="-120"/>
              </a:rPr>
              <a:t>Python / Pandas</a:t>
            </a:r>
            <a:endParaRPr lang="en-US" sz="1050" dirty="0"/>
          </a:p>
        </p:txBody>
      </p:sp>
      <p:sp>
        <p:nvSpPr>
          <p:cNvPr id="36" name="Shape 34"/>
          <p:cNvSpPr/>
          <p:nvPr/>
        </p:nvSpPr>
        <p:spPr>
          <a:xfrm>
            <a:off x="3712464" y="3246120"/>
            <a:ext cx="1536192" cy="914400"/>
          </a:xfrm>
          <a:prstGeom prst="rect">
            <a:avLst/>
          </a:prstGeom>
          <a:solidFill>
            <a:srgbClr val="E4EFF8"/>
          </a:solidFill>
          <a:ln w="12700">
            <a:solidFill>
              <a:srgbClr val="D0DAEA"/>
            </a:solidFill>
            <a:prstDash val="solid"/>
          </a:ln>
        </p:spPr>
      </p:sp>
      <p:sp>
        <p:nvSpPr>
          <p:cNvPr id="37" name="Text 35"/>
          <p:cNvSpPr/>
          <p:nvPr/>
        </p:nvSpPr>
        <p:spPr>
          <a:xfrm>
            <a:off x="3767328" y="3264408"/>
            <a:ext cx="1426464" cy="877824"/>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Cleans, structures &amp; prepares input data</a:t>
            </a:r>
            <a:endParaRPr lang="en-US" sz="1000" dirty="0"/>
          </a:p>
        </p:txBody>
      </p:sp>
      <p:sp>
        <p:nvSpPr>
          <p:cNvPr id="38" name="Shape 36"/>
          <p:cNvSpPr/>
          <p:nvPr/>
        </p:nvSpPr>
        <p:spPr>
          <a:xfrm>
            <a:off x="5998464" y="1005840"/>
            <a:ext cx="438912" cy="438912"/>
          </a:xfrm>
          <a:prstGeom prst="ellipse">
            <a:avLst/>
          </a:prstGeom>
          <a:solidFill>
            <a:srgbClr val="6D28D9"/>
          </a:solidFill>
          <a:ln w="12700">
            <a:solidFill>
              <a:srgbClr val="6D28D9"/>
            </a:solidFill>
            <a:prstDash val="solid"/>
          </a:ln>
        </p:spPr>
      </p:sp>
      <p:sp>
        <p:nvSpPr>
          <p:cNvPr id="39" name="Text 37"/>
          <p:cNvSpPr/>
          <p:nvPr/>
        </p:nvSpPr>
        <p:spPr>
          <a:xfrm>
            <a:off x="5998464" y="100584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40" name="Shape 38"/>
          <p:cNvSpPr/>
          <p:nvPr/>
        </p:nvSpPr>
        <p:spPr>
          <a:xfrm>
            <a:off x="6201461" y="1444752"/>
            <a:ext cx="32918" cy="182880"/>
          </a:xfrm>
          <a:prstGeom prst="rect">
            <a:avLst/>
          </a:prstGeom>
          <a:solidFill>
            <a:srgbClr val="6D28D9"/>
          </a:solidFill>
          <a:ln w="12700">
            <a:solidFill>
              <a:srgbClr val="6D28D9"/>
            </a:solidFill>
            <a:prstDash val="solid"/>
          </a:ln>
        </p:spPr>
      </p:sp>
      <p:sp>
        <p:nvSpPr>
          <p:cNvPr id="41" name="Shape 39"/>
          <p:cNvSpPr/>
          <p:nvPr/>
        </p:nvSpPr>
        <p:spPr>
          <a:xfrm>
            <a:off x="5449824" y="1627632"/>
            <a:ext cx="1536192" cy="1115568"/>
          </a:xfrm>
          <a:prstGeom prst="rect">
            <a:avLst/>
          </a:prstGeom>
          <a:solidFill>
            <a:srgbClr val="6D28D9"/>
          </a:solidFill>
          <a:ln w="12700">
            <a:solidFill>
              <a:srgbClr val="6D28D9"/>
            </a:solidFill>
            <a:prstDash val="solid"/>
          </a:ln>
          <a:effectLst>
            <a:outerShdw blurRad="101600" dist="38100" dir="8100000" algn="bl" rotWithShape="0">
              <a:srgbClr val="000000">
                <a:alpha val="10000"/>
              </a:srgbClr>
            </a:outerShdw>
          </a:effectLst>
        </p:spPr>
      </p:sp>
      <p:sp>
        <p:nvSpPr>
          <p:cNvPr id="42" name="Text 40"/>
          <p:cNvSpPr/>
          <p:nvPr/>
        </p:nvSpPr>
        <p:spPr>
          <a:xfrm>
            <a:off x="5449824" y="1627632"/>
            <a:ext cx="1536192" cy="111556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LLM</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Prediction</a:t>
            </a:r>
            <a:endParaRPr lang="en-US" sz="1250" dirty="0"/>
          </a:p>
        </p:txBody>
      </p:sp>
      <p:sp>
        <p:nvSpPr>
          <p:cNvPr id="43" name="Shape 41"/>
          <p:cNvSpPr/>
          <p:nvPr/>
        </p:nvSpPr>
        <p:spPr>
          <a:xfrm>
            <a:off x="6986016" y="2139696"/>
            <a:ext cx="140818" cy="64008"/>
          </a:xfrm>
          <a:prstGeom prst="rect">
            <a:avLst/>
          </a:prstGeom>
          <a:solidFill>
            <a:srgbClr val="64748B"/>
          </a:solidFill>
          <a:ln w="12700">
            <a:solidFill>
              <a:srgbClr val="64748B"/>
            </a:solidFill>
            <a:prstDash val="solid"/>
          </a:ln>
        </p:spPr>
      </p:sp>
      <p:sp>
        <p:nvSpPr>
          <p:cNvPr id="44" name="Shape 42"/>
          <p:cNvSpPr/>
          <p:nvPr/>
        </p:nvSpPr>
        <p:spPr>
          <a:xfrm>
            <a:off x="7122810" y="2103120"/>
            <a:ext cx="36576" cy="137160"/>
          </a:xfrm>
          <a:prstGeom prst="rect">
            <a:avLst/>
          </a:prstGeom>
          <a:solidFill>
            <a:srgbClr val="64748B"/>
          </a:solidFill>
          <a:ln w="12700">
            <a:solidFill>
              <a:srgbClr val="64748B"/>
            </a:solidFill>
            <a:prstDash val="solid"/>
          </a:ln>
        </p:spPr>
      </p:sp>
      <p:sp>
        <p:nvSpPr>
          <p:cNvPr id="45" name="Shape 43"/>
          <p:cNvSpPr/>
          <p:nvPr/>
        </p:nvSpPr>
        <p:spPr>
          <a:xfrm>
            <a:off x="5449824" y="2834640"/>
            <a:ext cx="1536192" cy="310896"/>
          </a:xfrm>
          <a:prstGeom prst="rect">
            <a:avLst/>
          </a:prstGeom>
          <a:solidFill>
            <a:srgbClr val="FFFFFF"/>
          </a:solidFill>
          <a:ln w="25400">
            <a:solidFill>
              <a:srgbClr val="6D28D9"/>
            </a:solidFill>
            <a:prstDash val="solid"/>
          </a:ln>
        </p:spPr>
      </p:sp>
      <p:sp>
        <p:nvSpPr>
          <p:cNvPr id="46" name="Text 44"/>
          <p:cNvSpPr/>
          <p:nvPr/>
        </p:nvSpPr>
        <p:spPr>
          <a:xfrm>
            <a:off x="5449824" y="2834640"/>
            <a:ext cx="1536192" cy="310896"/>
          </a:xfrm>
          <a:prstGeom prst="rect">
            <a:avLst/>
          </a:prstGeom>
          <a:noFill/>
          <a:ln/>
        </p:spPr>
        <p:txBody>
          <a:bodyPr wrap="square" lIns="0" tIns="0" rIns="0" bIns="0" rtlCol="0" anchor="ctr"/>
          <a:lstStyle/>
          <a:p>
            <a:pPr marL="0" indent="0" algn="ctr">
              <a:buNone/>
            </a:pPr>
            <a:r>
              <a:rPr lang="en-US" sz="1050" b="1" dirty="0">
                <a:solidFill>
                  <a:srgbClr val="6D28D9"/>
                </a:solidFill>
                <a:latin typeface="Calibri" pitchFamily="34" charset="0"/>
                <a:ea typeface="Calibri" pitchFamily="34" charset="-122"/>
                <a:cs typeface="Calibri" pitchFamily="34" charset="-120"/>
              </a:rPr>
              <a:t>Qwen LLM</a:t>
            </a:r>
            <a:endParaRPr lang="en-US" sz="1050" dirty="0"/>
          </a:p>
        </p:txBody>
      </p:sp>
      <p:sp>
        <p:nvSpPr>
          <p:cNvPr id="47" name="Shape 45"/>
          <p:cNvSpPr/>
          <p:nvPr/>
        </p:nvSpPr>
        <p:spPr>
          <a:xfrm>
            <a:off x="5449824" y="3246120"/>
            <a:ext cx="1536192" cy="914400"/>
          </a:xfrm>
          <a:prstGeom prst="rect">
            <a:avLst/>
          </a:prstGeom>
          <a:solidFill>
            <a:srgbClr val="E4EFF8"/>
          </a:solidFill>
          <a:ln w="12700">
            <a:solidFill>
              <a:srgbClr val="D0DAEA"/>
            </a:solidFill>
            <a:prstDash val="solid"/>
          </a:ln>
        </p:spPr>
      </p:sp>
      <p:sp>
        <p:nvSpPr>
          <p:cNvPr id="48" name="Text 46"/>
          <p:cNvSpPr/>
          <p:nvPr/>
        </p:nvSpPr>
        <p:spPr>
          <a:xfrm>
            <a:off x="5504688" y="3264408"/>
            <a:ext cx="1426464" cy="877824"/>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Assesses eligibility &amp; generates reasoning</a:t>
            </a:r>
            <a:endParaRPr lang="en-US" sz="1000" dirty="0"/>
          </a:p>
        </p:txBody>
      </p:sp>
      <p:sp>
        <p:nvSpPr>
          <p:cNvPr id="49" name="Shape 47"/>
          <p:cNvSpPr/>
          <p:nvPr/>
        </p:nvSpPr>
        <p:spPr>
          <a:xfrm>
            <a:off x="7735824" y="1005840"/>
            <a:ext cx="438912" cy="438912"/>
          </a:xfrm>
          <a:prstGeom prst="ellipse">
            <a:avLst/>
          </a:prstGeom>
          <a:solidFill>
            <a:srgbClr val="7C3AED"/>
          </a:solidFill>
          <a:ln w="12700">
            <a:solidFill>
              <a:srgbClr val="7C3AED"/>
            </a:solidFill>
            <a:prstDash val="solid"/>
          </a:ln>
        </p:spPr>
      </p:sp>
      <p:sp>
        <p:nvSpPr>
          <p:cNvPr id="50" name="Text 48"/>
          <p:cNvSpPr/>
          <p:nvPr/>
        </p:nvSpPr>
        <p:spPr>
          <a:xfrm>
            <a:off x="7735824" y="100584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51" name="Shape 49"/>
          <p:cNvSpPr/>
          <p:nvPr/>
        </p:nvSpPr>
        <p:spPr>
          <a:xfrm>
            <a:off x="7938821" y="1444752"/>
            <a:ext cx="32918" cy="182880"/>
          </a:xfrm>
          <a:prstGeom prst="rect">
            <a:avLst/>
          </a:prstGeom>
          <a:solidFill>
            <a:srgbClr val="7C3AED"/>
          </a:solidFill>
          <a:ln w="12700">
            <a:solidFill>
              <a:srgbClr val="7C3AED"/>
            </a:solidFill>
            <a:prstDash val="solid"/>
          </a:ln>
        </p:spPr>
      </p:sp>
      <p:sp>
        <p:nvSpPr>
          <p:cNvPr id="52" name="Shape 50"/>
          <p:cNvSpPr/>
          <p:nvPr/>
        </p:nvSpPr>
        <p:spPr>
          <a:xfrm>
            <a:off x="7187184" y="1627632"/>
            <a:ext cx="1536192" cy="1115568"/>
          </a:xfrm>
          <a:prstGeom prst="rect">
            <a:avLst/>
          </a:prstGeom>
          <a:solidFill>
            <a:srgbClr val="7C3AED"/>
          </a:solidFill>
          <a:ln w="12700">
            <a:solidFill>
              <a:srgbClr val="7C3AED"/>
            </a:solidFill>
            <a:prstDash val="solid"/>
          </a:ln>
          <a:effectLst>
            <a:outerShdw blurRad="101600" dist="38100" dir="8100000" algn="bl" rotWithShape="0">
              <a:srgbClr val="000000">
                <a:alpha val="10000"/>
              </a:srgbClr>
            </a:outerShdw>
          </a:effectLst>
        </p:spPr>
      </p:sp>
      <p:sp>
        <p:nvSpPr>
          <p:cNvPr id="53" name="Text 51"/>
          <p:cNvSpPr/>
          <p:nvPr/>
        </p:nvSpPr>
        <p:spPr>
          <a:xfrm>
            <a:off x="7187184" y="1627632"/>
            <a:ext cx="1536192" cy="111556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Result +</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Reasoning</a:t>
            </a:r>
            <a:endParaRPr lang="en-US" sz="1250" dirty="0"/>
          </a:p>
        </p:txBody>
      </p:sp>
      <p:sp>
        <p:nvSpPr>
          <p:cNvPr id="54" name="Shape 52"/>
          <p:cNvSpPr/>
          <p:nvPr/>
        </p:nvSpPr>
        <p:spPr>
          <a:xfrm>
            <a:off x="7187184" y="2834640"/>
            <a:ext cx="1536192" cy="310896"/>
          </a:xfrm>
          <a:prstGeom prst="rect">
            <a:avLst/>
          </a:prstGeom>
          <a:solidFill>
            <a:srgbClr val="FFFFFF"/>
          </a:solidFill>
          <a:ln w="25400">
            <a:solidFill>
              <a:srgbClr val="7C3AED"/>
            </a:solidFill>
            <a:prstDash val="solid"/>
          </a:ln>
        </p:spPr>
      </p:sp>
      <p:sp>
        <p:nvSpPr>
          <p:cNvPr id="55" name="Text 53"/>
          <p:cNvSpPr/>
          <p:nvPr/>
        </p:nvSpPr>
        <p:spPr>
          <a:xfrm>
            <a:off x="7187184" y="2834640"/>
            <a:ext cx="1536192" cy="310896"/>
          </a:xfrm>
          <a:prstGeom prst="rect">
            <a:avLst/>
          </a:prstGeom>
          <a:noFill/>
          <a:ln/>
        </p:spPr>
        <p:txBody>
          <a:bodyPr wrap="square" lIns="0" tIns="0" rIns="0" bIns="0" rtlCol="0" anchor="ctr"/>
          <a:lstStyle/>
          <a:p>
            <a:pPr marL="0" indent="0" algn="ctr">
              <a:buNone/>
            </a:pPr>
            <a:r>
              <a:rPr lang="en-US" sz="1050" b="1" dirty="0">
                <a:solidFill>
                  <a:srgbClr val="7C3AED"/>
                </a:solidFill>
                <a:latin typeface="Calibri" pitchFamily="34" charset="0"/>
                <a:ea typeface="Calibri" pitchFamily="34" charset="-122"/>
                <a:cs typeface="Calibri" pitchFamily="34" charset="-120"/>
              </a:rPr>
              <a:t>Flask + UI</a:t>
            </a:r>
            <a:endParaRPr lang="en-US" sz="1050" dirty="0"/>
          </a:p>
        </p:txBody>
      </p:sp>
      <p:sp>
        <p:nvSpPr>
          <p:cNvPr id="56" name="Shape 54"/>
          <p:cNvSpPr/>
          <p:nvPr/>
        </p:nvSpPr>
        <p:spPr>
          <a:xfrm>
            <a:off x="7187184" y="3246120"/>
            <a:ext cx="1536192" cy="914400"/>
          </a:xfrm>
          <a:prstGeom prst="rect">
            <a:avLst/>
          </a:prstGeom>
          <a:solidFill>
            <a:srgbClr val="E4EFF8"/>
          </a:solidFill>
          <a:ln w="12700">
            <a:solidFill>
              <a:srgbClr val="D0DAEA"/>
            </a:solidFill>
            <a:prstDash val="solid"/>
          </a:ln>
        </p:spPr>
      </p:sp>
      <p:sp>
        <p:nvSpPr>
          <p:cNvPr id="57" name="Text 55"/>
          <p:cNvSpPr/>
          <p:nvPr/>
        </p:nvSpPr>
        <p:spPr>
          <a:xfrm>
            <a:off x="7242048" y="3264408"/>
            <a:ext cx="1426464" cy="877824"/>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Displays Approved/Rejected with explanation</a:t>
            </a:r>
            <a:endParaRPr lang="en-US" sz="1000" dirty="0"/>
          </a:p>
        </p:txBody>
      </p:sp>
      <p:sp>
        <p:nvSpPr>
          <p:cNvPr id="58" name="Shape 56"/>
          <p:cNvSpPr/>
          <p:nvPr/>
        </p:nvSpPr>
        <p:spPr>
          <a:xfrm>
            <a:off x="237744" y="4251960"/>
            <a:ext cx="8668512" cy="658368"/>
          </a:xfrm>
          <a:prstGeom prst="rect">
            <a:avLst/>
          </a:prstGeom>
          <a:solidFill>
            <a:srgbClr val="0A1628"/>
          </a:solidFill>
          <a:ln w="12700">
            <a:solidFill>
              <a:srgbClr val="0A1628"/>
            </a:solidFill>
            <a:prstDash val="solid"/>
          </a:ln>
        </p:spPr>
      </p:sp>
      <p:sp>
        <p:nvSpPr>
          <p:cNvPr id="59" name="Text 57"/>
          <p:cNvSpPr/>
          <p:nvPr/>
        </p:nvSpPr>
        <p:spPr>
          <a:xfrm>
            <a:off x="237744" y="4251960"/>
            <a:ext cx="8668512" cy="658368"/>
          </a:xfrm>
          <a:prstGeom prst="rect">
            <a:avLst/>
          </a:prstGeom>
          <a:noFill/>
          <a:ln/>
        </p:spPr>
        <p:txBody>
          <a:bodyPr wrap="square" rtlCol="0" anchor="ctr"/>
          <a:lstStyle/>
          <a:p>
            <a:pPr marL="0" indent="0" algn="ctr">
              <a:buNone/>
            </a:pPr>
            <a:r>
              <a:rPr lang="en-US" sz="1100" dirty="0">
                <a:solidFill>
                  <a:srgbClr val="A8BBCC"/>
                </a:solidFill>
                <a:latin typeface="Calibri" pitchFamily="34" charset="0"/>
                <a:ea typeface="Calibri" pitchFamily="34" charset="-122"/>
                <a:cs typeface="Calibri" pitchFamily="34" charset="-120"/>
              </a:rPr>
              <a:t>  </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w="12700">
            <a:solidFill>
              <a:srgbClr val="0A1628"/>
            </a:solidFill>
            <a:prstDash val="solid"/>
          </a:ln>
        </p:spPr>
      </p:sp>
      <p:sp>
        <p:nvSpPr>
          <p:cNvPr id="3" name="Text 1"/>
          <p:cNvSpPr/>
          <p:nvPr/>
        </p:nvSpPr>
        <p:spPr>
          <a:xfrm>
            <a:off x="365760" y="0"/>
            <a:ext cx="7772400" cy="86868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Planning of Project &amp; Teamwork </a:t>
            </a:r>
            <a:endParaRPr lang="en-US" sz="1900" dirty="0"/>
          </a:p>
        </p:txBody>
      </p:sp>
      <p:sp>
        <p:nvSpPr>
          <p:cNvPr id="4" name="Text 2"/>
          <p:cNvSpPr/>
          <p:nvPr/>
        </p:nvSpPr>
        <p:spPr>
          <a:xfrm>
            <a:off x="365760" y="0"/>
            <a:ext cx="8503920" cy="868680"/>
          </a:xfrm>
          <a:prstGeom prst="rect">
            <a:avLst/>
          </a:prstGeom>
          <a:noFill/>
          <a:ln/>
        </p:spPr>
        <p:txBody>
          <a:bodyPr wrap="square" rtlCol="0" anchor="ctr"/>
          <a:lstStyle/>
          <a:p>
            <a:pPr marL="0" indent="0" algn="r">
              <a:buNone/>
            </a:pPr>
            <a:endParaRPr lang="en-US" sz="1000" dirty="0"/>
          </a:p>
        </p:txBody>
      </p:sp>
      <p:sp>
        <p:nvSpPr>
          <p:cNvPr id="5" name="Text 3"/>
          <p:cNvSpPr/>
          <p:nvPr/>
        </p:nvSpPr>
        <p:spPr>
          <a:xfrm>
            <a:off x="320040" y="1005840"/>
            <a:ext cx="5120640" cy="320040"/>
          </a:xfrm>
          <a:prstGeom prst="rect">
            <a:avLst/>
          </a:prstGeom>
          <a:noFill/>
          <a:ln/>
        </p:spPr>
        <p:txBody>
          <a:bodyPr wrap="square" rtlCol="0" anchor="ctr"/>
          <a:lstStyle/>
          <a:p>
            <a:pPr marL="0" indent="0">
              <a:buNone/>
            </a:pPr>
            <a:endParaRPr lang="en-US" sz="1400" dirty="0"/>
          </a:p>
        </p:txBody>
      </p:sp>
      <p:sp>
        <p:nvSpPr>
          <p:cNvPr id="10" name="Text 8"/>
          <p:cNvSpPr/>
          <p:nvPr/>
        </p:nvSpPr>
        <p:spPr>
          <a:xfrm>
            <a:off x="5522976" y="3224168"/>
            <a:ext cx="1097280" cy="384048"/>
          </a:xfrm>
          <a:prstGeom prst="rect">
            <a:avLst/>
          </a:prstGeom>
          <a:noFill/>
          <a:ln/>
        </p:spPr>
        <p:txBody>
          <a:bodyPr wrap="square" rtlCol="0" anchor="ctr"/>
          <a:lstStyle/>
          <a:p>
            <a:pPr marL="0" indent="0">
              <a:buNone/>
            </a:pPr>
            <a:endParaRPr lang="en-US" sz="1000" dirty="0"/>
          </a:p>
        </p:txBody>
      </p:sp>
      <p:sp>
        <p:nvSpPr>
          <p:cNvPr id="12" name="Text 10"/>
          <p:cNvSpPr/>
          <p:nvPr/>
        </p:nvSpPr>
        <p:spPr>
          <a:xfrm>
            <a:off x="5852160" y="1467612"/>
            <a:ext cx="2286000" cy="384048"/>
          </a:xfrm>
          <a:prstGeom prst="rect">
            <a:avLst/>
          </a:prstGeom>
          <a:noFill/>
          <a:ln/>
        </p:spPr>
        <p:txBody>
          <a:bodyPr wrap="square" rtlCol="0" anchor="ctr"/>
          <a:lstStyle/>
          <a:p>
            <a:pPr marL="0" indent="0">
              <a:buNone/>
            </a:pPr>
            <a:endParaRPr lang="en-US" sz="1050" dirty="0"/>
          </a:p>
        </p:txBody>
      </p:sp>
      <p:sp>
        <p:nvSpPr>
          <p:cNvPr id="17" name="Text 15"/>
          <p:cNvSpPr/>
          <p:nvPr/>
        </p:nvSpPr>
        <p:spPr>
          <a:xfrm>
            <a:off x="4297680" y="2002536"/>
            <a:ext cx="1097280" cy="384048"/>
          </a:xfrm>
          <a:prstGeom prst="rect">
            <a:avLst/>
          </a:prstGeom>
          <a:noFill/>
          <a:ln/>
        </p:spPr>
        <p:txBody>
          <a:bodyPr wrap="square" rtlCol="0" anchor="ctr"/>
          <a:lstStyle/>
          <a:p>
            <a:pPr marL="0" indent="0">
              <a:buNone/>
            </a:pPr>
            <a:endParaRPr lang="en-US" sz="1000" dirty="0"/>
          </a:p>
        </p:txBody>
      </p:sp>
      <p:sp>
        <p:nvSpPr>
          <p:cNvPr id="24" name="Text 22"/>
          <p:cNvSpPr/>
          <p:nvPr/>
        </p:nvSpPr>
        <p:spPr>
          <a:xfrm>
            <a:off x="4297680" y="2578608"/>
            <a:ext cx="1097280" cy="384048"/>
          </a:xfrm>
          <a:prstGeom prst="rect">
            <a:avLst/>
          </a:prstGeom>
          <a:noFill/>
          <a:ln/>
        </p:spPr>
        <p:txBody>
          <a:bodyPr wrap="square" rtlCol="0" anchor="ctr"/>
          <a:lstStyle/>
          <a:p>
            <a:pPr marL="0" indent="0">
              <a:buNone/>
            </a:pPr>
            <a:endParaRPr lang="en-US" sz="1000" dirty="0"/>
          </a:p>
        </p:txBody>
      </p:sp>
      <p:sp>
        <p:nvSpPr>
          <p:cNvPr id="26" name="Text 24"/>
          <p:cNvSpPr/>
          <p:nvPr/>
        </p:nvSpPr>
        <p:spPr>
          <a:xfrm>
            <a:off x="5559552" y="2578608"/>
            <a:ext cx="2286000" cy="384048"/>
          </a:xfrm>
          <a:prstGeom prst="rect">
            <a:avLst/>
          </a:prstGeom>
          <a:noFill/>
          <a:ln/>
        </p:spPr>
        <p:txBody>
          <a:bodyPr wrap="square" rtlCol="0" anchor="ctr"/>
          <a:lstStyle/>
          <a:p>
            <a:pPr marL="0" indent="0">
              <a:buNone/>
            </a:pPr>
            <a:endParaRPr lang="en-US" sz="1050" dirty="0"/>
          </a:p>
        </p:txBody>
      </p:sp>
      <p:sp>
        <p:nvSpPr>
          <p:cNvPr id="31" name="Text 29"/>
          <p:cNvSpPr/>
          <p:nvPr/>
        </p:nvSpPr>
        <p:spPr>
          <a:xfrm>
            <a:off x="4297680" y="3154680"/>
            <a:ext cx="1097280" cy="384048"/>
          </a:xfrm>
          <a:prstGeom prst="rect">
            <a:avLst/>
          </a:prstGeom>
          <a:noFill/>
          <a:ln/>
        </p:spPr>
        <p:txBody>
          <a:bodyPr wrap="square" rtlCol="0" anchor="ctr"/>
          <a:lstStyle/>
          <a:p>
            <a:pPr marL="0" indent="0">
              <a:buNone/>
            </a:pPr>
            <a:endParaRPr lang="en-US" sz="1000" dirty="0"/>
          </a:p>
        </p:txBody>
      </p:sp>
      <p:sp>
        <p:nvSpPr>
          <p:cNvPr id="33" name="Text 31"/>
          <p:cNvSpPr/>
          <p:nvPr/>
        </p:nvSpPr>
        <p:spPr>
          <a:xfrm>
            <a:off x="5559552" y="3154680"/>
            <a:ext cx="2286000" cy="384048"/>
          </a:xfrm>
          <a:prstGeom prst="rect">
            <a:avLst/>
          </a:prstGeom>
          <a:noFill/>
          <a:ln/>
        </p:spPr>
        <p:txBody>
          <a:bodyPr wrap="square" rtlCol="0" anchor="ctr"/>
          <a:lstStyle/>
          <a:p>
            <a:pPr marL="0" indent="0">
              <a:buNone/>
            </a:pPr>
            <a:endParaRPr lang="en-US" sz="1050" dirty="0"/>
          </a:p>
        </p:txBody>
      </p:sp>
      <p:sp>
        <p:nvSpPr>
          <p:cNvPr id="38" name="Text 36"/>
          <p:cNvSpPr/>
          <p:nvPr/>
        </p:nvSpPr>
        <p:spPr>
          <a:xfrm>
            <a:off x="4297680" y="3730752"/>
            <a:ext cx="1097280" cy="384048"/>
          </a:xfrm>
          <a:prstGeom prst="rect">
            <a:avLst/>
          </a:prstGeom>
          <a:noFill/>
          <a:ln/>
        </p:spPr>
        <p:txBody>
          <a:bodyPr wrap="square" rtlCol="0" anchor="ctr"/>
          <a:lstStyle/>
          <a:p>
            <a:pPr marL="0" indent="0">
              <a:buNone/>
            </a:pPr>
            <a:endParaRPr lang="en-US" sz="1000" dirty="0"/>
          </a:p>
        </p:txBody>
      </p:sp>
      <p:sp>
        <p:nvSpPr>
          <p:cNvPr id="40" name="Text 38"/>
          <p:cNvSpPr/>
          <p:nvPr/>
        </p:nvSpPr>
        <p:spPr>
          <a:xfrm>
            <a:off x="5559552" y="3730752"/>
            <a:ext cx="2286000" cy="384048"/>
          </a:xfrm>
          <a:prstGeom prst="rect">
            <a:avLst/>
          </a:prstGeom>
          <a:noFill/>
          <a:ln/>
        </p:spPr>
        <p:txBody>
          <a:bodyPr wrap="square" rtlCol="0" anchor="ctr"/>
          <a:lstStyle/>
          <a:p>
            <a:pPr marL="0" indent="0">
              <a:buNone/>
            </a:pPr>
            <a:endParaRPr lang="en-US" sz="1050" dirty="0"/>
          </a:p>
        </p:txBody>
      </p:sp>
      <p:grpSp>
        <p:nvGrpSpPr>
          <p:cNvPr id="49" name="Group 48">
            <a:extLst>
              <a:ext uri="{FF2B5EF4-FFF2-40B4-BE49-F238E27FC236}">
                <a16:creationId xmlns:a16="http://schemas.microsoft.com/office/drawing/2014/main" id="{26A37F58-3ACB-497B-1BF3-07C2367F7328}"/>
              </a:ext>
            </a:extLst>
          </p:cNvPr>
          <p:cNvGrpSpPr/>
          <p:nvPr/>
        </p:nvGrpSpPr>
        <p:grpSpPr>
          <a:xfrm>
            <a:off x="1367806" y="1184148"/>
            <a:ext cx="7567765" cy="3264408"/>
            <a:chOff x="320040" y="1426464"/>
            <a:chExt cx="3941064" cy="3264408"/>
          </a:xfrm>
        </p:grpSpPr>
        <p:sp>
          <p:nvSpPr>
            <p:cNvPr id="6" name="Shape 4"/>
            <p:cNvSpPr/>
            <p:nvPr/>
          </p:nvSpPr>
          <p:spPr>
            <a:xfrm>
              <a:off x="320040" y="1426464"/>
              <a:ext cx="1051560" cy="384048"/>
            </a:xfrm>
            <a:prstGeom prst="rect">
              <a:avLst/>
            </a:prstGeom>
            <a:solidFill>
              <a:srgbClr val="028090"/>
            </a:solidFill>
            <a:ln w="12700">
              <a:solidFill>
                <a:srgbClr val="028090"/>
              </a:solidFill>
              <a:prstDash val="solid"/>
            </a:ln>
          </p:spPr>
        </p:sp>
        <p:sp>
          <p:nvSpPr>
            <p:cNvPr id="7" name="Text 5"/>
            <p:cNvSpPr/>
            <p:nvPr/>
          </p:nvSpPr>
          <p:spPr>
            <a:xfrm>
              <a:off x="320040" y="1426464"/>
              <a:ext cx="1051560" cy="384048"/>
            </a:xfrm>
            <a:prstGeom prst="rect">
              <a:avLst/>
            </a:prstGeom>
            <a:noFill/>
            <a:ln/>
          </p:spPr>
          <p:txBody>
            <a:bodyPr wrap="square" lIns="0" tIns="0" rIns="0" bIns="0" rtlCol="0" anchor="ctr"/>
            <a:lstStyle/>
            <a:p>
              <a:pPr marL="0" indent="0" algn="ctr">
                <a:buNone/>
              </a:pPr>
              <a:r>
                <a:rPr lang="en-US" sz="950" b="1" dirty="0">
                  <a:solidFill>
                    <a:srgbClr val="FFFFFF"/>
                  </a:solidFill>
                </a:rPr>
                <a:t>Phase 1</a:t>
              </a:r>
              <a:endParaRPr lang="en-US" sz="950" dirty="0"/>
            </a:p>
          </p:txBody>
        </p:sp>
        <p:sp>
          <p:nvSpPr>
            <p:cNvPr id="8" name="Shape 6"/>
            <p:cNvSpPr/>
            <p:nvPr/>
          </p:nvSpPr>
          <p:spPr>
            <a:xfrm>
              <a:off x="1371600" y="1600200"/>
              <a:ext cx="228600" cy="36576"/>
            </a:xfrm>
            <a:prstGeom prst="rect">
              <a:avLst/>
            </a:prstGeom>
            <a:solidFill>
              <a:srgbClr val="028090"/>
            </a:solidFill>
            <a:ln w="12700">
              <a:solidFill>
                <a:srgbClr val="028090"/>
              </a:solidFill>
              <a:prstDash val="solid"/>
            </a:ln>
          </p:spPr>
        </p:sp>
        <p:sp>
          <p:nvSpPr>
            <p:cNvPr id="9" name="Text 7"/>
            <p:cNvSpPr/>
            <p:nvPr/>
          </p:nvSpPr>
          <p:spPr>
            <a:xfrm>
              <a:off x="1609344" y="1426464"/>
              <a:ext cx="265176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Research &amp; Requirements Gathering</a:t>
              </a:r>
              <a:endParaRPr lang="en-US" sz="1100" dirty="0"/>
            </a:p>
          </p:txBody>
        </p:sp>
        <p:sp>
          <p:nvSpPr>
            <p:cNvPr id="13" name="Shape 11"/>
            <p:cNvSpPr/>
            <p:nvPr/>
          </p:nvSpPr>
          <p:spPr>
            <a:xfrm>
              <a:off x="320040" y="2002536"/>
              <a:ext cx="1051560" cy="384048"/>
            </a:xfrm>
            <a:prstGeom prst="rect">
              <a:avLst/>
            </a:prstGeom>
            <a:solidFill>
              <a:srgbClr val="0E7490"/>
            </a:solidFill>
            <a:ln w="12700">
              <a:solidFill>
                <a:srgbClr val="0E7490"/>
              </a:solidFill>
              <a:prstDash val="solid"/>
            </a:ln>
          </p:spPr>
        </p:sp>
        <p:sp>
          <p:nvSpPr>
            <p:cNvPr id="14" name="Text 12"/>
            <p:cNvSpPr/>
            <p:nvPr/>
          </p:nvSpPr>
          <p:spPr>
            <a:xfrm>
              <a:off x="320040" y="2002536"/>
              <a:ext cx="1051560" cy="384048"/>
            </a:xfrm>
            <a:prstGeom prst="rect">
              <a:avLst/>
            </a:prstGeom>
            <a:noFill/>
            <a:ln/>
          </p:spPr>
          <p:txBody>
            <a:bodyPr wrap="square" lIns="0" tIns="0" rIns="0" bIns="0" rtlCol="0" anchor="ctr"/>
            <a:lstStyle/>
            <a:p>
              <a:pPr marL="0" indent="0" algn="ctr">
                <a:buNone/>
              </a:pPr>
              <a:r>
                <a:rPr lang="en-US" sz="950" b="1" dirty="0">
                  <a:solidFill>
                    <a:srgbClr val="FFFFFF"/>
                  </a:solidFill>
                </a:rPr>
                <a:t>Phase 2</a:t>
              </a:r>
              <a:endParaRPr lang="en-US" sz="950" dirty="0"/>
            </a:p>
          </p:txBody>
        </p:sp>
        <p:sp>
          <p:nvSpPr>
            <p:cNvPr id="15" name="Shape 13"/>
            <p:cNvSpPr/>
            <p:nvPr/>
          </p:nvSpPr>
          <p:spPr>
            <a:xfrm>
              <a:off x="1371600" y="2176272"/>
              <a:ext cx="228600" cy="36576"/>
            </a:xfrm>
            <a:prstGeom prst="rect">
              <a:avLst/>
            </a:prstGeom>
            <a:solidFill>
              <a:srgbClr val="0E7490"/>
            </a:solidFill>
            <a:ln w="12700">
              <a:solidFill>
                <a:srgbClr val="0E7490"/>
              </a:solidFill>
              <a:prstDash val="solid"/>
            </a:ln>
          </p:spPr>
        </p:sp>
        <p:sp>
          <p:nvSpPr>
            <p:cNvPr id="16" name="Text 14"/>
            <p:cNvSpPr/>
            <p:nvPr/>
          </p:nvSpPr>
          <p:spPr>
            <a:xfrm>
              <a:off x="1609344" y="2002536"/>
              <a:ext cx="265176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Data Collection &amp; Preprocessing</a:t>
              </a:r>
              <a:endParaRPr lang="en-US" sz="1100" dirty="0"/>
            </a:p>
          </p:txBody>
        </p:sp>
        <p:sp>
          <p:nvSpPr>
            <p:cNvPr id="20" name="Shape 18"/>
            <p:cNvSpPr/>
            <p:nvPr/>
          </p:nvSpPr>
          <p:spPr>
            <a:xfrm>
              <a:off x="320040" y="2578608"/>
              <a:ext cx="1051560" cy="384048"/>
            </a:xfrm>
            <a:prstGeom prst="rect">
              <a:avLst/>
            </a:prstGeom>
            <a:solidFill>
              <a:srgbClr val="1E40AF"/>
            </a:solidFill>
            <a:ln w="12700">
              <a:solidFill>
                <a:srgbClr val="1E40AF"/>
              </a:solidFill>
              <a:prstDash val="solid"/>
            </a:ln>
          </p:spPr>
        </p:sp>
        <p:sp>
          <p:nvSpPr>
            <p:cNvPr id="21" name="Text 19"/>
            <p:cNvSpPr/>
            <p:nvPr/>
          </p:nvSpPr>
          <p:spPr>
            <a:xfrm>
              <a:off x="320040" y="2578608"/>
              <a:ext cx="1051560" cy="384048"/>
            </a:xfrm>
            <a:prstGeom prst="rect">
              <a:avLst/>
            </a:prstGeom>
            <a:noFill/>
            <a:ln/>
          </p:spPr>
          <p:txBody>
            <a:bodyPr wrap="square" lIns="0" tIns="0" rIns="0" bIns="0" rtlCol="0" anchor="ctr"/>
            <a:lstStyle/>
            <a:p>
              <a:pPr marL="0" indent="0" algn="ctr">
                <a:buNone/>
              </a:pPr>
              <a:r>
                <a:rPr lang="en-US" sz="950" b="1" dirty="0">
                  <a:solidFill>
                    <a:srgbClr val="FFFFFF"/>
                  </a:solidFill>
                </a:rPr>
                <a:t>Phase 3</a:t>
              </a:r>
              <a:endParaRPr lang="en-US" sz="950" dirty="0"/>
            </a:p>
          </p:txBody>
        </p:sp>
        <p:sp>
          <p:nvSpPr>
            <p:cNvPr id="22" name="Shape 20"/>
            <p:cNvSpPr/>
            <p:nvPr/>
          </p:nvSpPr>
          <p:spPr>
            <a:xfrm>
              <a:off x="1371600" y="2752344"/>
              <a:ext cx="228600" cy="36576"/>
            </a:xfrm>
            <a:prstGeom prst="rect">
              <a:avLst/>
            </a:prstGeom>
            <a:solidFill>
              <a:srgbClr val="1E40AF"/>
            </a:solidFill>
            <a:ln w="12700">
              <a:solidFill>
                <a:srgbClr val="1E40AF"/>
              </a:solidFill>
              <a:prstDash val="solid"/>
            </a:ln>
          </p:spPr>
        </p:sp>
        <p:sp>
          <p:nvSpPr>
            <p:cNvPr id="23" name="Text 21"/>
            <p:cNvSpPr/>
            <p:nvPr/>
          </p:nvSpPr>
          <p:spPr>
            <a:xfrm>
              <a:off x="1609344" y="2578608"/>
              <a:ext cx="265176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LlamaParse Integration &amp; Testing</a:t>
              </a:r>
              <a:endParaRPr lang="en-US" sz="1100" dirty="0"/>
            </a:p>
          </p:txBody>
        </p:sp>
        <p:sp>
          <p:nvSpPr>
            <p:cNvPr id="27" name="Shape 25"/>
            <p:cNvSpPr/>
            <p:nvPr/>
          </p:nvSpPr>
          <p:spPr>
            <a:xfrm>
              <a:off x="320040" y="3154680"/>
              <a:ext cx="1051560" cy="384048"/>
            </a:xfrm>
            <a:prstGeom prst="rect">
              <a:avLst/>
            </a:prstGeom>
            <a:solidFill>
              <a:srgbClr val="6D28D9"/>
            </a:solidFill>
            <a:ln w="12700">
              <a:solidFill>
                <a:srgbClr val="6D28D9"/>
              </a:solidFill>
              <a:prstDash val="solid"/>
            </a:ln>
          </p:spPr>
        </p:sp>
        <p:sp>
          <p:nvSpPr>
            <p:cNvPr id="28" name="Text 26"/>
            <p:cNvSpPr/>
            <p:nvPr/>
          </p:nvSpPr>
          <p:spPr>
            <a:xfrm>
              <a:off x="320040" y="3154680"/>
              <a:ext cx="1051560" cy="384048"/>
            </a:xfrm>
            <a:prstGeom prst="rect">
              <a:avLst/>
            </a:prstGeom>
            <a:noFill/>
            <a:ln/>
          </p:spPr>
          <p:txBody>
            <a:bodyPr wrap="square" lIns="0" tIns="0" rIns="0" bIns="0" rtlCol="0" anchor="ctr"/>
            <a:lstStyle/>
            <a:p>
              <a:pPr marL="0" indent="0" algn="ctr">
                <a:buNone/>
              </a:pPr>
              <a:r>
                <a:rPr lang="en-US" sz="950" b="1" dirty="0">
                  <a:solidFill>
                    <a:srgbClr val="FFFFFF"/>
                  </a:solidFill>
                </a:rPr>
                <a:t>Phase 4</a:t>
              </a:r>
              <a:endParaRPr lang="en-US" sz="950" dirty="0"/>
            </a:p>
          </p:txBody>
        </p:sp>
        <p:sp>
          <p:nvSpPr>
            <p:cNvPr id="29" name="Shape 27"/>
            <p:cNvSpPr/>
            <p:nvPr/>
          </p:nvSpPr>
          <p:spPr>
            <a:xfrm>
              <a:off x="1371600" y="3328416"/>
              <a:ext cx="228600" cy="36576"/>
            </a:xfrm>
            <a:prstGeom prst="rect">
              <a:avLst/>
            </a:prstGeom>
            <a:solidFill>
              <a:srgbClr val="6D28D9"/>
            </a:solidFill>
            <a:ln w="12700">
              <a:solidFill>
                <a:srgbClr val="6D28D9"/>
              </a:solidFill>
              <a:prstDash val="solid"/>
            </a:ln>
          </p:spPr>
        </p:sp>
        <p:sp>
          <p:nvSpPr>
            <p:cNvPr id="30" name="Text 28"/>
            <p:cNvSpPr/>
            <p:nvPr/>
          </p:nvSpPr>
          <p:spPr>
            <a:xfrm>
              <a:off x="1609344" y="3154680"/>
              <a:ext cx="265176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Qwen Model Integration &amp; Training</a:t>
              </a:r>
              <a:endParaRPr lang="en-US" sz="1100" dirty="0"/>
            </a:p>
          </p:txBody>
        </p:sp>
        <p:sp>
          <p:nvSpPr>
            <p:cNvPr id="34" name="Shape 32"/>
            <p:cNvSpPr/>
            <p:nvPr/>
          </p:nvSpPr>
          <p:spPr>
            <a:xfrm>
              <a:off x="320040" y="3730752"/>
              <a:ext cx="1051560" cy="384048"/>
            </a:xfrm>
            <a:prstGeom prst="rect">
              <a:avLst/>
            </a:prstGeom>
            <a:solidFill>
              <a:srgbClr val="F0A500"/>
            </a:solidFill>
            <a:ln w="12700">
              <a:solidFill>
                <a:srgbClr val="F0A500"/>
              </a:solidFill>
              <a:prstDash val="solid"/>
            </a:ln>
          </p:spPr>
        </p:sp>
        <p:sp>
          <p:nvSpPr>
            <p:cNvPr id="35" name="Text 33"/>
            <p:cNvSpPr/>
            <p:nvPr/>
          </p:nvSpPr>
          <p:spPr>
            <a:xfrm>
              <a:off x="320040" y="3730752"/>
              <a:ext cx="1051560" cy="384048"/>
            </a:xfrm>
            <a:prstGeom prst="rect">
              <a:avLst/>
            </a:prstGeom>
            <a:noFill/>
            <a:ln/>
          </p:spPr>
          <p:txBody>
            <a:bodyPr wrap="square" lIns="0" tIns="0" rIns="0" bIns="0" rtlCol="0" anchor="ctr"/>
            <a:lstStyle/>
            <a:p>
              <a:pPr marL="0" indent="0" algn="ctr">
                <a:buNone/>
              </a:pPr>
              <a:r>
                <a:rPr lang="en-US" sz="950" b="1" dirty="0">
                  <a:solidFill>
                    <a:srgbClr val="FFFFFF"/>
                  </a:solidFill>
                </a:rPr>
                <a:t>Phase 5</a:t>
              </a:r>
              <a:endParaRPr lang="en-US" sz="950" dirty="0"/>
            </a:p>
          </p:txBody>
        </p:sp>
        <p:sp>
          <p:nvSpPr>
            <p:cNvPr id="36" name="Shape 34"/>
            <p:cNvSpPr/>
            <p:nvPr/>
          </p:nvSpPr>
          <p:spPr>
            <a:xfrm>
              <a:off x="1371600" y="3904488"/>
              <a:ext cx="228600" cy="36576"/>
            </a:xfrm>
            <a:prstGeom prst="rect">
              <a:avLst/>
            </a:prstGeom>
            <a:solidFill>
              <a:srgbClr val="F0A500"/>
            </a:solidFill>
            <a:ln w="12700">
              <a:solidFill>
                <a:srgbClr val="F0A500"/>
              </a:solidFill>
              <a:prstDash val="solid"/>
            </a:ln>
          </p:spPr>
        </p:sp>
        <p:sp>
          <p:nvSpPr>
            <p:cNvPr id="37" name="Text 35"/>
            <p:cNvSpPr/>
            <p:nvPr/>
          </p:nvSpPr>
          <p:spPr>
            <a:xfrm>
              <a:off x="1609344" y="3730752"/>
              <a:ext cx="265176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UI Development</a:t>
              </a:r>
              <a:endParaRPr lang="en-US" sz="1100" dirty="0"/>
            </a:p>
          </p:txBody>
        </p:sp>
        <p:sp>
          <p:nvSpPr>
            <p:cNvPr id="41" name="Shape 39"/>
            <p:cNvSpPr/>
            <p:nvPr/>
          </p:nvSpPr>
          <p:spPr>
            <a:xfrm>
              <a:off x="320040" y="4306824"/>
              <a:ext cx="1051560" cy="384048"/>
            </a:xfrm>
            <a:prstGeom prst="rect">
              <a:avLst/>
            </a:prstGeom>
            <a:solidFill>
              <a:srgbClr val="0A1628"/>
            </a:solidFill>
            <a:ln w="12700">
              <a:solidFill>
                <a:srgbClr val="0A1628"/>
              </a:solidFill>
              <a:prstDash val="solid"/>
            </a:ln>
          </p:spPr>
        </p:sp>
        <p:sp>
          <p:nvSpPr>
            <p:cNvPr id="42" name="Text 40"/>
            <p:cNvSpPr/>
            <p:nvPr/>
          </p:nvSpPr>
          <p:spPr>
            <a:xfrm>
              <a:off x="320040" y="4306824"/>
              <a:ext cx="1051560" cy="384048"/>
            </a:xfrm>
            <a:prstGeom prst="rect">
              <a:avLst/>
            </a:prstGeom>
            <a:noFill/>
            <a:ln/>
          </p:spPr>
          <p:txBody>
            <a:bodyPr wrap="square" lIns="0" tIns="0" rIns="0" bIns="0" rtlCol="0" anchor="ctr"/>
            <a:lstStyle/>
            <a:p>
              <a:pPr marL="0" indent="0" algn="ctr">
                <a:buNone/>
              </a:pPr>
              <a:r>
                <a:rPr lang="en-US" sz="950" b="1" dirty="0">
                  <a:solidFill>
                    <a:srgbClr val="FFFFFF"/>
                  </a:solidFill>
                </a:rPr>
                <a:t>Phase 6</a:t>
              </a:r>
              <a:endParaRPr lang="en-US" sz="950" dirty="0"/>
            </a:p>
          </p:txBody>
        </p:sp>
        <p:sp>
          <p:nvSpPr>
            <p:cNvPr id="43" name="Shape 41"/>
            <p:cNvSpPr/>
            <p:nvPr/>
          </p:nvSpPr>
          <p:spPr>
            <a:xfrm>
              <a:off x="1371600" y="4480560"/>
              <a:ext cx="228600" cy="36576"/>
            </a:xfrm>
            <a:prstGeom prst="rect">
              <a:avLst/>
            </a:prstGeom>
            <a:solidFill>
              <a:srgbClr val="0A1628"/>
            </a:solidFill>
            <a:ln w="12700">
              <a:solidFill>
                <a:srgbClr val="0A1628"/>
              </a:solidFill>
              <a:prstDash val="solid"/>
            </a:ln>
          </p:spPr>
        </p:sp>
        <p:sp>
          <p:nvSpPr>
            <p:cNvPr id="44" name="Text 42"/>
            <p:cNvSpPr/>
            <p:nvPr/>
          </p:nvSpPr>
          <p:spPr>
            <a:xfrm>
              <a:off x="1609344" y="4306824"/>
              <a:ext cx="2651760" cy="384048"/>
            </a:xfrm>
            <a:prstGeom prst="rect">
              <a:avLst/>
            </a:prstGeom>
            <a:noFill/>
            <a:ln/>
          </p:spPr>
          <p:txBody>
            <a:bodyPr wrap="square" rtlCol="0" anchor="ctr"/>
            <a:lstStyle/>
            <a:p>
              <a:r>
                <a:rPr lang="en-US" sz="1100" dirty="0">
                  <a:solidFill>
                    <a:srgbClr val="1E293B"/>
                  </a:solidFill>
                  <a:latin typeface="Calibri" pitchFamily="34" charset="0"/>
                  <a:ea typeface="Calibri" pitchFamily="34" charset="-122"/>
                  <a:cs typeface="Calibri" pitchFamily="34" charset="-120"/>
                </a:rPr>
                <a:t> System Testing</a:t>
              </a:r>
              <a:endParaRPr lang="en-US" sz="1100" dirty="0"/>
            </a:p>
          </p:txBody>
        </p:sp>
      </p:grpSp>
      <p:sp>
        <p:nvSpPr>
          <p:cNvPr id="45" name="Text 43"/>
          <p:cNvSpPr/>
          <p:nvPr/>
        </p:nvSpPr>
        <p:spPr>
          <a:xfrm>
            <a:off x="4297680" y="4306824"/>
            <a:ext cx="1097280" cy="384048"/>
          </a:xfrm>
          <a:prstGeom prst="rect">
            <a:avLst/>
          </a:prstGeom>
          <a:noFill/>
          <a:ln/>
        </p:spPr>
        <p:txBody>
          <a:bodyPr wrap="square" rtlCol="0" anchor="ctr"/>
          <a:lstStyle/>
          <a:p>
            <a:pPr marL="0" indent="0">
              <a:buNone/>
            </a:pPr>
            <a:endParaRPr lang="en-US" sz="1000" dirty="0"/>
          </a:p>
        </p:txBody>
      </p:sp>
      <p:sp>
        <p:nvSpPr>
          <p:cNvPr id="47" name="Text 45"/>
          <p:cNvSpPr/>
          <p:nvPr/>
        </p:nvSpPr>
        <p:spPr>
          <a:xfrm>
            <a:off x="5559552" y="4306824"/>
            <a:ext cx="2286000" cy="384048"/>
          </a:xfrm>
          <a:prstGeom prst="rect">
            <a:avLst/>
          </a:prstGeom>
          <a:noFill/>
          <a:ln/>
        </p:spPr>
        <p:txBody>
          <a:bodyPr wrap="square" rtlCol="0" anchor="ctr"/>
          <a:lstStyle/>
          <a:p>
            <a:pPr marL="0" indent="0">
              <a:buNone/>
            </a:pPr>
            <a:endParaRPr lang="en-US" sz="1050" dirty="0"/>
          </a:p>
        </p:txBody>
      </p:sp>
      <p:sp>
        <p:nvSpPr>
          <p:cNvPr id="48" name="Shape 46"/>
          <p:cNvSpPr/>
          <p:nvPr/>
        </p:nvSpPr>
        <p:spPr>
          <a:xfrm>
            <a:off x="320040" y="4773168"/>
            <a:ext cx="8503920" cy="0"/>
          </a:xfrm>
          <a:prstGeom prst="rect">
            <a:avLst/>
          </a:prstGeom>
          <a:solidFill>
            <a:srgbClr val="E4EFF8"/>
          </a:solidFill>
          <a:ln w="12700">
            <a:solidFill>
              <a:srgbClr val="D0DAEA"/>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w="12700">
            <a:solidFill>
              <a:srgbClr val="0A1628"/>
            </a:solidFill>
            <a:prstDash val="solid"/>
          </a:ln>
        </p:spPr>
      </p:sp>
      <p:sp>
        <p:nvSpPr>
          <p:cNvPr id="3" name="Text 1"/>
          <p:cNvSpPr/>
          <p:nvPr/>
        </p:nvSpPr>
        <p:spPr>
          <a:xfrm>
            <a:off x="365760" y="0"/>
            <a:ext cx="7772400" cy="8686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Planning of Project &amp; Teamwork — Member Responsibilities</a:t>
            </a:r>
            <a:endParaRPr lang="en-US" sz="1800" dirty="0"/>
          </a:p>
        </p:txBody>
      </p:sp>
      <p:sp>
        <p:nvSpPr>
          <p:cNvPr id="4" name="Text 2"/>
          <p:cNvSpPr/>
          <p:nvPr/>
        </p:nvSpPr>
        <p:spPr>
          <a:xfrm>
            <a:off x="365760" y="0"/>
            <a:ext cx="8503920" cy="868680"/>
          </a:xfrm>
          <a:prstGeom prst="rect">
            <a:avLst/>
          </a:prstGeom>
          <a:noFill/>
          <a:ln/>
        </p:spPr>
        <p:txBody>
          <a:bodyPr wrap="square" rtlCol="0" anchor="ctr"/>
          <a:lstStyle/>
          <a:p>
            <a:pPr marL="0" indent="0" algn="r">
              <a:buNone/>
            </a:pPr>
            <a:endParaRPr lang="en-US" sz="1000" dirty="0"/>
          </a:p>
        </p:txBody>
      </p:sp>
      <p:sp>
        <p:nvSpPr>
          <p:cNvPr id="5" name="Shape 3"/>
          <p:cNvSpPr/>
          <p:nvPr/>
        </p:nvSpPr>
        <p:spPr>
          <a:xfrm>
            <a:off x="256032" y="987552"/>
            <a:ext cx="4160520" cy="1920240"/>
          </a:xfrm>
          <a:prstGeom prst="rect">
            <a:avLst/>
          </a:prstGeom>
          <a:solidFill>
            <a:srgbClr val="FFFFFF"/>
          </a:solidFill>
          <a:ln w="12700">
            <a:solidFill>
              <a:srgbClr val="D0DAEA"/>
            </a:solidFill>
            <a:prstDash val="solid"/>
          </a:ln>
          <a:effectLst>
            <a:outerShdw blurRad="101600" dist="38100" dir="8100000" algn="bl" rotWithShape="0">
              <a:srgbClr val="000000">
                <a:alpha val="10000"/>
              </a:srgbClr>
            </a:outerShdw>
          </a:effectLst>
        </p:spPr>
      </p:sp>
      <p:sp>
        <p:nvSpPr>
          <p:cNvPr id="6" name="Shape 4"/>
          <p:cNvSpPr/>
          <p:nvPr/>
        </p:nvSpPr>
        <p:spPr>
          <a:xfrm>
            <a:off x="256032" y="987552"/>
            <a:ext cx="4160520" cy="475488"/>
          </a:xfrm>
          <a:prstGeom prst="rect">
            <a:avLst/>
          </a:prstGeom>
          <a:solidFill>
            <a:srgbClr val="028090"/>
          </a:solidFill>
          <a:ln w="12700">
            <a:solidFill>
              <a:srgbClr val="028090"/>
            </a:solidFill>
            <a:prstDash val="solid"/>
          </a:ln>
        </p:spPr>
      </p:sp>
      <p:sp>
        <p:nvSpPr>
          <p:cNvPr id="7" name="Text 5"/>
          <p:cNvSpPr/>
          <p:nvPr/>
        </p:nvSpPr>
        <p:spPr>
          <a:xfrm>
            <a:off x="393192" y="987552"/>
            <a:ext cx="4023360" cy="274320"/>
          </a:xfrm>
          <a:prstGeom prst="rect">
            <a:avLst/>
          </a:prstGeom>
          <a:noFill/>
          <a:ln/>
        </p:spPr>
        <p:txBody>
          <a:bodyPr wrap="square" lIns="0" tIns="0" rIns="0" bIns="0" rtlCol="0" anchor="b"/>
          <a:lstStyle/>
          <a:p>
            <a:pPr marL="0" indent="0">
              <a:buNone/>
            </a:pPr>
            <a:r>
              <a:rPr lang="en-US" sz="1300" b="1" dirty="0">
                <a:solidFill>
                  <a:srgbClr val="FFFFFF"/>
                </a:solidFill>
                <a:latin typeface="Calibri" pitchFamily="34" charset="0"/>
                <a:ea typeface="Calibri" pitchFamily="34" charset="-122"/>
                <a:cs typeface="Calibri" pitchFamily="34" charset="-120"/>
              </a:rPr>
              <a:t>Chaitanya Sri</a:t>
            </a:r>
            <a:endParaRPr lang="en-US" sz="1300" dirty="0"/>
          </a:p>
        </p:txBody>
      </p:sp>
      <p:sp>
        <p:nvSpPr>
          <p:cNvPr id="8" name="Text 6"/>
          <p:cNvSpPr/>
          <p:nvPr/>
        </p:nvSpPr>
        <p:spPr>
          <a:xfrm>
            <a:off x="393192" y="1261872"/>
            <a:ext cx="4023360" cy="201168"/>
          </a:xfrm>
          <a:prstGeom prst="rect">
            <a:avLst/>
          </a:prstGeom>
          <a:noFill/>
          <a:ln/>
        </p:spPr>
        <p:txBody>
          <a:bodyPr wrap="square" lIns="0" tIns="0" rIns="0" bIns="0" rtlCol="0" anchor="ctr"/>
          <a:lstStyle/>
          <a:p>
            <a:pPr marL="0" indent="0">
              <a:buNone/>
            </a:pPr>
            <a:r>
              <a:rPr lang="en-US" sz="900" dirty="0">
                <a:solidFill>
                  <a:srgbClr val="CCDDEE"/>
                </a:solidFill>
                <a:latin typeface="Calibri" pitchFamily="34" charset="0"/>
                <a:ea typeface="Calibri" pitchFamily="34" charset="-122"/>
                <a:cs typeface="Calibri" pitchFamily="34" charset="-120"/>
              </a:rPr>
              <a:t>Y22ACM408  ·  </a:t>
            </a:r>
            <a:endParaRPr lang="en-US" sz="900" dirty="0"/>
          </a:p>
        </p:txBody>
      </p:sp>
      <p:sp>
        <p:nvSpPr>
          <p:cNvPr id="9" name="Text 7"/>
          <p:cNvSpPr/>
          <p:nvPr/>
        </p:nvSpPr>
        <p:spPr>
          <a:xfrm>
            <a:off x="393192" y="1517904"/>
            <a:ext cx="3977640" cy="1335024"/>
          </a:xfrm>
          <a:prstGeom prst="rect">
            <a:avLst/>
          </a:prstGeom>
          <a:noFill/>
          <a:ln/>
        </p:spPr>
        <p:txBody>
          <a:bodyPr wrap="square"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Overall project coordination and sprint management</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Qwen LLM integration and prompt engineering</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Designing the prediction pipeline architecture</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Final system integration and testing</a:t>
            </a:r>
            <a:endParaRPr lang="en-US" sz="1050" dirty="0"/>
          </a:p>
        </p:txBody>
      </p:sp>
      <p:sp>
        <p:nvSpPr>
          <p:cNvPr id="10" name="Shape 8"/>
          <p:cNvSpPr/>
          <p:nvPr/>
        </p:nvSpPr>
        <p:spPr>
          <a:xfrm>
            <a:off x="4690872" y="987552"/>
            <a:ext cx="4160520" cy="1920240"/>
          </a:xfrm>
          <a:prstGeom prst="rect">
            <a:avLst/>
          </a:prstGeom>
          <a:solidFill>
            <a:srgbClr val="FFFFFF"/>
          </a:solidFill>
          <a:ln w="12700">
            <a:solidFill>
              <a:srgbClr val="D0DAEA"/>
            </a:solidFill>
            <a:prstDash val="solid"/>
          </a:ln>
          <a:effectLst>
            <a:outerShdw blurRad="101600" dist="38100" dir="8100000" algn="bl" rotWithShape="0">
              <a:srgbClr val="000000">
                <a:alpha val="10000"/>
              </a:srgbClr>
            </a:outerShdw>
          </a:effectLst>
        </p:spPr>
      </p:sp>
      <p:sp>
        <p:nvSpPr>
          <p:cNvPr id="11" name="Shape 9"/>
          <p:cNvSpPr/>
          <p:nvPr/>
        </p:nvSpPr>
        <p:spPr>
          <a:xfrm>
            <a:off x="4690872" y="987552"/>
            <a:ext cx="4160520" cy="475488"/>
          </a:xfrm>
          <a:prstGeom prst="rect">
            <a:avLst/>
          </a:prstGeom>
          <a:solidFill>
            <a:srgbClr val="1E40AF"/>
          </a:solidFill>
          <a:ln w="12700">
            <a:solidFill>
              <a:srgbClr val="1E40AF"/>
            </a:solidFill>
            <a:prstDash val="solid"/>
          </a:ln>
        </p:spPr>
      </p:sp>
      <p:sp>
        <p:nvSpPr>
          <p:cNvPr id="12" name="Text 10"/>
          <p:cNvSpPr/>
          <p:nvPr/>
        </p:nvSpPr>
        <p:spPr>
          <a:xfrm>
            <a:off x="4828032" y="987552"/>
            <a:ext cx="4023360" cy="274320"/>
          </a:xfrm>
          <a:prstGeom prst="rect">
            <a:avLst/>
          </a:prstGeom>
          <a:noFill/>
          <a:ln/>
        </p:spPr>
        <p:txBody>
          <a:bodyPr wrap="square" lIns="0" tIns="0" rIns="0" bIns="0" rtlCol="0" anchor="b"/>
          <a:lstStyle/>
          <a:p>
            <a:pPr marL="0" indent="0">
              <a:buNone/>
            </a:pPr>
            <a:r>
              <a:rPr lang="en-US" sz="1300" b="1" dirty="0">
                <a:solidFill>
                  <a:srgbClr val="FFFFFF"/>
                </a:solidFill>
                <a:latin typeface="Calibri" pitchFamily="34" charset="0"/>
                <a:ea typeface="Calibri" pitchFamily="34" charset="-122"/>
                <a:cs typeface="Calibri" pitchFamily="34" charset="-120"/>
              </a:rPr>
              <a:t>Naga Lakshmi</a:t>
            </a:r>
            <a:endParaRPr lang="en-US" sz="1300" dirty="0"/>
          </a:p>
        </p:txBody>
      </p:sp>
      <p:sp>
        <p:nvSpPr>
          <p:cNvPr id="13" name="Text 11"/>
          <p:cNvSpPr/>
          <p:nvPr/>
        </p:nvSpPr>
        <p:spPr>
          <a:xfrm>
            <a:off x="4828032" y="1261872"/>
            <a:ext cx="4023360" cy="201168"/>
          </a:xfrm>
          <a:prstGeom prst="rect">
            <a:avLst/>
          </a:prstGeom>
          <a:noFill/>
          <a:ln/>
        </p:spPr>
        <p:txBody>
          <a:bodyPr wrap="square" lIns="0" tIns="0" rIns="0" bIns="0" rtlCol="0" anchor="ctr"/>
          <a:lstStyle/>
          <a:p>
            <a:pPr marL="0" indent="0">
              <a:buNone/>
            </a:pPr>
            <a:r>
              <a:rPr lang="en-US" sz="900" dirty="0">
                <a:solidFill>
                  <a:srgbClr val="CCDDEE"/>
                </a:solidFill>
                <a:latin typeface="Calibri" pitchFamily="34" charset="0"/>
                <a:ea typeface="Calibri" pitchFamily="34" charset="-122"/>
                <a:cs typeface="Calibri" pitchFamily="34" charset="-120"/>
              </a:rPr>
              <a:t>Y22ACM427  ·</a:t>
            </a:r>
            <a:endParaRPr lang="en-US" sz="900" dirty="0"/>
          </a:p>
        </p:txBody>
      </p:sp>
      <p:sp>
        <p:nvSpPr>
          <p:cNvPr id="14" name="Text 12"/>
          <p:cNvSpPr/>
          <p:nvPr/>
        </p:nvSpPr>
        <p:spPr>
          <a:xfrm>
            <a:off x="4828032" y="1517904"/>
            <a:ext cx="3977640" cy="1335024"/>
          </a:xfrm>
          <a:prstGeom prst="rect">
            <a:avLst/>
          </a:prstGeom>
          <a:noFill/>
          <a:ln/>
        </p:spPr>
        <p:txBody>
          <a:bodyPr wrap="square"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LlamaParse API integration and configuration</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Document extraction logic (PDFs, IDs, bank statements)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Data validation and consistency checks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Testing document parser on diverse formats</a:t>
            </a:r>
            <a:endParaRPr lang="en-US" sz="1050" dirty="0"/>
          </a:p>
        </p:txBody>
      </p:sp>
      <p:sp>
        <p:nvSpPr>
          <p:cNvPr id="15" name="Shape 13"/>
          <p:cNvSpPr/>
          <p:nvPr/>
        </p:nvSpPr>
        <p:spPr>
          <a:xfrm>
            <a:off x="256032" y="2999232"/>
            <a:ext cx="4160520" cy="1920240"/>
          </a:xfrm>
          <a:prstGeom prst="rect">
            <a:avLst/>
          </a:prstGeom>
          <a:solidFill>
            <a:srgbClr val="FFFFFF"/>
          </a:solidFill>
          <a:ln w="12700">
            <a:solidFill>
              <a:srgbClr val="D0DAEA"/>
            </a:solidFill>
            <a:prstDash val="solid"/>
          </a:ln>
          <a:effectLst>
            <a:outerShdw blurRad="101600" dist="38100" dir="8100000" algn="bl" rotWithShape="0">
              <a:srgbClr val="000000">
                <a:alpha val="10000"/>
              </a:srgbClr>
            </a:outerShdw>
          </a:effectLst>
        </p:spPr>
      </p:sp>
      <p:sp>
        <p:nvSpPr>
          <p:cNvPr id="16" name="Shape 14"/>
          <p:cNvSpPr/>
          <p:nvPr/>
        </p:nvSpPr>
        <p:spPr>
          <a:xfrm>
            <a:off x="256032" y="2999232"/>
            <a:ext cx="4160520" cy="475488"/>
          </a:xfrm>
          <a:prstGeom prst="rect">
            <a:avLst/>
          </a:prstGeom>
          <a:solidFill>
            <a:srgbClr val="6D28D9"/>
          </a:solidFill>
          <a:ln w="12700">
            <a:solidFill>
              <a:srgbClr val="6D28D9"/>
            </a:solidFill>
            <a:prstDash val="solid"/>
          </a:ln>
        </p:spPr>
      </p:sp>
      <p:sp>
        <p:nvSpPr>
          <p:cNvPr id="17" name="Text 15"/>
          <p:cNvSpPr/>
          <p:nvPr/>
        </p:nvSpPr>
        <p:spPr>
          <a:xfrm>
            <a:off x="393192" y="2999232"/>
            <a:ext cx="4023360" cy="274320"/>
          </a:xfrm>
          <a:prstGeom prst="rect">
            <a:avLst/>
          </a:prstGeom>
          <a:noFill/>
          <a:ln/>
        </p:spPr>
        <p:txBody>
          <a:bodyPr wrap="square" lIns="0" tIns="0" rIns="0" bIns="0" rtlCol="0" anchor="b"/>
          <a:lstStyle/>
          <a:p>
            <a:pPr marL="0" indent="0">
              <a:buNone/>
            </a:pPr>
            <a:r>
              <a:rPr lang="en-US" sz="1300" b="1" dirty="0">
                <a:solidFill>
                  <a:srgbClr val="FFFFFF"/>
                </a:solidFill>
                <a:latin typeface="Calibri" pitchFamily="34" charset="0"/>
                <a:ea typeface="Calibri" pitchFamily="34" charset="-122"/>
                <a:cs typeface="Calibri" pitchFamily="34" charset="-120"/>
              </a:rPr>
              <a:t>Ravindra</a:t>
            </a:r>
            <a:endParaRPr lang="en-US" sz="1300" dirty="0"/>
          </a:p>
        </p:txBody>
      </p:sp>
      <p:sp>
        <p:nvSpPr>
          <p:cNvPr id="18" name="Text 16"/>
          <p:cNvSpPr/>
          <p:nvPr/>
        </p:nvSpPr>
        <p:spPr>
          <a:xfrm>
            <a:off x="393192" y="3273552"/>
            <a:ext cx="4023360" cy="201168"/>
          </a:xfrm>
          <a:prstGeom prst="rect">
            <a:avLst/>
          </a:prstGeom>
          <a:noFill/>
          <a:ln/>
        </p:spPr>
        <p:txBody>
          <a:bodyPr wrap="square" lIns="0" tIns="0" rIns="0" bIns="0" rtlCol="0" anchor="ctr"/>
          <a:lstStyle/>
          <a:p>
            <a:pPr marL="0" indent="0">
              <a:buNone/>
            </a:pPr>
            <a:r>
              <a:rPr lang="en-US" sz="900" dirty="0">
                <a:solidFill>
                  <a:srgbClr val="CCDDEE"/>
                </a:solidFill>
                <a:latin typeface="Calibri" pitchFamily="34" charset="0"/>
                <a:ea typeface="Calibri" pitchFamily="34" charset="-122"/>
                <a:cs typeface="Calibri" pitchFamily="34" charset="-120"/>
              </a:rPr>
              <a:t>Y22ACM410  ·  </a:t>
            </a:r>
            <a:endParaRPr lang="en-US" sz="900" dirty="0"/>
          </a:p>
        </p:txBody>
      </p:sp>
      <p:sp>
        <p:nvSpPr>
          <p:cNvPr id="19" name="Text 17"/>
          <p:cNvSpPr/>
          <p:nvPr/>
        </p:nvSpPr>
        <p:spPr>
          <a:xfrm>
            <a:off x="393192" y="3529584"/>
            <a:ext cx="3977640" cy="1335024"/>
          </a:xfrm>
          <a:prstGeom prst="rect">
            <a:avLst/>
          </a:prstGeom>
          <a:noFill/>
          <a:ln/>
        </p:spPr>
        <p:txBody>
          <a:bodyPr wrap="square"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Flask API design and development</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Database design and data preprocessing pipeline</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Model inference optimization and caching</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API documentation and deployment scripts</a:t>
            </a:r>
            <a:endParaRPr lang="en-US" sz="1050" dirty="0"/>
          </a:p>
        </p:txBody>
      </p:sp>
      <p:sp>
        <p:nvSpPr>
          <p:cNvPr id="20" name="Shape 18"/>
          <p:cNvSpPr/>
          <p:nvPr/>
        </p:nvSpPr>
        <p:spPr>
          <a:xfrm>
            <a:off x="4690872" y="2999232"/>
            <a:ext cx="4160520" cy="1920240"/>
          </a:xfrm>
          <a:prstGeom prst="rect">
            <a:avLst/>
          </a:prstGeom>
          <a:solidFill>
            <a:srgbClr val="FFFFFF"/>
          </a:solidFill>
          <a:ln w="12700">
            <a:solidFill>
              <a:srgbClr val="D0DAEA"/>
            </a:solidFill>
            <a:prstDash val="solid"/>
          </a:ln>
          <a:effectLst>
            <a:outerShdw blurRad="101600" dist="38100" dir="8100000" algn="bl" rotWithShape="0">
              <a:srgbClr val="000000">
                <a:alpha val="10000"/>
              </a:srgbClr>
            </a:outerShdw>
          </a:effectLst>
        </p:spPr>
      </p:sp>
      <p:sp>
        <p:nvSpPr>
          <p:cNvPr id="21" name="Shape 19"/>
          <p:cNvSpPr/>
          <p:nvPr/>
        </p:nvSpPr>
        <p:spPr>
          <a:xfrm>
            <a:off x="4690872" y="2999232"/>
            <a:ext cx="4160520" cy="475488"/>
          </a:xfrm>
          <a:prstGeom prst="rect">
            <a:avLst/>
          </a:prstGeom>
          <a:solidFill>
            <a:srgbClr val="F0A500"/>
          </a:solidFill>
          <a:ln w="12700">
            <a:solidFill>
              <a:srgbClr val="F0A500"/>
            </a:solidFill>
            <a:prstDash val="solid"/>
          </a:ln>
        </p:spPr>
      </p:sp>
      <p:sp>
        <p:nvSpPr>
          <p:cNvPr id="22" name="Text 20"/>
          <p:cNvSpPr/>
          <p:nvPr/>
        </p:nvSpPr>
        <p:spPr>
          <a:xfrm>
            <a:off x="4828032" y="2999232"/>
            <a:ext cx="4023360" cy="274320"/>
          </a:xfrm>
          <a:prstGeom prst="rect">
            <a:avLst/>
          </a:prstGeom>
          <a:noFill/>
          <a:ln/>
        </p:spPr>
        <p:txBody>
          <a:bodyPr wrap="square" lIns="0" tIns="0" rIns="0" bIns="0" rtlCol="0" anchor="b"/>
          <a:lstStyle/>
          <a:p>
            <a:pPr marL="0" indent="0">
              <a:buNone/>
            </a:pPr>
            <a:r>
              <a:rPr lang="en-US" sz="1300" b="1" dirty="0">
                <a:solidFill>
                  <a:srgbClr val="FFFFFF"/>
                </a:solidFill>
                <a:latin typeface="Calibri" pitchFamily="34" charset="0"/>
                <a:ea typeface="Calibri" pitchFamily="34" charset="-122"/>
                <a:cs typeface="Calibri" pitchFamily="34" charset="-120"/>
              </a:rPr>
              <a:t>Peeraiah</a:t>
            </a:r>
            <a:endParaRPr lang="en-US" sz="1300" dirty="0"/>
          </a:p>
        </p:txBody>
      </p:sp>
      <p:sp>
        <p:nvSpPr>
          <p:cNvPr id="23" name="Text 21"/>
          <p:cNvSpPr/>
          <p:nvPr/>
        </p:nvSpPr>
        <p:spPr>
          <a:xfrm>
            <a:off x="4828032" y="3273552"/>
            <a:ext cx="4023360" cy="201168"/>
          </a:xfrm>
          <a:prstGeom prst="rect">
            <a:avLst/>
          </a:prstGeom>
          <a:noFill/>
          <a:ln/>
        </p:spPr>
        <p:txBody>
          <a:bodyPr wrap="square" lIns="0" tIns="0" rIns="0" bIns="0" rtlCol="0" anchor="ctr"/>
          <a:lstStyle/>
          <a:p>
            <a:pPr marL="0" indent="0">
              <a:buNone/>
            </a:pPr>
            <a:r>
              <a:rPr lang="en-US" sz="900" dirty="0">
                <a:solidFill>
                  <a:srgbClr val="CCDDEE"/>
                </a:solidFill>
                <a:latin typeface="Calibri" pitchFamily="34" charset="0"/>
                <a:ea typeface="Calibri" pitchFamily="34" charset="-122"/>
                <a:cs typeface="Calibri" pitchFamily="34" charset="-120"/>
              </a:rPr>
              <a:t>Y22ACM436  · </a:t>
            </a:r>
            <a:endParaRPr lang="en-US" sz="900" dirty="0"/>
          </a:p>
        </p:txBody>
      </p:sp>
      <p:sp>
        <p:nvSpPr>
          <p:cNvPr id="24" name="Text 22"/>
          <p:cNvSpPr/>
          <p:nvPr/>
        </p:nvSpPr>
        <p:spPr>
          <a:xfrm>
            <a:off x="4828032" y="3529584"/>
            <a:ext cx="3977640" cy="1335024"/>
          </a:xfrm>
          <a:prstGeom prst="rect">
            <a:avLst/>
          </a:prstGeom>
          <a:noFill/>
          <a:ln/>
        </p:spPr>
        <p:txBody>
          <a:bodyPr wrap="square"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HTML development for user input &amp; output</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Integration of frontend with backend API</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System-level testing and bug reporting</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Preparing demo, reports and presentation slides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w="12700">
            <a:solidFill>
              <a:srgbClr val="0A1628"/>
            </a:solidFill>
            <a:prstDash val="solid"/>
          </a:ln>
        </p:spPr>
      </p:sp>
      <p:sp>
        <p:nvSpPr>
          <p:cNvPr id="3" name="Text 1"/>
          <p:cNvSpPr/>
          <p:nvPr/>
        </p:nvSpPr>
        <p:spPr>
          <a:xfrm>
            <a:off x="365760" y="0"/>
            <a:ext cx="7772400" cy="8686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Hardware &amp; Software Requirements</a:t>
            </a:r>
            <a:endParaRPr lang="en-US" sz="2200" dirty="0"/>
          </a:p>
        </p:txBody>
      </p:sp>
      <p:sp>
        <p:nvSpPr>
          <p:cNvPr id="4" name="Text 2"/>
          <p:cNvSpPr/>
          <p:nvPr/>
        </p:nvSpPr>
        <p:spPr>
          <a:xfrm>
            <a:off x="365760" y="0"/>
            <a:ext cx="8503920" cy="868680"/>
          </a:xfrm>
          <a:prstGeom prst="rect">
            <a:avLst/>
          </a:prstGeom>
          <a:noFill/>
          <a:ln/>
        </p:spPr>
        <p:txBody>
          <a:bodyPr wrap="square" rtlCol="0" anchor="ctr"/>
          <a:lstStyle/>
          <a:p>
            <a:pPr marL="0" indent="0" algn="r">
              <a:buNone/>
            </a:pPr>
            <a:endParaRPr lang="en-US" sz="1000" dirty="0"/>
          </a:p>
        </p:txBody>
      </p:sp>
      <p:sp>
        <p:nvSpPr>
          <p:cNvPr id="50" name="Shape 3">
            <a:extLst>
              <a:ext uri="{FF2B5EF4-FFF2-40B4-BE49-F238E27FC236}">
                <a16:creationId xmlns:a16="http://schemas.microsoft.com/office/drawing/2014/main" id="{11E59F54-F082-D735-71CD-DBA0BE5E66B9}"/>
              </a:ext>
            </a:extLst>
          </p:cNvPr>
          <p:cNvSpPr/>
          <p:nvPr/>
        </p:nvSpPr>
        <p:spPr>
          <a:xfrm>
            <a:off x="320040" y="1097280"/>
            <a:ext cx="3931920" cy="3611880"/>
          </a:xfrm>
          <a:prstGeom prst="rect">
            <a:avLst/>
          </a:prstGeom>
          <a:solidFill>
            <a:srgbClr val="FFFFFF"/>
          </a:solidFill>
          <a:ln w="12700">
            <a:solidFill>
              <a:srgbClr val="D0D8E4"/>
            </a:solidFill>
            <a:prstDash val="solid"/>
          </a:ln>
          <a:effectLst>
            <a:outerShdw blurRad="101600" dist="25400" dir="8100000" algn="bl" rotWithShape="0">
              <a:srgbClr val="000000">
                <a:alpha val="8000"/>
              </a:srgbClr>
            </a:outerShdw>
          </a:effectLst>
        </p:spPr>
      </p:sp>
      <p:sp>
        <p:nvSpPr>
          <p:cNvPr id="51" name="Shape 4">
            <a:extLst>
              <a:ext uri="{FF2B5EF4-FFF2-40B4-BE49-F238E27FC236}">
                <a16:creationId xmlns:a16="http://schemas.microsoft.com/office/drawing/2014/main" id="{32521D44-0743-3ADD-5FDB-5D295EB67406}"/>
              </a:ext>
            </a:extLst>
          </p:cNvPr>
          <p:cNvSpPr/>
          <p:nvPr/>
        </p:nvSpPr>
        <p:spPr>
          <a:xfrm>
            <a:off x="320040" y="1097280"/>
            <a:ext cx="3931920" cy="411480"/>
          </a:xfrm>
          <a:prstGeom prst="rect">
            <a:avLst/>
          </a:prstGeom>
          <a:solidFill>
            <a:srgbClr val="028090"/>
          </a:solidFill>
          <a:ln w="12700">
            <a:solidFill>
              <a:srgbClr val="028090"/>
            </a:solidFill>
            <a:prstDash val="solid"/>
          </a:ln>
        </p:spPr>
      </p:sp>
      <p:sp>
        <p:nvSpPr>
          <p:cNvPr id="52" name="Text 5">
            <a:extLst>
              <a:ext uri="{FF2B5EF4-FFF2-40B4-BE49-F238E27FC236}">
                <a16:creationId xmlns:a16="http://schemas.microsoft.com/office/drawing/2014/main" id="{2679FCAC-6758-7DC6-C345-3F0248D38309}"/>
              </a:ext>
            </a:extLst>
          </p:cNvPr>
          <p:cNvSpPr/>
          <p:nvPr/>
        </p:nvSpPr>
        <p:spPr>
          <a:xfrm>
            <a:off x="320040" y="1097280"/>
            <a:ext cx="3931920" cy="411480"/>
          </a:xfrm>
          <a:prstGeom prst="rect">
            <a:avLst/>
          </a:prstGeom>
          <a:noFill/>
          <a:ln/>
        </p:spPr>
        <p:txBody>
          <a:bodyPr wrap="square" lIns="0" tIns="0" rIns="0" bIns="0" rtlCol="0" anchor="ctr"/>
          <a:lstStyle/>
          <a:p>
            <a:pPr marL="0" indent="0" algn="ctr">
              <a:buNone/>
            </a:pPr>
            <a:r>
              <a:rPr lang="en-US" sz="1200" b="1" dirty="0">
                <a:solidFill>
                  <a:srgbClr val="FFFFFF"/>
                </a:solidFill>
              </a:rPr>
              <a:t>HARDWARE</a:t>
            </a:r>
            <a:endParaRPr lang="en-US" sz="1200" dirty="0"/>
          </a:p>
        </p:txBody>
      </p:sp>
      <p:sp>
        <p:nvSpPr>
          <p:cNvPr id="53" name="Shape 6">
            <a:extLst>
              <a:ext uri="{FF2B5EF4-FFF2-40B4-BE49-F238E27FC236}">
                <a16:creationId xmlns:a16="http://schemas.microsoft.com/office/drawing/2014/main" id="{76C4777D-4BDA-66DB-29BD-498223CFD321}"/>
              </a:ext>
            </a:extLst>
          </p:cNvPr>
          <p:cNvSpPr/>
          <p:nvPr/>
        </p:nvSpPr>
        <p:spPr>
          <a:xfrm>
            <a:off x="457200" y="1600200"/>
            <a:ext cx="1005840" cy="384048"/>
          </a:xfrm>
          <a:prstGeom prst="rect">
            <a:avLst/>
          </a:prstGeom>
          <a:solidFill>
            <a:srgbClr val="E8F4F8"/>
          </a:solidFill>
          <a:ln w="12700">
            <a:solidFill>
              <a:srgbClr val="028090"/>
            </a:solidFill>
            <a:prstDash val="solid"/>
          </a:ln>
        </p:spPr>
      </p:sp>
      <p:sp>
        <p:nvSpPr>
          <p:cNvPr id="54" name="Text 7">
            <a:extLst>
              <a:ext uri="{FF2B5EF4-FFF2-40B4-BE49-F238E27FC236}">
                <a16:creationId xmlns:a16="http://schemas.microsoft.com/office/drawing/2014/main" id="{960BD079-9124-C842-83BB-C6850DE21CD0}"/>
              </a:ext>
            </a:extLst>
          </p:cNvPr>
          <p:cNvSpPr/>
          <p:nvPr/>
        </p:nvSpPr>
        <p:spPr>
          <a:xfrm>
            <a:off x="457200" y="1600200"/>
            <a:ext cx="1005840" cy="384048"/>
          </a:xfrm>
          <a:prstGeom prst="rect">
            <a:avLst/>
          </a:prstGeom>
          <a:noFill/>
          <a:ln/>
        </p:spPr>
        <p:txBody>
          <a:bodyPr wrap="square" lIns="0" tIns="0" rIns="0" bIns="0" rtlCol="0" anchor="ctr"/>
          <a:lstStyle/>
          <a:p>
            <a:pPr marL="0" indent="0" algn="ctr">
              <a:buNone/>
            </a:pPr>
            <a:r>
              <a:rPr lang="en-US" sz="1050" b="1" dirty="0">
                <a:solidFill>
                  <a:srgbClr val="028090"/>
                </a:solidFill>
                <a:latin typeface="Calibri" pitchFamily="34" charset="0"/>
                <a:ea typeface="Calibri" pitchFamily="34" charset="-122"/>
                <a:cs typeface="Calibri" pitchFamily="34" charset="-120"/>
              </a:rPr>
              <a:t>CPU</a:t>
            </a:r>
            <a:endParaRPr lang="en-US" sz="1050" dirty="0"/>
          </a:p>
        </p:txBody>
      </p:sp>
      <p:sp>
        <p:nvSpPr>
          <p:cNvPr id="55" name="Text 8">
            <a:extLst>
              <a:ext uri="{FF2B5EF4-FFF2-40B4-BE49-F238E27FC236}">
                <a16:creationId xmlns:a16="http://schemas.microsoft.com/office/drawing/2014/main" id="{A226C7EE-C4C5-BFDF-55E3-61A81CE658FA}"/>
              </a:ext>
            </a:extLst>
          </p:cNvPr>
          <p:cNvSpPr/>
          <p:nvPr/>
        </p:nvSpPr>
        <p:spPr>
          <a:xfrm>
            <a:off x="1554480" y="1600200"/>
            <a:ext cx="256032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Intel i7 / AMD Ryzen 7 or higher</a:t>
            </a:r>
            <a:endParaRPr lang="en-US" sz="1100" dirty="0"/>
          </a:p>
        </p:txBody>
      </p:sp>
      <p:sp>
        <p:nvSpPr>
          <p:cNvPr id="56" name="Shape 9">
            <a:extLst>
              <a:ext uri="{FF2B5EF4-FFF2-40B4-BE49-F238E27FC236}">
                <a16:creationId xmlns:a16="http://schemas.microsoft.com/office/drawing/2014/main" id="{DDA94E86-7FB4-DBF0-EFAB-9B5AD7447371}"/>
              </a:ext>
            </a:extLst>
          </p:cNvPr>
          <p:cNvSpPr/>
          <p:nvPr/>
        </p:nvSpPr>
        <p:spPr>
          <a:xfrm>
            <a:off x="457200" y="2221992"/>
            <a:ext cx="1005840" cy="384048"/>
          </a:xfrm>
          <a:prstGeom prst="rect">
            <a:avLst/>
          </a:prstGeom>
          <a:solidFill>
            <a:srgbClr val="E8F4F8"/>
          </a:solidFill>
          <a:ln w="12700">
            <a:solidFill>
              <a:srgbClr val="028090"/>
            </a:solidFill>
            <a:prstDash val="solid"/>
          </a:ln>
        </p:spPr>
      </p:sp>
      <p:sp>
        <p:nvSpPr>
          <p:cNvPr id="57" name="Text 10">
            <a:extLst>
              <a:ext uri="{FF2B5EF4-FFF2-40B4-BE49-F238E27FC236}">
                <a16:creationId xmlns:a16="http://schemas.microsoft.com/office/drawing/2014/main" id="{42CF8FB1-272E-7B38-C637-3339417725B7}"/>
              </a:ext>
            </a:extLst>
          </p:cNvPr>
          <p:cNvSpPr/>
          <p:nvPr/>
        </p:nvSpPr>
        <p:spPr>
          <a:xfrm>
            <a:off x="457200" y="2221992"/>
            <a:ext cx="1005840" cy="384048"/>
          </a:xfrm>
          <a:prstGeom prst="rect">
            <a:avLst/>
          </a:prstGeom>
          <a:noFill/>
          <a:ln/>
        </p:spPr>
        <p:txBody>
          <a:bodyPr wrap="square" lIns="0" tIns="0" rIns="0" bIns="0" rtlCol="0" anchor="ctr"/>
          <a:lstStyle/>
          <a:p>
            <a:pPr marL="0" indent="0" algn="ctr">
              <a:buNone/>
            </a:pPr>
            <a:r>
              <a:rPr lang="en-US" sz="1050" b="1" dirty="0">
                <a:solidFill>
                  <a:srgbClr val="028090"/>
                </a:solidFill>
                <a:latin typeface="Calibri" pitchFamily="34" charset="0"/>
                <a:ea typeface="Calibri" pitchFamily="34" charset="-122"/>
                <a:cs typeface="Calibri" pitchFamily="34" charset="-120"/>
              </a:rPr>
              <a:t>RAM</a:t>
            </a:r>
            <a:endParaRPr lang="en-US" sz="1050" dirty="0"/>
          </a:p>
        </p:txBody>
      </p:sp>
      <p:sp>
        <p:nvSpPr>
          <p:cNvPr id="58" name="Text 11">
            <a:extLst>
              <a:ext uri="{FF2B5EF4-FFF2-40B4-BE49-F238E27FC236}">
                <a16:creationId xmlns:a16="http://schemas.microsoft.com/office/drawing/2014/main" id="{D3A84D2E-3524-8B55-08B1-42FB1A54DBF3}"/>
              </a:ext>
            </a:extLst>
          </p:cNvPr>
          <p:cNvSpPr/>
          <p:nvPr/>
        </p:nvSpPr>
        <p:spPr>
          <a:xfrm>
            <a:off x="1554480" y="2221992"/>
            <a:ext cx="256032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16 GB minimum (32 GB recommended)</a:t>
            </a:r>
            <a:endParaRPr lang="en-US" sz="1100" dirty="0"/>
          </a:p>
        </p:txBody>
      </p:sp>
      <p:sp>
        <p:nvSpPr>
          <p:cNvPr id="59" name="Shape 12">
            <a:extLst>
              <a:ext uri="{FF2B5EF4-FFF2-40B4-BE49-F238E27FC236}">
                <a16:creationId xmlns:a16="http://schemas.microsoft.com/office/drawing/2014/main" id="{1D660EC2-5320-90E3-A413-6D0C72037B07}"/>
              </a:ext>
            </a:extLst>
          </p:cNvPr>
          <p:cNvSpPr/>
          <p:nvPr/>
        </p:nvSpPr>
        <p:spPr>
          <a:xfrm>
            <a:off x="457200" y="2843784"/>
            <a:ext cx="1005840" cy="384048"/>
          </a:xfrm>
          <a:prstGeom prst="rect">
            <a:avLst/>
          </a:prstGeom>
          <a:solidFill>
            <a:srgbClr val="E8F4F8"/>
          </a:solidFill>
          <a:ln w="12700">
            <a:solidFill>
              <a:srgbClr val="028090"/>
            </a:solidFill>
            <a:prstDash val="solid"/>
          </a:ln>
        </p:spPr>
      </p:sp>
      <p:sp>
        <p:nvSpPr>
          <p:cNvPr id="60" name="Text 13">
            <a:extLst>
              <a:ext uri="{FF2B5EF4-FFF2-40B4-BE49-F238E27FC236}">
                <a16:creationId xmlns:a16="http://schemas.microsoft.com/office/drawing/2014/main" id="{0F2606BC-AE9A-302C-C33E-7B5105B48B12}"/>
              </a:ext>
            </a:extLst>
          </p:cNvPr>
          <p:cNvSpPr/>
          <p:nvPr/>
        </p:nvSpPr>
        <p:spPr>
          <a:xfrm>
            <a:off x="457200" y="2843784"/>
            <a:ext cx="1005840" cy="384048"/>
          </a:xfrm>
          <a:prstGeom prst="rect">
            <a:avLst/>
          </a:prstGeom>
          <a:noFill/>
          <a:ln/>
        </p:spPr>
        <p:txBody>
          <a:bodyPr wrap="square" lIns="0" tIns="0" rIns="0" bIns="0" rtlCol="0" anchor="ctr"/>
          <a:lstStyle/>
          <a:p>
            <a:pPr marL="0" indent="0" algn="ctr">
              <a:buNone/>
            </a:pPr>
            <a:r>
              <a:rPr lang="en-US" sz="1050" b="1" dirty="0">
                <a:solidFill>
                  <a:srgbClr val="028090"/>
                </a:solidFill>
                <a:latin typeface="Calibri" pitchFamily="34" charset="0"/>
                <a:ea typeface="Calibri" pitchFamily="34" charset="-122"/>
                <a:cs typeface="Calibri" pitchFamily="34" charset="-120"/>
              </a:rPr>
              <a:t>GPU</a:t>
            </a:r>
            <a:endParaRPr lang="en-US" sz="1050" dirty="0"/>
          </a:p>
        </p:txBody>
      </p:sp>
      <p:sp>
        <p:nvSpPr>
          <p:cNvPr id="61" name="Text 14">
            <a:extLst>
              <a:ext uri="{FF2B5EF4-FFF2-40B4-BE49-F238E27FC236}">
                <a16:creationId xmlns:a16="http://schemas.microsoft.com/office/drawing/2014/main" id="{F8BD57EC-68A2-73C6-B2FE-7229F5D94144}"/>
              </a:ext>
            </a:extLst>
          </p:cNvPr>
          <p:cNvSpPr/>
          <p:nvPr/>
        </p:nvSpPr>
        <p:spPr>
          <a:xfrm>
            <a:off x="1554480" y="2843784"/>
            <a:ext cx="256032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NVIDIA GPU with CUDA (for LLM inference)</a:t>
            </a:r>
            <a:endParaRPr lang="en-US" sz="1100" dirty="0"/>
          </a:p>
        </p:txBody>
      </p:sp>
      <p:sp>
        <p:nvSpPr>
          <p:cNvPr id="62" name="Shape 15">
            <a:extLst>
              <a:ext uri="{FF2B5EF4-FFF2-40B4-BE49-F238E27FC236}">
                <a16:creationId xmlns:a16="http://schemas.microsoft.com/office/drawing/2014/main" id="{B0D507B3-EE67-115B-3754-28712B99D39A}"/>
              </a:ext>
            </a:extLst>
          </p:cNvPr>
          <p:cNvSpPr/>
          <p:nvPr/>
        </p:nvSpPr>
        <p:spPr>
          <a:xfrm>
            <a:off x="457200" y="3465576"/>
            <a:ext cx="1005840" cy="384048"/>
          </a:xfrm>
          <a:prstGeom prst="rect">
            <a:avLst/>
          </a:prstGeom>
          <a:solidFill>
            <a:srgbClr val="E8F4F8"/>
          </a:solidFill>
          <a:ln w="12700">
            <a:solidFill>
              <a:srgbClr val="028090"/>
            </a:solidFill>
            <a:prstDash val="solid"/>
          </a:ln>
        </p:spPr>
      </p:sp>
      <p:sp>
        <p:nvSpPr>
          <p:cNvPr id="63" name="Text 16">
            <a:extLst>
              <a:ext uri="{FF2B5EF4-FFF2-40B4-BE49-F238E27FC236}">
                <a16:creationId xmlns:a16="http://schemas.microsoft.com/office/drawing/2014/main" id="{4DC51D56-AA65-FDC3-EF60-D1E5B79B0635}"/>
              </a:ext>
            </a:extLst>
          </p:cNvPr>
          <p:cNvSpPr/>
          <p:nvPr/>
        </p:nvSpPr>
        <p:spPr>
          <a:xfrm>
            <a:off x="457200" y="3465576"/>
            <a:ext cx="1005840" cy="384048"/>
          </a:xfrm>
          <a:prstGeom prst="rect">
            <a:avLst/>
          </a:prstGeom>
          <a:noFill/>
          <a:ln/>
        </p:spPr>
        <p:txBody>
          <a:bodyPr wrap="square" lIns="0" tIns="0" rIns="0" bIns="0" rtlCol="0" anchor="ctr"/>
          <a:lstStyle/>
          <a:p>
            <a:pPr marL="0" indent="0" algn="ctr">
              <a:buNone/>
            </a:pPr>
            <a:r>
              <a:rPr lang="en-US" sz="1050" b="1" dirty="0">
                <a:solidFill>
                  <a:srgbClr val="028090"/>
                </a:solidFill>
                <a:latin typeface="Calibri" pitchFamily="34" charset="0"/>
                <a:ea typeface="Calibri" pitchFamily="34" charset="-122"/>
                <a:cs typeface="Calibri" pitchFamily="34" charset="-120"/>
              </a:rPr>
              <a:t>Storage</a:t>
            </a:r>
            <a:endParaRPr lang="en-US" sz="1050" dirty="0"/>
          </a:p>
        </p:txBody>
      </p:sp>
      <p:sp>
        <p:nvSpPr>
          <p:cNvPr id="64" name="Text 17">
            <a:extLst>
              <a:ext uri="{FF2B5EF4-FFF2-40B4-BE49-F238E27FC236}">
                <a16:creationId xmlns:a16="http://schemas.microsoft.com/office/drawing/2014/main" id="{651660C0-EA1B-1F45-DB5C-8CE8E1EC4950}"/>
              </a:ext>
            </a:extLst>
          </p:cNvPr>
          <p:cNvSpPr/>
          <p:nvPr/>
        </p:nvSpPr>
        <p:spPr>
          <a:xfrm>
            <a:off x="1554480" y="3465576"/>
            <a:ext cx="256032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50 GB SSD for model weights &amp; data</a:t>
            </a:r>
            <a:endParaRPr lang="en-US" sz="1100" dirty="0"/>
          </a:p>
        </p:txBody>
      </p:sp>
      <p:sp>
        <p:nvSpPr>
          <p:cNvPr id="65" name="Text 19">
            <a:extLst>
              <a:ext uri="{FF2B5EF4-FFF2-40B4-BE49-F238E27FC236}">
                <a16:creationId xmlns:a16="http://schemas.microsoft.com/office/drawing/2014/main" id="{7AD6268C-1380-5503-0E5F-5EC3C69EE3F3}"/>
              </a:ext>
            </a:extLst>
          </p:cNvPr>
          <p:cNvSpPr/>
          <p:nvPr/>
        </p:nvSpPr>
        <p:spPr>
          <a:xfrm>
            <a:off x="457200" y="4087368"/>
            <a:ext cx="1005840" cy="384048"/>
          </a:xfrm>
          <a:prstGeom prst="rect">
            <a:avLst/>
          </a:prstGeom>
          <a:noFill/>
          <a:ln/>
        </p:spPr>
        <p:txBody>
          <a:bodyPr wrap="square" lIns="0" tIns="0" rIns="0" bIns="0" rtlCol="0" anchor="ctr"/>
          <a:lstStyle/>
          <a:p>
            <a:pPr marL="0" indent="0" algn="ctr">
              <a:buNone/>
            </a:pPr>
            <a:endParaRPr lang="en-US" sz="1050" dirty="0"/>
          </a:p>
        </p:txBody>
      </p:sp>
      <p:sp>
        <p:nvSpPr>
          <p:cNvPr id="66" name="Text 20">
            <a:extLst>
              <a:ext uri="{FF2B5EF4-FFF2-40B4-BE49-F238E27FC236}">
                <a16:creationId xmlns:a16="http://schemas.microsoft.com/office/drawing/2014/main" id="{43E20648-D08A-9E53-ADA3-D0F56FA54120}"/>
              </a:ext>
            </a:extLst>
          </p:cNvPr>
          <p:cNvSpPr/>
          <p:nvPr/>
        </p:nvSpPr>
        <p:spPr>
          <a:xfrm>
            <a:off x="1554480" y="4087368"/>
            <a:ext cx="2560320" cy="384048"/>
          </a:xfrm>
          <a:prstGeom prst="rect">
            <a:avLst/>
          </a:prstGeom>
          <a:noFill/>
          <a:ln/>
        </p:spPr>
        <p:txBody>
          <a:bodyPr wrap="square" rtlCol="0" anchor="ctr"/>
          <a:lstStyle/>
          <a:p>
            <a:pPr marL="0" indent="0">
              <a:buNone/>
            </a:pPr>
            <a:endParaRPr lang="en-US" sz="1100" dirty="0"/>
          </a:p>
        </p:txBody>
      </p:sp>
      <p:sp>
        <p:nvSpPr>
          <p:cNvPr id="67" name="Shape 21">
            <a:extLst>
              <a:ext uri="{FF2B5EF4-FFF2-40B4-BE49-F238E27FC236}">
                <a16:creationId xmlns:a16="http://schemas.microsoft.com/office/drawing/2014/main" id="{C9F5661D-7638-0304-0168-7AAFDAA2EA90}"/>
              </a:ext>
            </a:extLst>
          </p:cNvPr>
          <p:cNvSpPr/>
          <p:nvPr/>
        </p:nvSpPr>
        <p:spPr>
          <a:xfrm>
            <a:off x="4434840" y="1097280"/>
            <a:ext cx="4389120" cy="3611880"/>
          </a:xfrm>
          <a:prstGeom prst="rect">
            <a:avLst/>
          </a:prstGeom>
          <a:solidFill>
            <a:srgbClr val="FFFFFF"/>
          </a:solidFill>
          <a:ln w="12700">
            <a:solidFill>
              <a:srgbClr val="D0D8E4"/>
            </a:solidFill>
            <a:prstDash val="solid"/>
          </a:ln>
          <a:effectLst>
            <a:outerShdw blurRad="101600" dist="25400" dir="8100000" algn="bl" rotWithShape="0">
              <a:srgbClr val="000000">
                <a:alpha val="8000"/>
              </a:srgbClr>
            </a:outerShdw>
          </a:effectLst>
        </p:spPr>
      </p:sp>
      <p:sp>
        <p:nvSpPr>
          <p:cNvPr id="68" name="Shape 22">
            <a:extLst>
              <a:ext uri="{FF2B5EF4-FFF2-40B4-BE49-F238E27FC236}">
                <a16:creationId xmlns:a16="http://schemas.microsoft.com/office/drawing/2014/main" id="{F45B9A18-7A72-B1D7-5347-6A3916671EEF}"/>
              </a:ext>
            </a:extLst>
          </p:cNvPr>
          <p:cNvSpPr/>
          <p:nvPr/>
        </p:nvSpPr>
        <p:spPr>
          <a:xfrm>
            <a:off x="4434840" y="1097280"/>
            <a:ext cx="4389120" cy="411480"/>
          </a:xfrm>
          <a:prstGeom prst="rect">
            <a:avLst/>
          </a:prstGeom>
          <a:solidFill>
            <a:srgbClr val="0D1B3E"/>
          </a:solidFill>
          <a:ln w="12700">
            <a:solidFill>
              <a:srgbClr val="0D1B3E"/>
            </a:solidFill>
            <a:prstDash val="solid"/>
          </a:ln>
        </p:spPr>
      </p:sp>
      <p:sp>
        <p:nvSpPr>
          <p:cNvPr id="69" name="Text 23">
            <a:extLst>
              <a:ext uri="{FF2B5EF4-FFF2-40B4-BE49-F238E27FC236}">
                <a16:creationId xmlns:a16="http://schemas.microsoft.com/office/drawing/2014/main" id="{9E2710F1-2959-7C06-3690-1269F5332890}"/>
              </a:ext>
            </a:extLst>
          </p:cNvPr>
          <p:cNvSpPr/>
          <p:nvPr/>
        </p:nvSpPr>
        <p:spPr>
          <a:xfrm>
            <a:off x="4434840" y="1097280"/>
            <a:ext cx="4389120" cy="411480"/>
          </a:xfrm>
          <a:prstGeom prst="rect">
            <a:avLst/>
          </a:prstGeom>
          <a:noFill/>
          <a:ln/>
        </p:spPr>
        <p:txBody>
          <a:bodyPr wrap="square" lIns="0" tIns="0" rIns="0" bIns="0" rtlCol="0" anchor="ctr"/>
          <a:lstStyle/>
          <a:p>
            <a:pPr marL="0" indent="0" algn="ctr">
              <a:buNone/>
            </a:pPr>
            <a:r>
              <a:rPr lang="en-US" sz="1200" b="1" dirty="0">
                <a:solidFill>
                  <a:srgbClr val="FFFFFF"/>
                </a:solidFill>
              </a:rPr>
              <a:t>SOFTWARE &amp; TECH STACK</a:t>
            </a:r>
            <a:endParaRPr lang="en-US" sz="1200" dirty="0"/>
          </a:p>
        </p:txBody>
      </p:sp>
      <p:sp>
        <p:nvSpPr>
          <p:cNvPr id="70" name="Shape 24">
            <a:extLst>
              <a:ext uri="{FF2B5EF4-FFF2-40B4-BE49-F238E27FC236}">
                <a16:creationId xmlns:a16="http://schemas.microsoft.com/office/drawing/2014/main" id="{32396688-F839-BDA0-D859-CD010D4A2605}"/>
              </a:ext>
            </a:extLst>
          </p:cNvPr>
          <p:cNvSpPr/>
          <p:nvPr/>
        </p:nvSpPr>
        <p:spPr>
          <a:xfrm>
            <a:off x="4526280" y="1572768"/>
            <a:ext cx="1143000" cy="320040"/>
          </a:xfrm>
          <a:prstGeom prst="rect">
            <a:avLst/>
          </a:prstGeom>
          <a:solidFill>
            <a:srgbClr val="E8F4F8"/>
          </a:solidFill>
          <a:ln w="12700">
            <a:solidFill>
              <a:srgbClr val="0D1B3E"/>
            </a:solidFill>
            <a:prstDash val="solid"/>
          </a:ln>
        </p:spPr>
      </p:sp>
      <p:sp>
        <p:nvSpPr>
          <p:cNvPr id="71" name="Text 25">
            <a:extLst>
              <a:ext uri="{FF2B5EF4-FFF2-40B4-BE49-F238E27FC236}">
                <a16:creationId xmlns:a16="http://schemas.microsoft.com/office/drawing/2014/main" id="{D1D4536A-6238-D741-C804-3AB772617747}"/>
              </a:ext>
            </a:extLst>
          </p:cNvPr>
          <p:cNvSpPr/>
          <p:nvPr/>
        </p:nvSpPr>
        <p:spPr>
          <a:xfrm>
            <a:off x="4526280" y="1572768"/>
            <a:ext cx="1143000" cy="320040"/>
          </a:xfrm>
          <a:prstGeom prst="rect">
            <a:avLst/>
          </a:prstGeom>
          <a:noFill/>
          <a:ln/>
        </p:spPr>
        <p:txBody>
          <a:bodyPr wrap="square" lIns="0" tIns="0" rIns="0" bIns="0" rtlCol="0" anchor="ctr"/>
          <a:lstStyle/>
          <a:p>
            <a:pPr marL="0" indent="0" algn="ctr">
              <a:buNone/>
            </a:pPr>
            <a:r>
              <a:rPr lang="en-US" sz="950" b="1" dirty="0">
                <a:solidFill>
                  <a:srgbClr val="0D1B3E"/>
                </a:solidFill>
                <a:latin typeface="Calibri" pitchFamily="34" charset="0"/>
                <a:ea typeface="Calibri" pitchFamily="34" charset="-122"/>
                <a:cs typeface="Calibri" pitchFamily="34" charset="-120"/>
              </a:rPr>
              <a:t>Language</a:t>
            </a:r>
            <a:endParaRPr lang="en-US" sz="950" dirty="0"/>
          </a:p>
        </p:txBody>
      </p:sp>
      <p:sp>
        <p:nvSpPr>
          <p:cNvPr id="72" name="Text 26">
            <a:extLst>
              <a:ext uri="{FF2B5EF4-FFF2-40B4-BE49-F238E27FC236}">
                <a16:creationId xmlns:a16="http://schemas.microsoft.com/office/drawing/2014/main" id="{B18B7A10-76A1-DC4B-26BB-B4D7838BF3A6}"/>
              </a:ext>
            </a:extLst>
          </p:cNvPr>
          <p:cNvSpPr/>
          <p:nvPr/>
        </p:nvSpPr>
        <p:spPr>
          <a:xfrm>
            <a:off x="5760720" y="1572768"/>
            <a:ext cx="292608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Python 3.10+</a:t>
            </a:r>
            <a:endParaRPr lang="en-US" sz="1100" dirty="0"/>
          </a:p>
        </p:txBody>
      </p:sp>
      <p:sp>
        <p:nvSpPr>
          <p:cNvPr id="73" name="Shape 27">
            <a:extLst>
              <a:ext uri="{FF2B5EF4-FFF2-40B4-BE49-F238E27FC236}">
                <a16:creationId xmlns:a16="http://schemas.microsoft.com/office/drawing/2014/main" id="{2548B026-8629-824B-D6BF-23615B6ED0D7}"/>
              </a:ext>
            </a:extLst>
          </p:cNvPr>
          <p:cNvSpPr/>
          <p:nvPr/>
        </p:nvSpPr>
        <p:spPr>
          <a:xfrm>
            <a:off x="4526280" y="2057400"/>
            <a:ext cx="1143000" cy="320040"/>
          </a:xfrm>
          <a:prstGeom prst="rect">
            <a:avLst/>
          </a:prstGeom>
          <a:solidFill>
            <a:srgbClr val="E8F4F8"/>
          </a:solidFill>
          <a:ln w="12700">
            <a:solidFill>
              <a:srgbClr val="0D1B3E"/>
            </a:solidFill>
            <a:prstDash val="solid"/>
          </a:ln>
        </p:spPr>
      </p:sp>
      <p:sp>
        <p:nvSpPr>
          <p:cNvPr id="74" name="Text 28">
            <a:extLst>
              <a:ext uri="{FF2B5EF4-FFF2-40B4-BE49-F238E27FC236}">
                <a16:creationId xmlns:a16="http://schemas.microsoft.com/office/drawing/2014/main" id="{09E54714-D9B8-BA71-3179-F506F6FB4630}"/>
              </a:ext>
            </a:extLst>
          </p:cNvPr>
          <p:cNvSpPr/>
          <p:nvPr/>
        </p:nvSpPr>
        <p:spPr>
          <a:xfrm>
            <a:off x="4526280" y="2057400"/>
            <a:ext cx="1143000" cy="320040"/>
          </a:xfrm>
          <a:prstGeom prst="rect">
            <a:avLst/>
          </a:prstGeom>
          <a:noFill/>
          <a:ln/>
        </p:spPr>
        <p:txBody>
          <a:bodyPr wrap="square" lIns="0" tIns="0" rIns="0" bIns="0" rtlCol="0" anchor="ctr"/>
          <a:lstStyle/>
          <a:p>
            <a:pPr marL="0" indent="0" algn="ctr">
              <a:buNone/>
            </a:pPr>
            <a:r>
              <a:rPr lang="en-US" sz="950" b="1" dirty="0">
                <a:solidFill>
                  <a:srgbClr val="0D1B3E"/>
                </a:solidFill>
                <a:latin typeface="Calibri" pitchFamily="34" charset="0"/>
                <a:ea typeface="Calibri" pitchFamily="34" charset="-122"/>
                <a:cs typeface="Calibri" pitchFamily="34" charset="-120"/>
              </a:rPr>
              <a:t>LLM Model</a:t>
            </a:r>
            <a:endParaRPr lang="en-US" sz="950" dirty="0"/>
          </a:p>
        </p:txBody>
      </p:sp>
      <p:sp>
        <p:nvSpPr>
          <p:cNvPr id="75" name="Text 29">
            <a:extLst>
              <a:ext uri="{FF2B5EF4-FFF2-40B4-BE49-F238E27FC236}">
                <a16:creationId xmlns:a16="http://schemas.microsoft.com/office/drawing/2014/main" id="{A5A89496-6A25-57B3-E2FA-61F99DBB1307}"/>
              </a:ext>
            </a:extLst>
          </p:cNvPr>
          <p:cNvSpPr/>
          <p:nvPr/>
        </p:nvSpPr>
        <p:spPr>
          <a:xfrm>
            <a:off x="5760720" y="2057400"/>
            <a:ext cx="292608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Qwen (Alibaba) – Chat/Instruct variant</a:t>
            </a:r>
            <a:endParaRPr lang="en-US" sz="1100" dirty="0"/>
          </a:p>
        </p:txBody>
      </p:sp>
      <p:sp>
        <p:nvSpPr>
          <p:cNvPr id="76" name="Shape 30">
            <a:extLst>
              <a:ext uri="{FF2B5EF4-FFF2-40B4-BE49-F238E27FC236}">
                <a16:creationId xmlns:a16="http://schemas.microsoft.com/office/drawing/2014/main" id="{CF29A1D2-E76A-28AD-7FB2-1642839BEA8D}"/>
              </a:ext>
            </a:extLst>
          </p:cNvPr>
          <p:cNvSpPr/>
          <p:nvPr/>
        </p:nvSpPr>
        <p:spPr>
          <a:xfrm>
            <a:off x="4526280" y="2542032"/>
            <a:ext cx="1143000" cy="320040"/>
          </a:xfrm>
          <a:prstGeom prst="rect">
            <a:avLst/>
          </a:prstGeom>
          <a:solidFill>
            <a:srgbClr val="E8F4F8"/>
          </a:solidFill>
          <a:ln w="12700">
            <a:solidFill>
              <a:srgbClr val="0D1B3E"/>
            </a:solidFill>
            <a:prstDash val="solid"/>
          </a:ln>
        </p:spPr>
      </p:sp>
      <p:sp>
        <p:nvSpPr>
          <p:cNvPr id="77" name="Text 31">
            <a:extLst>
              <a:ext uri="{FF2B5EF4-FFF2-40B4-BE49-F238E27FC236}">
                <a16:creationId xmlns:a16="http://schemas.microsoft.com/office/drawing/2014/main" id="{9511BDE9-E6FB-CC30-3CFF-C95554C34545}"/>
              </a:ext>
            </a:extLst>
          </p:cNvPr>
          <p:cNvSpPr/>
          <p:nvPr/>
        </p:nvSpPr>
        <p:spPr>
          <a:xfrm>
            <a:off x="4526280" y="2542032"/>
            <a:ext cx="1143000" cy="320040"/>
          </a:xfrm>
          <a:prstGeom prst="rect">
            <a:avLst/>
          </a:prstGeom>
          <a:noFill/>
          <a:ln/>
        </p:spPr>
        <p:txBody>
          <a:bodyPr wrap="square" lIns="0" tIns="0" rIns="0" bIns="0" rtlCol="0" anchor="ctr"/>
          <a:lstStyle/>
          <a:p>
            <a:pPr marL="0" indent="0" algn="ctr">
              <a:buNone/>
            </a:pPr>
            <a:r>
              <a:rPr lang="en-US" sz="950" b="1" dirty="0">
                <a:solidFill>
                  <a:srgbClr val="0D1B3E"/>
                </a:solidFill>
                <a:latin typeface="Calibri" pitchFamily="34" charset="0"/>
                <a:ea typeface="Calibri" pitchFamily="34" charset="-122"/>
                <a:cs typeface="Calibri" pitchFamily="34" charset="-120"/>
              </a:rPr>
              <a:t>Doc Parsing</a:t>
            </a:r>
            <a:endParaRPr lang="en-US" sz="950" dirty="0"/>
          </a:p>
        </p:txBody>
      </p:sp>
      <p:sp>
        <p:nvSpPr>
          <p:cNvPr id="78" name="Text 32">
            <a:extLst>
              <a:ext uri="{FF2B5EF4-FFF2-40B4-BE49-F238E27FC236}">
                <a16:creationId xmlns:a16="http://schemas.microsoft.com/office/drawing/2014/main" id="{EAB1C84C-7F8E-8AFD-F794-20A84BC683AB}"/>
              </a:ext>
            </a:extLst>
          </p:cNvPr>
          <p:cNvSpPr/>
          <p:nvPr/>
        </p:nvSpPr>
        <p:spPr>
          <a:xfrm>
            <a:off x="5760720" y="2542032"/>
            <a:ext cx="292608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LlamaParse by LlamaIndex</a:t>
            </a:r>
            <a:endParaRPr lang="en-US" sz="1100" dirty="0"/>
          </a:p>
        </p:txBody>
      </p:sp>
      <p:sp>
        <p:nvSpPr>
          <p:cNvPr id="79" name="Shape 33">
            <a:extLst>
              <a:ext uri="{FF2B5EF4-FFF2-40B4-BE49-F238E27FC236}">
                <a16:creationId xmlns:a16="http://schemas.microsoft.com/office/drawing/2014/main" id="{2353E1AF-F6B0-5526-402B-024E70939736}"/>
              </a:ext>
            </a:extLst>
          </p:cNvPr>
          <p:cNvSpPr/>
          <p:nvPr/>
        </p:nvSpPr>
        <p:spPr>
          <a:xfrm>
            <a:off x="4526280" y="3026664"/>
            <a:ext cx="1143000" cy="320040"/>
          </a:xfrm>
          <a:prstGeom prst="rect">
            <a:avLst/>
          </a:prstGeom>
          <a:solidFill>
            <a:srgbClr val="E8F4F8"/>
          </a:solidFill>
          <a:ln w="12700">
            <a:solidFill>
              <a:srgbClr val="0D1B3E"/>
            </a:solidFill>
            <a:prstDash val="solid"/>
          </a:ln>
        </p:spPr>
      </p:sp>
      <p:sp>
        <p:nvSpPr>
          <p:cNvPr id="80" name="Text 34">
            <a:extLst>
              <a:ext uri="{FF2B5EF4-FFF2-40B4-BE49-F238E27FC236}">
                <a16:creationId xmlns:a16="http://schemas.microsoft.com/office/drawing/2014/main" id="{360FC2CC-EEEA-B543-5B48-D3A04FE85533}"/>
              </a:ext>
            </a:extLst>
          </p:cNvPr>
          <p:cNvSpPr/>
          <p:nvPr/>
        </p:nvSpPr>
        <p:spPr>
          <a:xfrm>
            <a:off x="4526280" y="3026664"/>
            <a:ext cx="1143000" cy="320040"/>
          </a:xfrm>
          <a:prstGeom prst="rect">
            <a:avLst/>
          </a:prstGeom>
          <a:noFill/>
          <a:ln/>
        </p:spPr>
        <p:txBody>
          <a:bodyPr wrap="square" lIns="0" tIns="0" rIns="0" bIns="0" rtlCol="0" anchor="ctr"/>
          <a:lstStyle/>
          <a:p>
            <a:pPr marL="0" indent="0" algn="ctr">
              <a:buNone/>
            </a:pPr>
            <a:r>
              <a:rPr lang="en-US" sz="950" b="1" dirty="0">
                <a:solidFill>
                  <a:srgbClr val="0D1B3E"/>
                </a:solidFill>
                <a:latin typeface="Calibri" pitchFamily="34" charset="0"/>
                <a:ea typeface="Calibri" pitchFamily="34" charset="-122"/>
                <a:cs typeface="Calibri" pitchFamily="34" charset="-120"/>
              </a:rPr>
              <a:t>Framework</a:t>
            </a:r>
            <a:endParaRPr lang="en-US" sz="950" dirty="0"/>
          </a:p>
        </p:txBody>
      </p:sp>
      <p:sp>
        <p:nvSpPr>
          <p:cNvPr id="81" name="Text 35">
            <a:extLst>
              <a:ext uri="{FF2B5EF4-FFF2-40B4-BE49-F238E27FC236}">
                <a16:creationId xmlns:a16="http://schemas.microsoft.com/office/drawing/2014/main" id="{D87B73DD-1331-7846-1BCE-94BE8CABC5CA}"/>
              </a:ext>
            </a:extLst>
          </p:cNvPr>
          <p:cNvSpPr/>
          <p:nvPr/>
        </p:nvSpPr>
        <p:spPr>
          <a:xfrm>
            <a:off x="5760720" y="3026664"/>
            <a:ext cx="292608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Flask for backend API</a:t>
            </a:r>
            <a:endParaRPr lang="en-US" sz="1100" dirty="0"/>
          </a:p>
        </p:txBody>
      </p:sp>
      <p:sp>
        <p:nvSpPr>
          <p:cNvPr id="82" name="Shape 36">
            <a:extLst>
              <a:ext uri="{FF2B5EF4-FFF2-40B4-BE49-F238E27FC236}">
                <a16:creationId xmlns:a16="http://schemas.microsoft.com/office/drawing/2014/main" id="{26C86142-749C-8B2D-6990-E2437945B2E7}"/>
              </a:ext>
            </a:extLst>
          </p:cNvPr>
          <p:cNvSpPr/>
          <p:nvPr/>
        </p:nvSpPr>
        <p:spPr>
          <a:xfrm>
            <a:off x="4526280" y="3511296"/>
            <a:ext cx="1143000" cy="320040"/>
          </a:xfrm>
          <a:prstGeom prst="rect">
            <a:avLst/>
          </a:prstGeom>
          <a:solidFill>
            <a:srgbClr val="E8F4F8"/>
          </a:solidFill>
          <a:ln w="12700">
            <a:solidFill>
              <a:srgbClr val="0D1B3E"/>
            </a:solidFill>
            <a:prstDash val="solid"/>
          </a:ln>
        </p:spPr>
      </p:sp>
      <p:sp>
        <p:nvSpPr>
          <p:cNvPr id="83" name="Text 37">
            <a:extLst>
              <a:ext uri="{FF2B5EF4-FFF2-40B4-BE49-F238E27FC236}">
                <a16:creationId xmlns:a16="http://schemas.microsoft.com/office/drawing/2014/main" id="{B89CE709-A475-FACC-A3C9-E1C5D64C110F}"/>
              </a:ext>
            </a:extLst>
          </p:cNvPr>
          <p:cNvSpPr/>
          <p:nvPr/>
        </p:nvSpPr>
        <p:spPr>
          <a:xfrm>
            <a:off x="4526280" y="3511296"/>
            <a:ext cx="1143000" cy="320040"/>
          </a:xfrm>
          <a:prstGeom prst="rect">
            <a:avLst/>
          </a:prstGeom>
          <a:noFill/>
          <a:ln/>
        </p:spPr>
        <p:txBody>
          <a:bodyPr wrap="square" lIns="0" tIns="0" rIns="0" bIns="0" rtlCol="0" anchor="ctr"/>
          <a:lstStyle/>
          <a:p>
            <a:pPr marL="0" indent="0" algn="ctr">
              <a:buNone/>
            </a:pPr>
            <a:r>
              <a:rPr lang="en-US" sz="950" b="1" dirty="0">
                <a:solidFill>
                  <a:srgbClr val="0D1B3E"/>
                </a:solidFill>
                <a:latin typeface="Calibri" pitchFamily="34" charset="0"/>
                <a:ea typeface="Calibri" pitchFamily="34" charset="-122"/>
                <a:cs typeface="Calibri" pitchFamily="34" charset="-120"/>
              </a:rPr>
              <a:t>Frontend</a:t>
            </a:r>
            <a:endParaRPr lang="en-US" sz="950" dirty="0"/>
          </a:p>
        </p:txBody>
      </p:sp>
      <p:sp>
        <p:nvSpPr>
          <p:cNvPr id="84" name="Text 38">
            <a:extLst>
              <a:ext uri="{FF2B5EF4-FFF2-40B4-BE49-F238E27FC236}">
                <a16:creationId xmlns:a16="http://schemas.microsoft.com/office/drawing/2014/main" id="{FCC059EE-B906-516E-8AD4-1ED0F5A6AA7A}"/>
              </a:ext>
            </a:extLst>
          </p:cNvPr>
          <p:cNvSpPr/>
          <p:nvPr/>
        </p:nvSpPr>
        <p:spPr>
          <a:xfrm>
            <a:off x="5760720" y="3511296"/>
            <a:ext cx="292608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HTML(UI Interface)</a:t>
            </a:r>
            <a:endParaRPr lang="en-US" sz="1100" dirty="0"/>
          </a:p>
        </p:txBody>
      </p:sp>
      <p:sp>
        <p:nvSpPr>
          <p:cNvPr id="85" name="Shape 39">
            <a:extLst>
              <a:ext uri="{FF2B5EF4-FFF2-40B4-BE49-F238E27FC236}">
                <a16:creationId xmlns:a16="http://schemas.microsoft.com/office/drawing/2014/main" id="{223F318F-8D74-DEC1-C53E-0ABF8D45D0ED}"/>
              </a:ext>
            </a:extLst>
          </p:cNvPr>
          <p:cNvSpPr/>
          <p:nvPr/>
        </p:nvSpPr>
        <p:spPr>
          <a:xfrm>
            <a:off x="4526280" y="3995928"/>
            <a:ext cx="1143000" cy="320040"/>
          </a:xfrm>
          <a:prstGeom prst="rect">
            <a:avLst/>
          </a:prstGeom>
          <a:solidFill>
            <a:srgbClr val="E8F4F8"/>
          </a:solidFill>
          <a:ln w="12700">
            <a:solidFill>
              <a:srgbClr val="0D1B3E"/>
            </a:solidFill>
            <a:prstDash val="solid"/>
          </a:ln>
        </p:spPr>
      </p:sp>
      <p:sp>
        <p:nvSpPr>
          <p:cNvPr id="86" name="Text 40">
            <a:extLst>
              <a:ext uri="{FF2B5EF4-FFF2-40B4-BE49-F238E27FC236}">
                <a16:creationId xmlns:a16="http://schemas.microsoft.com/office/drawing/2014/main" id="{BDFDEB39-CDC0-6ECC-0226-461F5B65B69B}"/>
              </a:ext>
            </a:extLst>
          </p:cNvPr>
          <p:cNvSpPr/>
          <p:nvPr/>
        </p:nvSpPr>
        <p:spPr>
          <a:xfrm>
            <a:off x="4526280" y="3995928"/>
            <a:ext cx="1143000" cy="320040"/>
          </a:xfrm>
          <a:prstGeom prst="rect">
            <a:avLst/>
          </a:prstGeom>
          <a:noFill/>
          <a:ln/>
        </p:spPr>
        <p:txBody>
          <a:bodyPr wrap="square" lIns="0" tIns="0" rIns="0" bIns="0" rtlCol="0" anchor="ctr"/>
          <a:lstStyle/>
          <a:p>
            <a:pPr marL="0" indent="0" algn="ctr">
              <a:buNone/>
            </a:pPr>
            <a:r>
              <a:rPr lang="en-US" sz="950" b="1" dirty="0">
                <a:solidFill>
                  <a:srgbClr val="0D1B3E"/>
                </a:solidFill>
                <a:latin typeface="Calibri" pitchFamily="34" charset="0"/>
                <a:ea typeface="Calibri" pitchFamily="34" charset="-122"/>
                <a:cs typeface="Calibri" pitchFamily="34" charset="-120"/>
              </a:rPr>
              <a:t>Libraries</a:t>
            </a:r>
            <a:endParaRPr lang="en-US" sz="950" dirty="0"/>
          </a:p>
        </p:txBody>
      </p:sp>
      <p:sp>
        <p:nvSpPr>
          <p:cNvPr id="87" name="Text 41">
            <a:extLst>
              <a:ext uri="{FF2B5EF4-FFF2-40B4-BE49-F238E27FC236}">
                <a16:creationId xmlns:a16="http://schemas.microsoft.com/office/drawing/2014/main" id="{468A429D-300F-C421-2183-22E715A3C8AB}"/>
              </a:ext>
            </a:extLst>
          </p:cNvPr>
          <p:cNvSpPr/>
          <p:nvPr/>
        </p:nvSpPr>
        <p:spPr>
          <a:xfrm>
            <a:off x="5760720" y="3995928"/>
            <a:ext cx="292608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Transformers, LangChain, Pandas, NumPy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w="12700">
            <a:solidFill>
              <a:srgbClr val="0A1628"/>
            </a:solidFill>
            <a:prstDash val="solid"/>
          </a:ln>
        </p:spPr>
      </p:sp>
      <p:sp>
        <p:nvSpPr>
          <p:cNvPr id="3" name="Text 1"/>
          <p:cNvSpPr/>
          <p:nvPr/>
        </p:nvSpPr>
        <p:spPr>
          <a:xfrm>
            <a:off x="365760" y="0"/>
            <a:ext cx="8229600" cy="8686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Expected Output: Prediction + Explainable Reasoning</a:t>
            </a:r>
            <a:endParaRPr lang="en-US" sz="2000" dirty="0"/>
          </a:p>
        </p:txBody>
      </p:sp>
      <p:sp>
        <p:nvSpPr>
          <p:cNvPr id="35" name="Shape 2">
            <a:extLst>
              <a:ext uri="{FF2B5EF4-FFF2-40B4-BE49-F238E27FC236}">
                <a16:creationId xmlns:a16="http://schemas.microsoft.com/office/drawing/2014/main" id="{0D874880-B4CC-4697-1CA3-18E34FAC1BAE}"/>
              </a:ext>
            </a:extLst>
          </p:cNvPr>
          <p:cNvSpPr/>
          <p:nvPr/>
        </p:nvSpPr>
        <p:spPr>
          <a:xfrm>
            <a:off x="320040" y="1051560"/>
            <a:ext cx="8503920" cy="347472"/>
          </a:xfrm>
          <a:prstGeom prst="rect">
            <a:avLst/>
          </a:prstGeom>
          <a:solidFill>
            <a:srgbClr val="2D3748"/>
          </a:solidFill>
          <a:ln w="12700">
            <a:solidFill>
              <a:srgbClr val="2D3748"/>
            </a:solidFill>
            <a:prstDash val="solid"/>
          </a:ln>
        </p:spPr>
      </p:sp>
      <p:sp>
        <p:nvSpPr>
          <p:cNvPr id="36" name="Shape 3">
            <a:extLst>
              <a:ext uri="{FF2B5EF4-FFF2-40B4-BE49-F238E27FC236}">
                <a16:creationId xmlns:a16="http://schemas.microsoft.com/office/drawing/2014/main" id="{24516B28-D6C5-9370-7593-C381B948FA04}"/>
              </a:ext>
            </a:extLst>
          </p:cNvPr>
          <p:cNvSpPr/>
          <p:nvPr/>
        </p:nvSpPr>
        <p:spPr>
          <a:xfrm>
            <a:off x="457200" y="1124712"/>
            <a:ext cx="164592" cy="164592"/>
          </a:xfrm>
          <a:prstGeom prst="ellipse">
            <a:avLst/>
          </a:prstGeom>
          <a:solidFill>
            <a:srgbClr val="FC8181"/>
          </a:solidFill>
          <a:ln w="12700">
            <a:solidFill>
              <a:srgbClr val="FC8181"/>
            </a:solidFill>
            <a:prstDash val="solid"/>
          </a:ln>
        </p:spPr>
      </p:sp>
      <p:sp>
        <p:nvSpPr>
          <p:cNvPr id="37" name="Shape 4">
            <a:extLst>
              <a:ext uri="{FF2B5EF4-FFF2-40B4-BE49-F238E27FC236}">
                <a16:creationId xmlns:a16="http://schemas.microsoft.com/office/drawing/2014/main" id="{1120DA17-6427-BB5D-F1BD-8A6C3F5E2E31}"/>
              </a:ext>
            </a:extLst>
          </p:cNvPr>
          <p:cNvSpPr/>
          <p:nvPr/>
        </p:nvSpPr>
        <p:spPr>
          <a:xfrm>
            <a:off x="685800" y="1124712"/>
            <a:ext cx="164592" cy="164592"/>
          </a:xfrm>
          <a:prstGeom prst="ellipse">
            <a:avLst/>
          </a:prstGeom>
          <a:solidFill>
            <a:srgbClr val="F6E05E"/>
          </a:solidFill>
          <a:ln w="12700">
            <a:solidFill>
              <a:srgbClr val="F6E05E"/>
            </a:solidFill>
            <a:prstDash val="solid"/>
          </a:ln>
        </p:spPr>
      </p:sp>
      <p:sp>
        <p:nvSpPr>
          <p:cNvPr id="38" name="Shape 5">
            <a:extLst>
              <a:ext uri="{FF2B5EF4-FFF2-40B4-BE49-F238E27FC236}">
                <a16:creationId xmlns:a16="http://schemas.microsoft.com/office/drawing/2014/main" id="{87282739-0C62-AA32-C0C7-60CA1919A61D}"/>
              </a:ext>
            </a:extLst>
          </p:cNvPr>
          <p:cNvSpPr/>
          <p:nvPr/>
        </p:nvSpPr>
        <p:spPr>
          <a:xfrm>
            <a:off x="914400" y="1124712"/>
            <a:ext cx="164592" cy="164592"/>
          </a:xfrm>
          <a:prstGeom prst="ellipse">
            <a:avLst/>
          </a:prstGeom>
          <a:solidFill>
            <a:srgbClr val="68D391"/>
          </a:solidFill>
          <a:ln w="12700">
            <a:solidFill>
              <a:srgbClr val="68D391"/>
            </a:solidFill>
            <a:prstDash val="solid"/>
          </a:ln>
        </p:spPr>
      </p:sp>
      <p:sp>
        <p:nvSpPr>
          <p:cNvPr id="39" name="Text 6">
            <a:extLst>
              <a:ext uri="{FF2B5EF4-FFF2-40B4-BE49-F238E27FC236}">
                <a16:creationId xmlns:a16="http://schemas.microsoft.com/office/drawing/2014/main" id="{2787E647-0200-DD87-2FA1-A45E59E02CB5}"/>
              </a:ext>
            </a:extLst>
          </p:cNvPr>
          <p:cNvSpPr/>
          <p:nvPr/>
        </p:nvSpPr>
        <p:spPr>
          <a:xfrm>
            <a:off x="1188720" y="1051560"/>
            <a:ext cx="6858000" cy="347472"/>
          </a:xfrm>
          <a:prstGeom prst="rect">
            <a:avLst/>
          </a:prstGeom>
          <a:noFill/>
          <a:ln/>
        </p:spPr>
        <p:txBody>
          <a:bodyPr wrap="square" rtlCol="0" anchor="ctr"/>
          <a:lstStyle/>
          <a:p>
            <a:pPr marL="0" indent="0">
              <a:buNone/>
            </a:pPr>
            <a:r>
              <a:rPr lang="en-US" sz="1000" dirty="0">
                <a:solidFill>
                  <a:srgbClr val="A0AEC0"/>
                </a:solidFill>
                <a:latin typeface="Consolas" pitchFamily="34" charset="0"/>
                <a:ea typeface="Consolas" pitchFamily="34" charset="-122"/>
                <a:cs typeface="Consolas" pitchFamily="34" charset="-120"/>
              </a:rPr>
              <a:t>Loan Eligibility System — Output Panel</a:t>
            </a:r>
            <a:endParaRPr lang="en-US" sz="1000" dirty="0"/>
          </a:p>
        </p:txBody>
      </p:sp>
      <p:sp>
        <p:nvSpPr>
          <p:cNvPr id="40" name="Shape 7">
            <a:extLst>
              <a:ext uri="{FF2B5EF4-FFF2-40B4-BE49-F238E27FC236}">
                <a16:creationId xmlns:a16="http://schemas.microsoft.com/office/drawing/2014/main" id="{B5472C3D-9170-FE5D-B074-79B476A1BF9D}"/>
              </a:ext>
            </a:extLst>
          </p:cNvPr>
          <p:cNvSpPr/>
          <p:nvPr/>
        </p:nvSpPr>
        <p:spPr>
          <a:xfrm>
            <a:off x="320040" y="1399032"/>
            <a:ext cx="8503920" cy="3291840"/>
          </a:xfrm>
          <a:prstGeom prst="rect">
            <a:avLst/>
          </a:prstGeom>
          <a:solidFill>
            <a:srgbClr val="1A202C"/>
          </a:solidFill>
          <a:ln w="12700">
            <a:solidFill>
              <a:srgbClr val="2D3748"/>
            </a:solidFill>
            <a:prstDash val="solid"/>
          </a:ln>
        </p:spPr>
      </p:sp>
      <p:sp>
        <p:nvSpPr>
          <p:cNvPr id="41" name="Text 8">
            <a:extLst>
              <a:ext uri="{FF2B5EF4-FFF2-40B4-BE49-F238E27FC236}">
                <a16:creationId xmlns:a16="http://schemas.microsoft.com/office/drawing/2014/main" id="{9D33027D-C2C4-4523-972C-A385634141DA}"/>
              </a:ext>
            </a:extLst>
          </p:cNvPr>
          <p:cNvSpPr/>
          <p:nvPr/>
        </p:nvSpPr>
        <p:spPr>
          <a:xfrm>
            <a:off x="502920" y="1463040"/>
            <a:ext cx="8229600" cy="274320"/>
          </a:xfrm>
          <a:prstGeom prst="rect">
            <a:avLst/>
          </a:prstGeom>
          <a:noFill/>
          <a:ln/>
        </p:spPr>
        <p:txBody>
          <a:bodyPr wrap="square" rtlCol="0" anchor="ctr"/>
          <a:lstStyle/>
          <a:p>
            <a:pPr marL="0" indent="0">
              <a:buNone/>
            </a:pPr>
            <a:r>
              <a:rPr lang="en-US" sz="1000" b="1" dirty="0">
                <a:solidFill>
                  <a:srgbClr val="02C39A"/>
                </a:solidFill>
                <a:latin typeface="Consolas" pitchFamily="34" charset="0"/>
                <a:ea typeface="Consolas" pitchFamily="34" charset="-122"/>
                <a:cs typeface="Consolas" pitchFamily="34" charset="-120"/>
              </a:rPr>
              <a:t>[ DOCUMENT VERIFICATION ]</a:t>
            </a:r>
            <a:endParaRPr lang="en-US" sz="1000" dirty="0"/>
          </a:p>
        </p:txBody>
      </p:sp>
      <p:sp>
        <p:nvSpPr>
          <p:cNvPr id="42" name="Text 9">
            <a:extLst>
              <a:ext uri="{FF2B5EF4-FFF2-40B4-BE49-F238E27FC236}">
                <a16:creationId xmlns:a16="http://schemas.microsoft.com/office/drawing/2014/main" id="{65CA9BB7-F598-73FF-D9BF-77D69F786BD5}"/>
              </a:ext>
            </a:extLst>
          </p:cNvPr>
          <p:cNvSpPr/>
          <p:nvPr/>
        </p:nvSpPr>
        <p:spPr>
          <a:xfrm>
            <a:off x="502920" y="1755648"/>
            <a:ext cx="8229600" cy="228600"/>
          </a:xfrm>
          <a:prstGeom prst="rect">
            <a:avLst/>
          </a:prstGeom>
          <a:noFill/>
          <a:ln/>
        </p:spPr>
        <p:txBody>
          <a:bodyPr wrap="square" rtlCol="0" anchor="ctr"/>
          <a:lstStyle/>
          <a:p>
            <a:pPr marL="0" indent="0">
              <a:buNone/>
            </a:pPr>
            <a:r>
              <a:rPr lang="en-US" sz="1000" dirty="0">
                <a:solidFill>
                  <a:srgbClr val="68D391"/>
                </a:solidFill>
                <a:latin typeface="Consolas" pitchFamily="34" charset="0"/>
                <a:ea typeface="Consolas" pitchFamily="34" charset="-122"/>
                <a:cs typeface="Consolas" pitchFamily="34" charset="-120"/>
              </a:rPr>
              <a:t>✔  Income Statement   </a:t>
            </a:r>
            <a:r>
              <a:rPr lang="en-US" sz="1000" dirty="0">
                <a:solidFill>
                  <a:srgbClr val="A0AEC0"/>
                </a:solidFill>
                <a:latin typeface="Consolas" pitchFamily="34" charset="0"/>
                <a:ea typeface="Consolas" pitchFamily="34" charset="-122"/>
                <a:cs typeface="Consolas" pitchFamily="34" charset="-120"/>
              </a:rPr>
              <a:t>Verified — Monthly Income: ₹85,000</a:t>
            </a:r>
            <a:endParaRPr lang="en-US" sz="1000" dirty="0"/>
          </a:p>
        </p:txBody>
      </p:sp>
      <p:sp>
        <p:nvSpPr>
          <p:cNvPr id="43" name="Text 10">
            <a:extLst>
              <a:ext uri="{FF2B5EF4-FFF2-40B4-BE49-F238E27FC236}">
                <a16:creationId xmlns:a16="http://schemas.microsoft.com/office/drawing/2014/main" id="{240D880A-8A12-C457-B38B-43C237C7EC09}"/>
              </a:ext>
            </a:extLst>
          </p:cNvPr>
          <p:cNvSpPr/>
          <p:nvPr/>
        </p:nvSpPr>
        <p:spPr>
          <a:xfrm>
            <a:off x="502920" y="1993392"/>
            <a:ext cx="8229600" cy="228600"/>
          </a:xfrm>
          <a:prstGeom prst="rect">
            <a:avLst/>
          </a:prstGeom>
          <a:noFill/>
          <a:ln/>
        </p:spPr>
        <p:txBody>
          <a:bodyPr wrap="square" rtlCol="0" anchor="ctr"/>
          <a:lstStyle/>
          <a:p>
            <a:pPr marL="0" indent="0">
              <a:buNone/>
            </a:pPr>
            <a:r>
              <a:rPr lang="en-US" sz="1000" dirty="0">
                <a:solidFill>
                  <a:srgbClr val="68D391"/>
                </a:solidFill>
                <a:latin typeface="Consolas" pitchFamily="34" charset="0"/>
                <a:ea typeface="Consolas" pitchFamily="34" charset="-122"/>
                <a:cs typeface="Consolas" pitchFamily="34" charset="-120"/>
              </a:rPr>
              <a:t>✔  Aadhaar / National ID   </a:t>
            </a:r>
            <a:r>
              <a:rPr lang="en-US" sz="1000" dirty="0">
                <a:solidFill>
                  <a:srgbClr val="A0AEC0"/>
                </a:solidFill>
                <a:latin typeface="Consolas" pitchFamily="34" charset="0"/>
                <a:ea typeface="Consolas" pitchFamily="34" charset="-122"/>
                <a:cs typeface="Consolas" pitchFamily="34" charset="-120"/>
              </a:rPr>
              <a:t>Verified — Authentic Document</a:t>
            </a:r>
            <a:endParaRPr lang="en-US" sz="1000" dirty="0"/>
          </a:p>
        </p:txBody>
      </p:sp>
      <p:sp>
        <p:nvSpPr>
          <p:cNvPr id="44" name="Text 11">
            <a:extLst>
              <a:ext uri="{FF2B5EF4-FFF2-40B4-BE49-F238E27FC236}">
                <a16:creationId xmlns:a16="http://schemas.microsoft.com/office/drawing/2014/main" id="{1281FD99-18A6-DF2A-CA96-40F6375A934D}"/>
              </a:ext>
            </a:extLst>
          </p:cNvPr>
          <p:cNvSpPr/>
          <p:nvPr/>
        </p:nvSpPr>
        <p:spPr>
          <a:xfrm>
            <a:off x="502920" y="2231136"/>
            <a:ext cx="8229600" cy="228600"/>
          </a:xfrm>
          <a:prstGeom prst="rect">
            <a:avLst/>
          </a:prstGeom>
          <a:noFill/>
          <a:ln/>
        </p:spPr>
        <p:txBody>
          <a:bodyPr wrap="square" rtlCol="0" anchor="ctr"/>
          <a:lstStyle/>
          <a:p>
            <a:pPr marL="0" indent="0">
              <a:buNone/>
            </a:pPr>
            <a:r>
              <a:rPr lang="en-US" sz="1000" dirty="0">
                <a:solidFill>
                  <a:srgbClr val="68D391"/>
                </a:solidFill>
                <a:latin typeface="Consolas" pitchFamily="34" charset="0"/>
                <a:ea typeface="Consolas" pitchFamily="34" charset="-122"/>
                <a:cs typeface="Consolas" pitchFamily="34" charset="-120"/>
              </a:rPr>
              <a:t>✔  Bank Statement (6 months)   </a:t>
            </a:r>
            <a:r>
              <a:rPr lang="en-US" sz="1000" dirty="0">
                <a:solidFill>
                  <a:srgbClr val="A0AEC0"/>
                </a:solidFill>
                <a:latin typeface="Consolas" pitchFamily="34" charset="0"/>
                <a:ea typeface="Consolas" pitchFamily="34" charset="-122"/>
                <a:cs typeface="Consolas" pitchFamily="34" charset="-120"/>
              </a:rPr>
              <a:t>Verified — Consistent Transactions</a:t>
            </a:r>
            <a:endParaRPr lang="en-US" sz="1000" dirty="0"/>
          </a:p>
        </p:txBody>
      </p:sp>
      <p:sp>
        <p:nvSpPr>
          <p:cNvPr id="45" name="Text 12">
            <a:extLst>
              <a:ext uri="{FF2B5EF4-FFF2-40B4-BE49-F238E27FC236}">
                <a16:creationId xmlns:a16="http://schemas.microsoft.com/office/drawing/2014/main" id="{FDA47365-40AB-730C-C751-8FDC6EF559CC}"/>
              </a:ext>
            </a:extLst>
          </p:cNvPr>
          <p:cNvSpPr/>
          <p:nvPr/>
        </p:nvSpPr>
        <p:spPr>
          <a:xfrm>
            <a:off x="502920" y="2578608"/>
            <a:ext cx="8229600" cy="274320"/>
          </a:xfrm>
          <a:prstGeom prst="rect">
            <a:avLst/>
          </a:prstGeom>
          <a:noFill/>
          <a:ln/>
        </p:spPr>
        <p:txBody>
          <a:bodyPr wrap="square" rtlCol="0" anchor="ctr"/>
          <a:lstStyle/>
          <a:p>
            <a:pPr marL="0" indent="0">
              <a:buNone/>
            </a:pPr>
            <a:r>
              <a:rPr lang="en-US" sz="1000" b="1" dirty="0">
                <a:solidFill>
                  <a:srgbClr val="02C39A"/>
                </a:solidFill>
                <a:latin typeface="Consolas" pitchFamily="34" charset="0"/>
                <a:ea typeface="Consolas" pitchFamily="34" charset="-122"/>
                <a:cs typeface="Consolas" pitchFamily="34" charset="-120"/>
              </a:rPr>
              <a:t>[ LOAN ELIGIBILITY PREDICTION ]</a:t>
            </a:r>
            <a:endParaRPr lang="en-US" sz="1000" dirty="0"/>
          </a:p>
        </p:txBody>
      </p:sp>
      <p:sp>
        <p:nvSpPr>
          <p:cNvPr id="46" name="Text 13">
            <a:extLst>
              <a:ext uri="{FF2B5EF4-FFF2-40B4-BE49-F238E27FC236}">
                <a16:creationId xmlns:a16="http://schemas.microsoft.com/office/drawing/2014/main" id="{CFAD55A9-DEE6-6FAB-1995-56A39F3FA2B4}"/>
              </a:ext>
            </a:extLst>
          </p:cNvPr>
          <p:cNvSpPr/>
          <p:nvPr/>
        </p:nvSpPr>
        <p:spPr>
          <a:xfrm>
            <a:off x="502920" y="2871216"/>
            <a:ext cx="8229600" cy="274320"/>
          </a:xfrm>
          <a:prstGeom prst="rect">
            <a:avLst/>
          </a:prstGeom>
          <a:noFill/>
          <a:ln/>
        </p:spPr>
        <p:txBody>
          <a:bodyPr wrap="square" rtlCol="0" anchor="ctr"/>
          <a:lstStyle/>
          <a:p>
            <a:pPr marL="0" indent="0">
              <a:buNone/>
            </a:pPr>
            <a:r>
              <a:rPr lang="en-US" sz="1200" dirty="0">
                <a:solidFill>
                  <a:srgbClr val="A0AEC0"/>
                </a:solidFill>
                <a:latin typeface="Consolas" pitchFamily="34" charset="0"/>
                <a:ea typeface="Consolas" pitchFamily="34" charset="-122"/>
                <a:cs typeface="Consolas" pitchFamily="34" charset="-120"/>
              </a:rPr>
              <a:t>Status:  </a:t>
            </a:r>
            <a:r>
              <a:rPr lang="en-US" sz="1200" b="1" dirty="0">
                <a:solidFill>
                  <a:srgbClr val="68D391"/>
                </a:solidFill>
                <a:latin typeface="Consolas" pitchFamily="34" charset="0"/>
                <a:ea typeface="Consolas" pitchFamily="34" charset="-122"/>
                <a:cs typeface="Consolas" pitchFamily="34" charset="-120"/>
              </a:rPr>
              <a:t>✅  LOAN APPROVED</a:t>
            </a:r>
            <a:endParaRPr lang="en-US" sz="1200" dirty="0"/>
          </a:p>
        </p:txBody>
      </p:sp>
      <p:sp>
        <p:nvSpPr>
          <p:cNvPr id="47" name="Text 14">
            <a:extLst>
              <a:ext uri="{FF2B5EF4-FFF2-40B4-BE49-F238E27FC236}">
                <a16:creationId xmlns:a16="http://schemas.microsoft.com/office/drawing/2014/main" id="{C58C5D97-9D03-F5A1-0E94-18F0A0BE1A6D}"/>
              </a:ext>
            </a:extLst>
          </p:cNvPr>
          <p:cNvSpPr/>
          <p:nvPr/>
        </p:nvSpPr>
        <p:spPr>
          <a:xfrm>
            <a:off x="502920" y="3218688"/>
            <a:ext cx="8229600" cy="228600"/>
          </a:xfrm>
          <a:prstGeom prst="rect">
            <a:avLst/>
          </a:prstGeom>
          <a:noFill/>
          <a:ln/>
        </p:spPr>
        <p:txBody>
          <a:bodyPr wrap="square" rtlCol="0" anchor="ctr"/>
          <a:lstStyle/>
          <a:p>
            <a:pPr marL="0" indent="0">
              <a:buNone/>
            </a:pPr>
            <a:r>
              <a:rPr lang="en-US" sz="1000" b="1" dirty="0">
                <a:solidFill>
                  <a:srgbClr val="02C39A"/>
                </a:solidFill>
                <a:latin typeface="Consolas" pitchFamily="34" charset="0"/>
                <a:ea typeface="Consolas" pitchFamily="34" charset="-122"/>
                <a:cs typeface="Consolas" pitchFamily="34" charset="-120"/>
              </a:rPr>
              <a:t>[ REASONING ]</a:t>
            </a:r>
            <a:endParaRPr lang="en-US" sz="1000" dirty="0"/>
          </a:p>
        </p:txBody>
      </p:sp>
      <p:sp>
        <p:nvSpPr>
          <p:cNvPr id="48" name="Text 15">
            <a:extLst>
              <a:ext uri="{FF2B5EF4-FFF2-40B4-BE49-F238E27FC236}">
                <a16:creationId xmlns:a16="http://schemas.microsoft.com/office/drawing/2014/main" id="{7FE47861-60FE-568A-C7F8-805B204ABA40}"/>
              </a:ext>
            </a:extLst>
          </p:cNvPr>
          <p:cNvSpPr/>
          <p:nvPr/>
        </p:nvSpPr>
        <p:spPr>
          <a:xfrm>
            <a:off x="502920" y="3456432"/>
            <a:ext cx="8138160" cy="1143000"/>
          </a:xfrm>
          <a:prstGeom prst="rect">
            <a:avLst/>
          </a:prstGeom>
          <a:noFill/>
          <a:ln/>
        </p:spPr>
        <p:txBody>
          <a:bodyPr wrap="square" rtlCol="0" anchor="ctr"/>
          <a:lstStyle/>
          <a:p>
            <a:pPr marL="0" indent="0">
              <a:buNone/>
            </a:pPr>
            <a:r>
              <a:rPr lang="en-US" sz="1050" i="1" dirty="0">
                <a:solidFill>
                  <a:srgbClr val="E2E8F0"/>
                </a:solidFill>
                <a:latin typeface="Consolas" pitchFamily="34" charset="0"/>
                <a:ea typeface="Consolas" pitchFamily="34" charset="-122"/>
                <a:cs typeface="Consolas" pitchFamily="34" charset="-120"/>
              </a:rPr>
              <a:t>"The applicant demonstrates a stable income of ₹85,000/month with a clean credit history</a:t>
            </a:r>
            <a:endParaRPr lang="en-US" sz="1050" dirty="0"/>
          </a:p>
          <a:p>
            <a:pPr marL="0" indent="0">
              <a:buNone/>
            </a:pPr>
            <a:r>
              <a:rPr lang="en-US" sz="1050" i="1" dirty="0">
                <a:solidFill>
                  <a:srgbClr val="E2E8F0"/>
                </a:solidFill>
                <a:latin typeface="Consolas" pitchFamily="34" charset="0"/>
                <a:ea typeface="Consolas" pitchFamily="34" charset="-122"/>
                <a:cs typeface="Consolas" pitchFamily="34" charset="-120"/>
              </a:rPr>
              <a:t>  over 24 months. Debt-to-income ratio of 28% is within acceptable limits. All documents are</a:t>
            </a:r>
            <a:endParaRPr lang="en-US" sz="1050" dirty="0"/>
          </a:p>
          <a:p>
            <a:pPr marL="0" indent="0">
              <a:buNone/>
            </a:pPr>
            <a:r>
              <a:rPr lang="en-US" sz="1050" i="1" dirty="0">
                <a:solidFill>
                  <a:srgbClr val="E2E8F0"/>
                </a:solidFill>
                <a:latin typeface="Consolas" pitchFamily="34" charset="0"/>
                <a:ea typeface="Consolas" pitchFamily="34" charset="-122"/>
                <a:cs typeface="Consolas" pitchFamily="34" charset="-120"/>
              </a:rPr>
              <a:t>  verified and authentic. No red flags detected. Recommended for approval up to ₹12,00,000."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28090">
              <a:alpha val="15000"/>
            </a:srgbClr>
          </a:solidFill>
          <a:ln w="12700">
            <a:solidFill>
              <a:srgbClr val="028090">
                <a:alpha val="15000"/>
              </a:srgbClr>
            </a:solidFill>
            <a:prstDash val="solid"/>
          </a:ln>
        </p:spPr>
      </p:sp>
      <p:sp>
        <p:nvSpPr>
          <p:cNvPr id="3" name="Shape 1"/>
          <p:cNvSpPr/>
          <p:nvPr/>
        </p:nvSpPr>
        <p:spPr>
          <a:xfrm>
            <a:off x="-914400" y="3200400"/>
            <a:ext cx="3200400" cy="3200400"/>
          </a:xfrm>
          <a:prstGeom prst="ellipse">
            <a:avLst/>
          </a:prstGeom>
          <a:solidFill>
            <a:srgbClr val="1A3A6B">
              <a:alpha val="40000"/>
            </a:srgbClr>
          </a:solidFill>
          <a:ln w="12700">
            <a:solidFill>
              <a:srgbClr val="1A3A6B">
                <a:alpha val="40000"/>
              </a:srgbClr>
            </a:solidFill>
            <a:prstDash val="solid"/>
          </a:ln>
        </p:spPr>
      </p:sp>
      <p:sp>
        <p:nvSpPr>
          <p:cNvPr id="4" name="Shape 2"/>
          <p:cNvSpPr/>
          <p:nvPr/>
        </p:nvSpPr>
        <p:spPr>
          <a:xfrm>
            <a:off x="7772400" y="3657600"/>
            <a:ext cx="1828800" cy="1828800"/>
          </a:xfrm>
          <a:prstGeom prst="ellipse">
            <a:avLst/>
          </a:prstGeom>
          <a:solidFill>
            <a:srgbClr val="02C39A">
              <a:alpha val="18000"/>
            </a:srgbClr>
          </a:solidFill>
          <a:ln w="12700">
            <a:solidFill>
              <a:srgbClr val="02C39A">
                <a:alpha val="18000"/>
              </a:srgbClr>
            </a:solidFill>
            <a:prstDash val="solid"/>
          </a:ln>
        </p:spPr>
      </p:sp>
      <p:sp>
        <p:nvSpPr>
          <p:cNvPr id="5" name="Shape 3"/>
          <p:cNvSpPr/>
          <p:nvPr/>
        </p:nvSpPr>
        <p:spPr>
          <a:xfrm>
            <a:off x="0" y="0"/>
            <a:ext cx="365760" cy="5143500"/>
          </a:xfrm>
          <a:prstGeom prst="rect">
            <a:avLst/>
          </a:prstGeom>
          <a:solidFill>
            <a:srgbClr val="028090"/>
          </a:solidFill>
          <a:ln w="12700">
            <a:solidFill>
              <a:srgbClr val="028090"/>
            </a:solidFill>
            <a:prstDash val="solid"/>
          </a:ln>
        </p:spPr>
      </p:sp>
      <p:sp>
        <p:nvSpPr>
          <p:cNvPr id="6" name="Text 4"/>
          <p:cNvSpPr/>
          <p:nvPr/>
        </p:nvSpPr>
        <p:spPr>
          <a:xfrm>
            <a:off x="3149301" y="1513870"/>
            <a:ext cx="8229600" cy="1005840"/>
          </a:xfrm>
          <a:prstGeom prst="rect">
            <a:avLst/>
          </a:prstGeom>
          <a:noFill/>
          <a:ln/>
        </p:spPr>
        <p:txBody>
          <a:bodyPr wrap="square"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7" name="Shape 5"/>
          <p:cNvSpPr/>
          <p:nvPr/>
        </p:nvSpPr>
        <p:spPr>
          <a:xfrm>
            <a:off x="2476949" y="2786634"/>
            <a:ext cx="5029200" cy="41148"/>
          </a:xfrm>
          <a:prstGeom prst="rect">
            <a:avLst/>
          </a:prstGeom>
          <a:solidFill>
            <a:srgbClr val="02C39A"/>
          </a:solidFill>
          <a:ln w="12700">
            <a:solidFill>
              <a:srgbClr val="02C39A"/>
            </a:solidFill>
            <a:prstDash val="solid"/>
          </a:ln>
        </p:spPr>
      </p:sp>
      <p:sp>
        <p:nvSpPr>
          <p:cNvPr id="8" name="Text 6"/>
          <p:cNvSpPr/>
          <p:nvPr/>
        </p:nvSpPr>
        <p:spPr>
          <a:xfrm>
            <a:off x="3061895" y="3218688"/>
            <a:ext cx="7772400" cy="384048"/>
          </a:xfrm>
          <a:prstGeom prst="rect">
            <a:avLst/>
          </a:prstGeom>
          <a:noFill/>
          <a:ln/>
        </p:spPr>
        <p:txBody>
          <a:bodyPr wrap="square" rtlCol="0" anchor="ctr"/>
          <a:lstStyle/>
          <a:p>
            <a:pPr marL="0" indent="0">
              <a:buNone/>
            </a:pPr>
            <a:r>
              <a:rPr lang="en-US" sz="1500" i="1" dirty="0">
                <a:solidFill>
                  <a:srgbClr val="A8BBCC"/>
                </a:solidFill>
                <a:latin typeface="Calibri" pitchFamily="34" charset="0"/>
                <a:ea typeface="Calibri" pitchFamily="34" charset="-122"/>
                <a:cs typeface="Calibri" pitchFamily="34" charset="-120"/>
              </a:rPr>
              <a:t>We welcome your questions and feedback.</a:t>
            </a:r>
            <a:endParaRPr lang="en-US" sz="1500" dirty="0"/>
          </a:p>
        </p:txBody>
      </p:sp>
      <p:sp>
        <p:nvSpPr>
          <p:cNvPr id="10" name="Text 8"/>
          <p:cNvSpPr/>
          <p:nvPr/>
        </p:nvSpPr>
        <p:spPr>
          <a:xfrm>
            <a:off x="777240" y="2176272"/>
            <a:ext cx="7498080" cy="292608"/>
          </a:xfrm>
          <a:prstGeom prst="rect">
            <a:avLst/>
          </a:prstGeom>
          <a:noFill/>
          <a:ln/>
        </p:spPr>
        <p:txBody>
          <a:bodyPr wrap="square" rtlCol="0" anchor="ctr"/>
          <a:lstStyle/>
          <a:p>
            <a:pPr marL="0" indent="0">
              <a:buNone/>
            </a:pPr>
            <a:endParaRPr lang="en-US" sz="1100" dirty="0"/>
          </a:p>
        </p:txBody>
      </p:sp>
      <p:sp>
        <p:nvSpPr>
          <p:cNvPr id="12" name="Text 10"/>
          <p:cNvSpPr/>
          <p:nvPr/>
        </p:nvSpPr>
        <p:spPr>
          <a:xfrm>
            <a:off x="923544" y="2542032"/>
            <a:ext cx="2011680" cy="292608"/>
          </a:xfrm>
          <a:prstGeom prst="rect">
            <a:avLst/>
          </a:prstGeom>
          <a:noFill/>
          <a:ln/>
        </p:spPr>
        <p:txBody>
          <a:bodyPr wrap="square" rtlCol="0" anchor="ctr"/>
          <a:lstStyle/>
          <a:p>
            <a:pPr marL="0" indent="0">
              <a:buNone/>
            </a:pPr>
            <a:endParaRPr lang="en-US" sz="1250" dirty="0"/>
          </a:p>
        </p:txBody>
      </p:sp>
      <p:sp>
        <p:nvSpPr>
          <p:cNvPr id="13" name="Text 11"/>
          <p:cNvSpPr/>
          <p:nvPr/>
        </p:nvSpPr>
        <p:spPr>
          <a:xfrm>
            <a:off x="2935224" y="2578608"/>
            <a:ext cx="1645920" cy="256032"/>
          </a:xfrm>
          <a:prstGeom prst="rect">
            <a:avLst/>
          </a:prstGeom>
          <a:noFill/>
          <a:ln/>
        </p:spPr>
        <p:txBody>
          <a:bodyPr wrap="square" rtlCol="0" anchor="ctr"/>
          <a:lstStyle/>
          <a:p>
            <a:pPr marL="0" indent="0">
              <a:buNone/>
            </a:pPr>
            <a:endParaRPr lang="en-US" sz="1050" dirty="0"/>
          </a:p>
        </p:txBody>
      </p:sp>
      <p:sp>
        <p:nvSpPr>
          <p:cNvPr id="15" name="Text 13"/>
          <p:cNvSpPr/>
          <p:nvPr/>
        </p:nvSpPr>
        <p:spPr>
          <a:xfrm>
            <a:off x="4855464" y="2542032"/>
            <a:ext cx="2011680" cy="292608"/>
          </a:xfrm>
          <a:prstGeom prst="rect">
            <a:avLst/>
          </a:prstGeom>
          <a:noFill/>
          <a:ln/>
        </p:spPr>
        <p:txBody>
          <a:bodyPr wrap="square" rtlCol="0" anchor="ctr"/>
          <a:lstStyle/>
          <a:p>
            <a:pPr marL="0" indent="0">
              <a:buNone/>
            </a:pPr>
            <a:endParaRPr lang="en-US" sz="1250" dirty="0"/>
          </a:p>
        </p:txBody>
      </p:sp>
      <p:sp>
        <p:nvSpPr>
          <p:cNvPr id="16" name="Text 14"/>
          <p:cNvSpPr/>
          <p:nvPr/>
        </p:nvSpPr>
        <p:spPr>
          <a:xfrm>
            <a:off x="6867144" y="2578608"/>
            <a:ext cx="1645920" cy="256032"/>
          </a:xfrm>
          <a:prstGeom prst="rect">
            <a:avLst/>
          </a:prstGeom>
          <a:noFill/>
          <a:ln/>
        </p:spPr>
        <p:txBody>
          <a:bodyPr wrap="square" rtlCol="0" anchor="ctr"/>
          <a:lstStyle/>
          <a:p>
            <a:pPr marL="0" indent="0">
              <a:buNone/>
            </a:pPr>
            <a:endParaRPr lang="en-US" sz="1050" dirty="0"/>
          </a:p>
        </p:txBody>
      </p:sp>
      <p:sp>
        <p:nvSpPr>
          <p:cNvPr id="18" name="Text 16"/>
          <p:cNvSpPr/>
          <p:nvPr/>
        </p:nvSpPr>
        <p:spPr>
          <a:xfrm>
            <a:off x="923544" y="3044952"/>
            <a:ext cx="2011680" cy="292608"/>
          </a:xfrm>
          <a:prstGeom prst="rect">
            <a:avLst/>
          </a:prstGeom>
          <a:noFill/>
          <a:ln/>
        </p:spPr>
        <p:txBody>
          <a:bodyPr wrap="square" rtlCol="0" anchor="ctr"/>
          <a:lstStyle/>
          <a:p>
            <a:pPr marL="0" indent="0">
              <a:buNone/>
            </a:pPr>
            <a:endParaRPr lang="en-US" sz="1250" dirty="0"/>
          </a:p>
        </p:txBody>
      </p:sp>
      <p:sp>
        <p:nvSpPr>
          <p:cNvPr id="19" name="Text 17"/>
          <p:cNvSpPr/>
          <p:nvPr/>
        </p:nvSpPr>
        <p:spPr>
          <a:xfrm>
            <a:off x="2935224" y="3081528"/>
            <a:ext cx="1645920" cy="256032"/>
          </a:xfrm>
          <a:prstGeom prst="rect">
            <a:avLst/>
          </a:prstGeom>
          <a:noFill/>
          <a:ln/>
        </p:spPr>
        <p:txBody>
          <a:bodyPr wrap="square" rtlCol="0" anchor="ctr"/>
          <a:lstStyle/>
          <a:p>
            <a:pPr marL="0" indent="0">
              <a:buNone/>
            </a:pPr>
            <a:endParaRPr lang="en-US" sz="1050" dirty="0"/>
          </a:p>
        </p:txBody>
      </p:sp>
      <p:sp>
        <p:nvSpPr>
          <p:cNvPr id="21" name="Text 19"/>
          <p:cNvSpPr/>
          <p:nvPr/>
        </p:nvSpPr>
        <p:spPr>
          <a:xfrm>
            <a:off x="4855464" y="3044952"/>
            <a:ext cx="2011680" cy="292608"/>
          </a:xfrm>
          <a:prstGeom prst="rect">
            <a:avLst/>
          </a:prstGeom>
          <a:noFill/>
          <a:ln/>
        </p:spPr>
        <p:txBody>
          <a:bodyPr wrap="square" rtlCol="0" anchor="ctr"/>
          <a:lstStyle/>
          <a:p>
            <a:pPr marL="0" indent="0">
              <a:buNone/>
            </a:pPr>
            <a:endParaRPr lang="en-US" sz="1250" dirty="0"/>
          </a:p>
        </p:txBody>
      </p:sp>
      <p:sp>
        <p:nvSpPr>
          <p:cNvPr id="22" name="Text 20"/>
          <p:cNvSpPr/>
          <p:nvPr/>
        </p:nvSpPr>
        <p:spPr>
          <a:xfrm>
            <a:off x="6867144" y="3081528"/>
            <a:ext cx="1645920" cy="256032"/>
          </a:xfrm>
          <a:prstGeom prst="rect">
            <a:avLst/>
          </a:prstGeom>
          <a:noFill/>
          <a:ln/>
        </p:spPr>
        <p:txBody>
          <a:bodyPr wrap="square" rtlCol="0" anchor="ctr"/>
          <a:lstStyle/>
          <a:p>
            <a:pPr marL="0" indent="0">
              <a:buNone/>
            </a:pPr>
            <a:endParaRPr lang="en-US" sz="1050" dirty="0"/>
          </a:p>
        </p:txBody>
      </p:sp>
      <p:sp>
        <p:nvSpPr>
          <p:cNvPr id="23" name="Text 21"/>
          <p:cNvSpPr/>
          <p:nvPr/>
        </p:nvSpPr>
        <p:spPr>
          <a:xfrm>
            <a:off x="594360" y="4069080"/>
            <a:ext cx="8229600" cy="320040"/>
          </a:xfrm>
          <a:prstGeom prst="rect">
            <a:avLst/>
          </a:prstGeom>
          <a:noFill/>
          <a:ln/>
        </p:spPr>
        <p:txBody>
          <a:bodyPr wrap="square" rtlCol="0" anchor="ctr"/>
          <a:lstStyle/>
          <a:p>
            <a:pPr marL="0" indent="0">
              <a:buNone/>
            </a:pPr>
            <a:endParaRPr lang="en-US" sz="1150" dirty="0"/>
          </a:p>
        </p:txBody>
      </p:sp>
      <p:sp>
        <p:nvSpPr>
          <p:cNvPr id="24" name="Text 22"/>
          <p:cNvSpPr/>
          <p:nvPr/>
        </p:nvSpPr>
        <p:spPr>
          <a:xfrm>
            <a:off x="594360" y="4462272"/>
            <a:ext cx="8229600" cy="274320"/>
          </a:xfrm>
          <a:prstGeom prst="rect">
            <a:avLst/>
          </a:prstGeom>
          <a:noFill/>
          <a:ln/>
        </p:spPr>
        <p:txBody>
          <a:bodyPr wrap="square" rtlCol="0" anchor="ctr"/>
          <a:lstStyle/>
          <a:p>
            <a:pPr marL="0" indent="0">
              <a:buNone/>
            </a:pP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TotalTime>
  <Words>847</Words>
  <Application>Microsoft Office PowerPoint</Application>
  <PresentationFormat>On-screen Show (16:9)</PresentationFormat>
  <Paragraphs>177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Loan Eligibility Prediction &amp; Document Verification</dc:title>
  <dc:subject>PptxGenJS Presentation</dc:subject>
  <dc:creator>PptxGenJS</dc:creator>
  <cp:lastModifiedBy>Chaitanya Sri</cp:lastModifiedBy>
  <cp:revision>2</cp:revision>
  <dcterms:created xsi:type="dcterms:W3CDTF">2026-02-23T04:17:04Z</dcterms:created>
  <dcterms:modified xsi:type="dcterms:W3CDTF">2026-02-26T06:20:48Z</dcterms:modified>
</cp:coreProperties>
</file>